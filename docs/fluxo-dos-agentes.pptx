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02920" y="29260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5C6469"/>
                </a:solidFill>
                <a:latin typeface="IBM Plex Mono"/>
              </a:rPr>
              <a:t>ENTER ASSET MANAGEMENT · COMO OS AGENTES TRABALHAM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502920" y="475488"/>
            <a:ext cx="8778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2200" b="0" i="0">
                <a:solidFill>
                  <a:srgbClr val="0B0D0E"/>
                </a:solidFill>
                <a:latin typeface="Newsreader"/>
              </a:rPr>
              <a:t>Dois fluxos, um Worker: </a:t>
            </a:r>
            <a:r>
              <a:rPr sz="2200" b="0" i="1">
                <a:solidFill>
                  <a:srgbClr val="0B0D0E"/>
                </a:solidFill>
                <a:latin typeface="Newsreader"/>
              </a:rPr>
              <a:t>o panorama do dia</a:t>
            </a:r>
            <a:r>
              <a:rPr sz="2200" b="0" i="0">
                <a:solidFill>
                  <a:srgbClr val="0B0D0E"/>
                </a:solidFill>
                <a:latin typeface="Newsreader"/>
              </a:rPr>
              <a:t> roda sozinho na nuvem; </a:t>
            </a:r>
            <a:r>
              <a:rPr sz="2200" b="0" i="1">
                <a:solidFill>
                  <a:srgbClr val="0B0D0E"/>
                </a:solidFill>
                <a:latin typeface="Newsreader"/>
              </a:rPr>
              <a:t>a carta mensal</a:t>
            </a:r>
            <a:r>
              <a:rPr sz="2200" b="0" i="0">
                <a:solidFill>
                  <a:srgbClr val="0B0D0E"/>
                </a:solidFill>
                <a:latin typeface="Newsreader"/>
              </a:rPr>
              <a:t> é comandada do seu computador.</a:t>
            </a:r>
          </a:p>
        </p:txBody>
      </p:sp>
      <p:sp>
        <p:nvSpPr>
          <p:cNvPr id="4" name="Legenda · modelo · marca"/>
          <p:cNvSpPr/>
          <p:nvPr/>
        </p:nvSpPr>
        <p:spPr>
          <a:xfrm>
            <a:off x="8485632" y="1060704"/>
            <a:ext cx="91440" cy="91440"/>
          </a:xfrm>
          <a:prstGeom prst="rect">
            <a:avLst/>
          </a:prstGeom>
          <a:solidFill>
            <a:srgbClr val="B59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egenda · modelo"/>
          <p:cNvSpPr txBox="1"/>
          <p:nvPr/>
        </p:nvSpPr>
        <p:spPr>
          <a:xfrm>
            <a:off x="8622792" y="987552"/>
            <a:ext cx="155448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E3439"/>
                </a:solidFill>
                <a:latin typeface="Archivo"/>
              </a:rPr>
              <a:t>etapa que usa o modelo (Claude)</a:t>
            </a:r>
          </a:p>
        </p:txBody>
      </p:sp>
      <p:sp>
        <p:nvSpPr>
          <p:cNvPr id="6" name="Legenda · código · marca"/>
          <p:cNvSpPr/>
          <p:nvPr/>
        </p:nvSpPr>
        <p:spPr>
          <a:xfrm>
            <a:off x="10177272" y="1060704"/>
            <a:ext cx="91440" cy="91440"/>
          </a:xfrm>
          <a:prstGeom prst="rect">
            <a:avLst/>
          </a:prstGeom>
          <a:solidFill>
            <a:srgbClr val="123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egenda · código"/>
          <p:cNvSpPr txBox="1"/>
          <p:nvPr/>
        </p:nvSpPr>
        <p:spPr>
          <a:xfrm>
            <a:off x="10314432" y="987552"/>
            <a:ext cx="146304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E3439"/>
                </a:solidFill>
                <a:latin typeface="Archivo"/>
              </a:rPr>
              <a:t>etapa determinística, em código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1298448"/>
            <a:ext cx="11183112" cy="0"/>
          </a:xfrm>
          <a:prstGeom prst="line">
            <a:avLst/>
          </a:prstGeom>
          <a:ln w="19050">
            <a:solidFill>
              <a:srgbClr val="0B0D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uxo 1 · título"/>
          <p:cNvSpPr txBox="1"/>
          <p:nvPr/>
        </p:nvSpPr>
        <p:spPr>
          <a:xfrm>
            <a:off x="502920" y="1408176"/>
            <a:ext cx="8686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9A7B34"/>
                </a:solidFill>
                <a:latin typeface="IBM Plex Mono"/>
              </a:rPr>
              <a:t>01  </a:t>
            </a:r>
            <a:r>
              <a:rPr sz="1400" b="1" i="0">
                <a:solidFill>
                  <a:srgbClr val="0B0D0E"/>
                </a:solidFill>
                <a:latin typeface="Archivo"/>
              </a:rPr>
              <a:t>Panorama do dia</a:t>
            </a:r>
            <a:r>
              <a:rPr sz="1000" b="0" i="0">
                <a:solidFill>
                  <a:srgbClr val="2E3439"/>
                </a:solidFill>
                <a:latin typeface="Archivo"/>
              </a:rPr>
              <a:t>   todo dia, sem ninguém ligado: um Workflow de três etapas dentro do Worker na Cloudflare</a:t>
            </a:r>
          </a:p>
        </p:txBody>
      </p:sp>
      <p:sp>
        <p:nvSpPr>
          <p:cNvPr id="10" name="Fluxo 1 · disparo"/>
          <p:cNvSpPr txBox="1"/>
          <p:nvPr/>
        </p:nvSpPr>
        <p:spPr>
          <a:xfrm>
            <a:off x="7388351" y="1408176"/>
            <a:ext cx="42976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>
                <a:solidFill>
                  <a:srgbClr val="5C6469"/>
                </a:solidFill>
                <a:latin typeface="IBM Plex Mono"/>
              </a:rPr>
              <a:t>dispara às 07:00 (cron) ou pelo botão "atualizar dados de mercado"</a:t>
            </a:r>
          </a:p>
        </p:txBody>
      </p:sp>
      <p:sp>
        <p:nvSpPr>
          <p:cNvPr id="11" name="Fluxo 1 · fontes"/>
          <p:cNvSpPr txBox="1"/>
          <p:nvPr/>
        </p:nvSpPr>
        <p:spPr>
          <a:xfrm>
            <a:off x="502920" y="1874519"/>
            <a:ext cx="12344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5C6469"/>
                </a:solidFill>
                <a:latin typeface="Archivo"/>
              </a:rPr>
              <a:t>Fontes consultadas</a:t>
            </a:r>
          </a:p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2E3439"/>
                </a:solidFill>
                <a:latin typeface="Archivo"/>
              </a:rPr>
              <a:t>Yahoo Finance</a:t>
            </a:r>
          </a:p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2E3439"/>
                </a:solidFill>
                <a:latin typeface="Archivo"/>
              </a:rPr>
              <a:t>Banco Central (SGS)</a:t>
            </a:r>
          </a:p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2E3439"/>
                </a:solidFill>
                <a:latin typeface="Archivo"/>
              </a:rPr>
              <a:t>CoinGecko</a:t>
            </a:r>
          </a:p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2E3439"/>
                </a:solidFill>
                <a:latin typeface="Archivo"/>
              </a:rPr>
              <a:t>TradingView</a:t>
            </a:r>
          </a:p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2E3439"/>
                </a:solidFill>
                <a:latin typeface="Archivo"/>
              </a:rPr>
              <a:t>Valor Econômico (RSS)</a:t>
            </a:r>
          </a:p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2E3439"/>
                </a:solidFill>
                <a:latin typeface="Archivo"/>
              </a:rPr>
              <a:t>Google News · Bing News</a:t>
            </a:r>
          </a:p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2E3439"/>
                </a:solidFill>
                <a:latin typeface="Archivo"/>
              </a:rPr>
              <a:t>Busca na web (modelo)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828800" y="1737360"/>
            <a:ext cx="0" cy="1828800"/>
          </a:xfrm>
          <a:prstGeom prst="line">
            <a:avLst/>
          </a:prstGeom>
          <a:ln w="9525">
            <a:solidFill>
              <a:srgbClr val="C4CA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920240" y="2651760"/>
            <a:ext cx="274320" cy="0"/>
          </a:xfrm>
          <a:prstGeom prst="line">
            <a:avLst/>
          </a:prstGeom>
          <a:ln w="15875">
            <a:solidFill>
              <a:srgbClr val="7C85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Agente 1 · fundo"/>
          <p:cNvSpPr/>
          <p:nvPr/>
        </p:nvSpPr>
        <p:spPr>
          <a:xfrm>
            <a:off x="2286000" y="1737360"/>
            <a:ext cx="248412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Agente 1 · marca"/>
          <p:cNvSpPr/>
          <p:nvPr/>
        </p:nvSpPr>
        <p:spPr>
          <a:xfrm>
            <a:off x="2286000" y="1737360"/>
            <a:ext cx="2484120" cy="36576"/>
          </a:xfrm>
          <a:prstGeom prst="rect">
            <a:avLst/>
          </a:prstGeom>
          <a:solidFill>
            <a:srgbClr val="B59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gente 1 · rótulo"/>
          <p:cNvSpPr txBox="1"/>
          <p:nvPr/>
        </p:nvSpPr>
        <p:spPr>
          <a:xfrm>
            <a:off x="2414016" y="1865376"/>
            <a:ext cx="222808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5C6469"/>
                </a:solidFill>
                <a:latin typeface="IBM Plex Mono"/>
              </a:rPr>
              <a:t>Agente 1 · Dados</a:t>
            </a:r>
          </a:p>
        </p:txBody>
      </p:sp>
      <p:sp>
        <p:nvSpPr>
          <p:cNvPr id="17" name="Agente 1 · título"/>
          <p:cNvSpPr txBox="1"/>
          <p:nvPr/>
        </p:nvSpPr>
        <p:spPr>
          <a:xfrm>
            <a:off x="2414016" y="2066543"/>
            <a:ext cx="222808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B0D0E"/>
                </a:solidFill>
                <a:latin typeface="Archivo"/>
              </a:rPr>
              <a:t>Busca tudo e anota a fonte</a:t>
            </a:r>
          </a:p>
        </p:txBody>
      </p:sp>
      <p:sp>
        <p:nvSpPr>
          <p:cNvPr id="18" name="Agente 1 · texto"/>
          <p:cNvSpPr txBox="1"/>
          <p:nvPr/>
        </p:nvSpPr>
        <p:spPr>
          <a:xfrm>
            <a:off x="2414016" y="2596896"/>
            <a:ext cx="222808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2E3439"/>
                </a:solidFill>
                <a:latin typeface="Archivo"/>
              </a:rPr>
              <a:t>Cotações e séries diárias, sinais técnicos e de analistas, manchetes das últimas 48 horas no Brasil e no exterior. Com o modelo ligado, classifica as manchetes e varre a imprensa internacional citando a URL de cada item.</a:t>
            </a:r>
          </a:p>
        </p:txBody>
      </p:sp>
      <p:sp>
        <p:nvSpPr>
          <p:cNvPr id="19" name="Agente 2 · fundo"/>
          <p:cNvSpPr/>
          <p:nvPr/>
        </p:nvSpPr>
        <p:spPr>
          <a:xfrm>
            <a:off x="4898136" y="1737360"/>
            <a:ext cx="248412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Agente 2 · marca"/>
          <p:cNvSpPr/>
          <p:nvPr/>
        </p:nvSpPr>
        <p:spPr>
          <a:xfrm>
            <a:off x="4898136" y="1737360"/>
            <a:ext cx="2484120" cy="36576"/>
          </a:xfrm>
          <a:prstGeom prst="rect">
            <a:avLst/>
          </a:prstGeom>
          <a:solidFill>
            <a:srgbClr val="B59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Agente 2 · rótulo"/>
          <p:cNvSpPr txBox="1"/>
          <p:nvPr/>
        </p:nvSpPr>
        <p:spPr>
          <a:xfrm>
            <a:off x="5026151" y="1865376"/>
            <a:ext cx="222808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5C6469"/>
                </a:solidFill>
                <a:latin typeface="IBM Plex Mono"/>
              </a:rPr>
              <a:t>Agente 2 · Inferência</a:t>
            </a:r>
          </a:p>
        </p:txBody>
      </p:sp>
      <p:sp>
        <p:nvSpPr>
          <p:cNvPr id="22" name="Agente 2 · título"/>
          <p:cNvSpPr txBox="1"/>
          <p:nvPr/>
        </p:nvSpPr>
        <p:spPr>
          <a:xfrm>
            <a:off x="5026151" y="2066543"/>
            <a:ext cx="222808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B0D0E"/>
                </a:solidFill>
                <a:latin typeface="Archivo"/>
              </a:rPr>
              <a:t>Decide o que importa para estas carteiras</a:t>
            </a:r>
          </a:p>
        </p:txBody>
      </p:sp>
      <p:sp>
        <p:nvSpPr>
          <p:cNvPr id="23" name="Agente 2 · texto"/>
          <p:cNvSpPr txBox="1"/>
          <p:nvPr/>
        </p:nvSpPr>
        <p:spPr>
          <a:xfrm>
            <a:off x="5026151" y="2596896"/>
            <a:ext cx="222808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2E3439"/>
                </a:solidFill>
                <a:latin typeface="Archivo"/>
              </a:rPr>
              <a:t>Lê o que o Agente 1 juntou e a exposição de cada cliente por classe de ativo. Escreve o resumo do dia e a tabela "O que importa hoje", em português. Sem modelo, ordena por regra e usa um texto fixo.</a:t>
            </a:r>
          </a:p>
        </p:txBody>
      </p:sp>
      <p:sp>
        <p:nvSpPr>
          <p:cNvPr id="24" name="Agente 3 · fundo"/>
          <p:cNvSpPr/>
          <p:nvPr/>
        </p:nvSpPr>
        <p:spPr>
          <a:xfrm>
            <a:off x="7510272" y="1737360"/>
            <a:ext cx="248412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Agente 3 · marca"/>
          <p:cNvSpPr/>
          <p:nvPr/>
        </p:nvSpPr>
        <p:spPr>
          <a:xfrm>
            <a:off x="7510272" y="1737360"/>
            <a:ext cx="2484120" cy="36576"/>
          </a:xfrm>
          <a:prstGeom prst="rect">
            <a:avLst/>
          </a:prstGeom>
          <a:solidFill>
            <a:srgbClr val="123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Agente 3 · rótulo"/>
          <p:cNvSpPr txBox="1"/>
          <p:nvPr/>
        </p:nvSpPr>
        <p:spPr>
          <a:xfrm>
            <a:off x="7638288" y="1865376"/>
            <a:ext cx="222808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5C6469"/>
                </a:solidFill>
                <a:latin typeface="IBM Plex Mono"/>
              </a:rPr>
              <a:t>Agente 3 · Gatilhos</a:t>
            </a:r>
          </a:p>
        </p:txBody>
      </p:sp>
      <p:sp>
        <p:nvSpPr>
          <p:cNvPr id="27" name="Agente 3 · título"/>
          <p:cNvSpPr txBox="1"/>
          <p:nvPr/>
        </p:nvSpPr>
        <p:spPr>
          <a:xfrm>
            <a:off x="7638288" y="2066543"/>
            <a:ext cx="222808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B0D0E"/>
                </a:solidFill>
                <a:latin typeface="Archivo"/>
              </a:rPr>
              <a:t>Mede limiares e desvios</a:t>
            </a:r>
          </a:p>
        </p:txBody>
      </p:sp>
      <p:sp>
        <p:nvSpPr>
          <p:cNvPr id="28" name="Agente 3 · texto"/>
          <p:cNvSpPr txBox="1"/>
          <p:nvPr/>
        </p:nvSpPr>
        <p:spPr>
          <a:xfrm>
            <a:off x="7638288" y="2596896"/>
            <a:ext cx="222808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2E3439"/>
                </a:solidFill>
                <a:latin typeface="Archivo"/>
              </a:rPr>
              <a:t>Compara cada indicador com os limiares configurados (Brent acima de US$ 90, Selic a 15%…) e a alocação de cada cliente com a política aprovada. Diz quando uma ação é devida.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0058400" y="2651760"/>
            <a:ext cx="274320" cy="0"/>
          </a:xfrm>
          <a:prstGeom prst="line">
            <a:avLst/>
          </a:prstGeom>
          <a:ln w="15875">
            <a:solidFill>
              <a:srgbClr val="7C85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sultado 1 · fundo"/>
          <p:cNvSpPr/>
          <p:nvPr/>
        </p:nvSpPr>
        <p:spPr>
          <a:xfrm>
            <a:off x="10405872" y="1737360"/>
            <a:ext cx="1280160" cy="1828800"/>
          </a:xfrm>
          <a:prstGeom prst="rect">
            <a:avLst/>
          </a:prstGeom>
          <a:solidFill>
            <a:srgbClr val="123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sultado 1 · rótulo"/>
          <p:cNvSpPr txBox="1"/>
          <p:nvPr/>
        </p:nvSpPr>
        <p:spPr>
          <a:xfrm>
            <a:off x="10533888" y="1865376"/>
            <a:ext cx="10241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D3E0EC"/>
                </a:solidFill>
                <a:latin typeface="IBM Plex Mono"/>
              </a:rPr>
              <a:t>resultado</a:t>
            </a:r>
          </a:p>
        </p:txBody>
      </p:sp>
      <p:sp>
        <p:nvSpPr>
          <p:cNvPr id="32" name="Resultado 1 · título"/>
          <p:cNvSpPr txBox="1"/>
          <p:nvPr/>
        </p:nvSpPr>
        <p:spPr>
          <a:xfrm>
            <a:off x="10533888" y="2066543"/>
            <a:ext cx="102412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5F6F5"/>
                </a:solidFill>
                <a:latin typeface="Archivo"/>
              </a:rPr>
              <a:t>Portal do assessor</a:t>
            </a:r>
          </a:p>
        </p:txBody>
      </p:sp>
      <p:sp>
        <p:nvSpPr>
          <p:cNvPr id="33" name="Resultado 1 · texto"/>
          <p:cNvSpPr txBox="1"/>
          <p:nvPr/>
        </p:nvSpPr>
        <p:spPr>
          <a:xfrm>
            <a:off x="10533888" y="2596896"/>
            <a:ext cx="102412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D3E0EC"/>
                </a:solidFill>
                <a:latin typeface="Archivo"/>
              </a:rPr>
              <a:t>Resumo, "O que importa hoje", indicadores, gatilhos e desvios. Rascunho até o assessor aprovar.</a:t>
            </a:r>
          </a:p>
        </p:txBody>
      </p:sp>
      <p:sp>
        <p:nvSpPr>
          <p:cNvPr id="34" name="Fluxo 2 · título"/>
          <p:cNvSpPr txBox="1"/>
          <p:nvPr/>
        </p:nvSpPr>
        <p:spPr>
          <a:xfrm>
            <a:off x="502920" y="3767328"/>
            <a:ext cx="8686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9A7B34"/>
                </a:solidFill>
                <a:latin typeface="IBM Plex Mono"/>
              </a:rPr>
              <a:t>02  </a:t>
            </a:r>
            <a:r>
              <a:rPr sz="1400" b="1" i="0">
                <a:solidFill>
                  <a:srgbClr val="0B0D0E"/>
                </a:solidFill>
                <a:latin typeface="Archivo"/>
              </a:rPr>
              <a:t>Carta mensal</a:t>
            </a:r>
            <a:r>
              <a:rPr sz="1000" b="0" i="0">
                <a:solidFill>
                  <a:srgbClr val="2E3439"/>
                </a:solidFill>
                <a:latin typeface="Archivo"/>
              </a:rPr>
              <a:t>   uma vez por mês, por cliente: o Rivet no seu computador comanda, o Worker executa</a:t>
            </a:r>
          </a:p>
        </p:txBody>
      </p:sp>
      <p:sp>
        <p:nvSpPr>
          <p:cNvPr id="35" name="Fluxo 2 · comando"/>
          <p:cNvSpPr txBox="1"/>
          <p:nvPr/>
        </p:nvSpPr>
        <p:spPr>
          <a:xfrm>
            <a:off x="7754112" y="3767328"/>
            <a:ext cx="39319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>
                <a:solidFill>
                  <a:srgbClr val="5C6469"/>
                </a:solidFill>
                <a:latin typeface="IBM Plex Mono"/>
              </a:rPr>
              <a:t>Rivet Desktop ou npm run run:report · cada etapa, uma chamada ao Worker</a:t>
            </a:r>
          </a:p>
        </p:txBody>
      </p:sp>
      <p:sp>
        <p:nvSpPr>
          <p:cNvPr id="36" name="Rivet · fundo"/>
          <p:cNvSpPr/>
          <p:nvPr/>
        </p:nvSpPr>
        <p:spPr>
          <a:xfrm>
            <a:off x="502920" y="4096512"/>
            <a:ext cx="1207008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C4C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ivet · rótulo"/>
          <p:cNvSpPr txBox="1"/>
          <p:nvPr/>
        </p:nvSpPr>
        <p:spPr>
          <a:xfrm>
            <a:off x="630936" y="4224528"/>
            <a:ext cx="95097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5C6469"/>
                </a:solidFill>
                <a:latin typeface="IBM Plex Mono"/>
              </a:rPr>
              <a:t>orquestra</a:t>
            </a:r>
          </a:p>
        </p:txBody>
      </p:sp>
      <p:sp>
        <p:nvSpPr>
          <p:cNvPr id="38" name="Rivet · título"/>
          <p:cNvSpPr txBox="1"/>
          <p:nvPr/>
        </p:nvSpPr>
        <p:spPr>
          <a:xfrm>
            <a:off x="630936" y="4425696"/>
            <a:ext cx="9509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B0D0E"/>
                </a:solidFill>
                <a:latin typeface="Archivo"/>
              </a:rPr>
              <a:t>Rivet, no seu computador</a:t>
            </a:r>
          </a:p>
        </p:txBody>
      </p:sp>
      <p:sp>
        <p:nvSpPr>
          <p:cNvPr id="39" name="Rivet · texto"/>
          <p:cNvSpPr txBox="1"/>
          <p:nvPr/>
        </p:nvSpPr>
        <p:spPr>
          <a:xfrm>
            <a:off x="630936" y="4956048"/>
            <a:ext cx="950976" cy="822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2E3439"/>
                </a:solidFill>
                <a:latin typeface="Archivo"/>
              </a:rPr>
              <a:t>Só a sequência mora aqui. Nenhum número é calculado no grafo.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783080" y="4965192"/>
            <a:ext cx="274320" cy="0"/>
          </a:xfrm>
          <a:prstGeom prst="line">
            <a:avLst/>
          </a:prstGeom>
          <a:ln w="15875">
            <a:solidFill>
              <a:srgbClr val="7C85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Etapa 1 · fundo"/>
          <p:cNvSpPr/>
          <p:nvPr/>
        </p:nvSpPr>
        <p:spPr>
          <a:xfrm>
            <a:off x="2130552" y="4096512"/>
            <a:ext cx="93497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C4C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tapa 1 · marca"/>
          <p:cNvSpPr/>
          <p:nvPr/>
        </p:nvSpPr>
        <p:spPr>
          <a:xfrm>
            <a:off x="2130552" y="4096512"/>
            <a:ext cx="934974" cy="36576"/>
          </a:xfrm>
          <a:prstGeom prst="rect">
            <a:avLst/>
          </a:prstGeom>
          <a:solidFill>
            <a:srgbClr val="123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tapa 1 · número"/>
          <p:cNvSpPr txBox="1"/>
          <p:nvPr/>
        </p:nvSpPr>
        <p:spPr>
          <a:xfrm>
            <a:off x="2221992" y="4206240"/>
            <a:ext cx="75209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5C6469"/>
                </a:solidFill>
                <a:latin typeface="IBM Plex Mono"/>
              </a:rPr>
              <a:t>1</a:t>
            </a:r>
          </a:p>
        </p:txBody>
      </p:sp>
      <p:sp>
        <p:nvSpPr>
          <p:cNvPr id="44" name="Etapa 1 · título"/>
          <p:cNvSpPr txBox="1"/>
          <p:nvPr/>
        </p:nvSpPr>
        <p:spPr>
          <a:xfrm>
            <a:off x="2203704" y="4389120"/>
            <a:ext cx="78866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 i="0">
                <a:solidFill>
                  <a:srgbClr val="0B0D0E"/>
                </a:solidFill>
                <a:latin typeface="Archivo"/>
              </a:rPr>
              <a:t>Carregar o cliente</a:t>
            </a:r>
          </a:p>
        </p:txBody>
      </p:sp>
      <p:sp>
        <p:nvSpPr>
          <p:cNvPr id="45" name="Etapa 1 · texto"/>
          <p:cNvSpPr txBox="1"/>
          <p:nvPr/>
        </p:nvSpPr>
        <p:spPr>
          <a:xfrm>
            <a:off x="2203704" y="4864608"/>
            <a:ext cx="788669" cy="8961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2E3439"/>
                </a:solidFill>
                <a:latin typeface="Archivo"/>
              </a:rPr>
              <a:t>posições, política, histórico</a:t>
            </a:r>
          </a:p>
        </p:txBody>
      </p:sp>
      <p:sp>
        <p:nvSpPr>
          <p:cNvPr id="46" name="Etapa 2 · fundo"/>
          <p:cNvSpPr/>
          <p:nvPr/>
        </p:nvSpPr>
        <p:spPr>
          <a:xfrm>
            <a:off x="3120390" y="4096512"/>
            <a:ext cx="93497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C4C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tapa 2 · marca"/>
          <p:cNvSpPr/>
          <p:nvPr/>
        </p:nvSpPr>
        <p:spPr>
          <a:xfrm>
            <a:off x="3120390" y="4096512"/>
            <a:ext cx="934974" cy="36576"/>
          </a:xfrm>
          <a:prstGeom prst="rect">
            <a:avLst/>
          </a:prstGeom>
          <a:solidFill>
            <a:srgbClr val="123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tapa 2 · número"/>
          <p:cNvSpPr txBox="1"/>
          <p:nvPr/>
        </p:nvSpPr>
        <p:spPr>
          <a:xfrm>
            <a:off x="3211830" y="4206240"/>
            <a:ext cx="75209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5C6469"/>
                </a:solidFill>
                <a:latin typeface="IBM Plex Mono"/>
              </a:rPr>
              <a:t>2</a:t>
            </a:r>
          </a:p>
        </p:txBody>
      </p:sp>
      <p:sp>
        <p:nvSpPr>
          <p:cNvPr id="49" name="Etapa 2 · título"/>
          <p:cNvSpPr txBox="1"/>
          <p:nvPr/>
        </p:nvSpPr>
        <p:spPr>
          <a:xfrm>
            <a:off x="3193542" y="4389120"/>
            <a:ext cx="78866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 i="0">
                <a:solidFill>
                  <a:srgbClr val="0B0D0E"/>
                </a:solidFill>
                <a:latin typeface="Archivo"/>
              </a:rPr>
              <a:t>Preços e validação</a:t>
            </a:r>
          </a:p>
        </p:txBody>
      </p:sp>
      <p:sp>
        <p:nvSpPr>
          <p:cNvPr id="50" name="Etapa 2 · texto"/>
          <p:cNvSpPr txBox="1"/>
          <p:nvPr/>
        </p:nvSpPr>
        <p:spPr>
          <a:xfrm>
            <a:off x="3193542" y="4864608"/>
            <a:ext cx="788669" cy="8961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2E3439"/>
                </a:solidFill>
                <a:latin typeface="Archivo"/>
              </a:rPr>
              <a:t>Yahoo, BCB, extrato; ou DATA UNAVAILABLE</a:t>
            </a:r>
          </a:p>
        </p:txBody>
      </p:sp>
      <p:sp>
        <p:nvSpPr>
          <p:cNvPr id="51" name="Etapa 3 · fundo"/>
          <p:cNvSpPr/>
          <p:nvPr/>
        </p:nvSpPr>
        <p:spPr>
          <a:xfrm>
            <a:off x="4110228" y="4096512"/>
            <a:ext cx="93497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C4C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tapa 3 · marca"/>
          <p:cNvSpPr/>
          <p:nvPr/>
        </p:nvSpPr>
        <p:spPr>
          <a:xfrm>
            <a:off x="4110228" y="4096512"/>
            <a:ext cx="934974" cy="36576"/>
          </a:xfrm>
          <a:prstGeom prst="rect">
            <a:avLst/>
          </a:prstGeom>
          <a:solidFill>
            <a:srgbClr val="123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tapa 3 · número"/>
          <p:cNvSpPr txBox="1"/>
          <p:nvPr/>
        </p:nvSpPr>
        <p:spPr>
          <a:xfrm>
            <a:off x="4201668" y="4206240"/>
            <a:ext cx="75209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5C6469"/>
                </a:solidFill>
                <a:latin typeface="IBM Plex Mono"/>
              </a:rPr>
              <a:t>3</a:t>
            </a:r>
          </a:p>
        </p:txBody>
      </p:sp>
      <p:sp>
        <p:nvSpPr>
          <p:cNvPr id="54" name="Etapa 3 · título"/>
          <p:cNvSpPr txBox="1"/>
          <p:nvPr/>
        </p:nvSpPr>
        <p:spPr>
          <a:xfrm>
            <a:off x="4183380" y="4389120"/>
            <a:ext cx="78866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 i="0">
                <a:solidFill>
                  <a:srgbClr val="0B0D0E"/>
                </a:solidFill>
                <a:latin typeface="Archivo"/>
              </a:rPr>
              <a:t>Rentabilidade e atribuição</a:t>
            </a:r>
          </a:p>
        </p:txBody>
      </p:sp>
      <p:sp>
        <p:nvSpPr>
          <p:cNvPr id="55" name="Etapa 3 · texto"/>
          <p:cNvSpPr txBox="1"/>
          <p:nvPr/>
        </p:nvSpPr>
        <p:spPr>
          <a:xfrm>
            <a:off x="4183380" y="4864608"/>
            <a:ext cx="788669" cy="8961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2E3439"/>
                </a:solidFill>
                <a:latin typeface="Archivo"/>
              </a:rPr>
              <a:t>Dietz modificado, por classe e posição</a:t>
            </a:r>
          </a:p>
        </p:txBody>
      </p:sp>
      <p:sp>
        <p:nvSpPr>
          <p:cNvPr id="56" name="Etapa 4 · fundo"/>
          <p:cNvSpPr/>
          <p:nvPr/>
        </p:nvSpPr>
        <p:spPr>
          <a:xfrm>
            <a:off x="5100066" y="4096512"/>
            <a:ext cx="93497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C4C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tapa 4 · marca"/>
          <p:cNvSpPr/>
          <p:nvPr/>
        </p:nvSpPr>
        <p:spPr>
          <a:xfrm>
            <a:off x="5100066" y="4096512"/>
            <a:ext cx="934974" cy="36576"/>
          </a:xfrm>
          <a:prstGeom prst="rect">
            <a:avLst/>
          </a:prstGeom>
          <a:solidFill>
            <a:srgbClr val="123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tapa 4 · número"/>
          <p:cNvSpPr txBox="1"/>
          <p:nvPr/>
        </p:nvSpPr>
        <p:spPr>
          <a:xfrm>
            <a:off x="5191506" y="4206240"/>
            <a:ext cx="75209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5C6469"/>
                </a:solidFill>
                <a:latin typeface="IBM Plex Mono"/>
              </a:rPr>
              <a:t>4</a:t>
            </a:r>
          </a:p>
        </p:txBody>
      </p:sp>
      <p:sp>
        <p:nvSpPr>
          <p:cNvPr id="59" name="Etapa 4 · título"/>
          <p:cNvSpPr txBox="1"/>
          <p:nvPr/>
        </p:nvSpPr>
        <p:spPr>
          <a:xfrm>
            <a:off x="5173218" y="4389120"/>
            <a:ext cx="78866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 i="0">
                <a:solidFill>
                  <a:srgbClr val="0B0D0E"/>
                </a:solidFill>
                <a:latin typeface="Archivo"/>
              </a:rPr>
              <a:t>Carteira de referência</a:t>
            </a:r>
          </a:p>
        </p:txBody>
      </p:sp>
      <p:sp>
        <p:nvSpPr>
          <p:cNvPr id="60" name="Etapa 4 · texto"/>
          <p:cNvSpPr txBox="1"/>
          <p:nvPr/>
        </p:nvSpPr>
        <p:spPr>
          <a:xfrm>
            <a:off x="5173218" y="4864608"/>
            <a:ext cx="788669" cy="8961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2E3439"/>
                </a:solidFill>
                <a:latin typeface="Archivo"/>
              </a:rPr>
              <a:t>a política, precificada com séries reais</a:t>
            </a:r>
          </a:p>
        </p:txBody>
      </p:sp>
      <p:sp>
        <p:nvSpPr>
          <p:cNvPr id="61" name="Etapa 5 · fundo"/>
          <p:cNvSpPr/>
          <p:nvPr/>
        </p:nvSpPr>
        <p:spPr>
          <a:xfrm>
            <a:off x="6089904" y="4096512"/>
            <a:ext cx="93497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C4C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Etapa 5 · marca"/>
          <p:cNvSpPr/>
          <p:nvPr/>
        </p:nvSpPr>
        <p:spPr>
          <a:xfrm>
            <a:off x="6089904" y="4096512"/>
            <a:ext cx="934974" cy="36576"/>
          </a:xfrm>
          <a:prstGeom prst="rect">
            <a:avLst/>
          </a:prstGeom>
          <a:solidFill>
            <a:srgbClr val="123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Etapa 5 · número"/>
          <p:cNvSpPr txBox="1"/>
          <p:nvPr/>
        </p:nvSpPr>
        <p:spPr>
          <a:xfrm>
            <a:off x="6181344" y="4206240"/>
            <a:ext cx="75209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5C6469"/>
                </a:solidFill>
                <a:latin typeface="IBM Plex Mono"/>
              </a:rPr>
              <a:t>5</a:t>
            </a:r>
          </a:p>
        </p:txBody>
      </p:sp>
      <p:sp>
        <p:nvSpPr>
          <p:cNvPr id="64" name="Etapa 5 · título"/>
          <p:cNvSpPr txBox="1"/>
          <p:nvPr/>
        </p:nvSpPr>
        <p:spPr>
          <a:xfrm>
            <a:off x="6163056" y="4389120"/>
            <a:ext cx="78866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 i="0">
                <a:solidFill>
                  <a:srgbClr val="0B0D0E"/>
                </a:solidFill>
                <a:latin typeface="Archivo"/>
              </a:rPr>
              <a:t>Sinais e propostas</a:t>
            </a:r>
          </a:p>
        </p:txBody>
      </p:sp>
      <p:sp>
        <p:nvSpPr>
          <p:cNvPr id="65" name="Etapa 5 · texto"/>
          <p:cNvSpPr txBox="1"/>
          <p:nvPr/>
        </p:nvSpPr>
        <p:spPr>
          <a:xfrm>
            <a:off x="6163056" y="4864608"/>
            <a:ext cx="788669" cy="8961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2E3439"/>
                </a:solidFill>
                <a:latin typeface="Archivo"/>
              </a:rPr>
              <a:t>TradingView; enquadramento na política</a:t>
            </a:r>
          </a:p>
        </p:txBody>
      </p:sp>
      <p:sp>
        <p:nvSpPr>
          <p:cNvPr id="66" name="Etapa 6 · fundo"/>
          <p:cNvSpPr/>
          <p:nvPr/>
        </p:nvSpPr>
        <p:spPr>
          <a:xfrm>
            <a:off x="7079742" y="4096512"/>
            <a:ext cx="93497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C4C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tapa 6 · marca"/>
          <p:cNvSpPr/>
          <p:nvPr/>
        </p:nvSpPr>
        <p:spPr>
          <a:xfrm>
            <a:off x="7079742" y="4096512"/>
            <a:ext cx="934974" cy="36576"/>
          </a:xfrm>
          <a:prstGeom prst="rect">
            <a:avLst/>
          </a:prstGeom>
          <a:solidFill>
            <a:srgbClr val="123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Etapa 6 · número"/>
          <p:cNvSpPr txBox="1"/>
          <p:nvPr/>
        </p:nvSpPr>
        <p:spPr>
          <a:xfrm>
            <a:off x="7171181" y="4206240"/>
            <a:ext cx="75209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5C6469"/>
                </a:solidFill>
                <a:latin typeface="IBM Plex Mono"/>
              </a:rPr>
              <a:t>6</a:t>
            </a:r>
          </a:p>
        </p:txBody>
      </p:sp>
      <p:sp>
        <p:nvSpPr>
          <p:cNvPr id="69" name="Etapa 6 · título"/>
          <p:cNvSpPr txBox="1"/>
          <p:nvPr/>
        </p:nvSpPr>
        <p:spPr>
          <a:xfrm>
            <a:off x="7152894" y="4389120"/>
            <a:ext cx="78866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 i="0">
                <a:solidFill>
                  <a:srgbClr val="0B0D0E"/>
                </a:solidFill>
                <a:latin typeface="Archivo"/>
              </a:rPr>
              <a:t>Objeto canônico</a:t>
            </a:r>
          </a:p>
        </p:txBody>
      </p:sp>
      <p:sp>
        <p:nvSpPr>
          <p:cNvPr id="70" name="Etapa 6 · texto"/>
          <p:cNvSpPr txBox="1"/>
          <p:nvPr/>
        </p:nvSpPr>
        <p:spPr>
          <a:xfrm>
            <a:off x="7152894" y="4864608"/>
            <a:ext cx="788669" cy="8961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2E3439"/>
                </a:solidFill>
                <a:latin typeface="Archivo"/>
              </a:rPr>
              <a:t>todos os números, com fonte, validados</a:t>
            </a:r>
          </a:p>
        </p:txBody>
      </p:sp>
      <p:sp>
        <p:nvSpPr>
          <p:cNvPr id="71" name="Etapa 7 · fundo"/>
          <p:cNvSpPr/>
          <p:nvPr/>
        </p:nvSpPr>
        <p:spPr>
          <a:xfrm>
            <a:off x="8069579" y="4096512"/>
            <a:ext cx="93497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C4C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Etapa 7 · marca"/>
          <p:cNvSpPr/>
          <p:nvPr/>
        </p:nvSpPr>
        <p:spPr>
          <a:xfrm>
            <a:off x="8069579" y="4096512"/>
            <a:ext cx="934974" cy="36576"/>
          </a:xfrm>
          <a:prstGeom prst="rect">
            <a:avLst/>
          </a:prstGeom>
          <a:solidFill>
            <a:srgbClr val="B59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Etapa 7 · número"/>
          <p:cNvSpPr txBox="1"/>
          <p:nvPr/>
        </p:nvSpPr>
        <p:spPr>
          <a:xfrm>
            <a:off x="8161019" y="4206240"/>
            <a:ext cx="75209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5C6469"/>
                </a:solidFill>
                <a:latin typeface="IBM Plex Mono"/>
              </a:rPr>
              <a:t>7</a:t>
            </a:r>
          </a:p>
        </p:txBody>
      </p:sp>
      <p:sp>
        <p:nvSpPr>
          <p:cNvPr id="74" name="Etapa 7 · título"/>
          <p:cNvSpPr txBox="1"/>
          <p:nvPr/>
        </p:nvSpPr>
        <p:spPr>
          <a:xfrm>
            <a:off x="8142731" y="4389120"/>
            <a:ext cx="78866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 i="0">
                <a:solidFill>
                  <a:srgbClr val="0B0D0E"/>
                </a:solidFill>
                <a:latin typeface="Archivo"/>
              </a:rPr>
              <a:t>Narrativa</a:t>
            </a:r>
          </a:p>
        </p:txBody>
      </p:sp>
      <p:sp>
        <p:nvSpPr>
          <p:cNvPr id="75" name="Etapa 7 · texto"/>
          <p:cNvSpPr txBox="1"/>
          <p:nvPr/>
        </p:nvSpPr>
        <p:spPr>
          <a:xfrm>
            <a:off x="8142731" y="4864608"/>
            <a:ext cx="788669" cy="8961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2E3439"/>
                </a:solidFill>
                <a:latin typeface="Archivo"/>
              </a:rPr>
              <a:t>o modelo escreve; nunca inventa um número</a:t>
            </a:r>
          </a:p>
        </p:txBody>
      </p:sp>
      <p:sp>
        <p:nvSpPr>
          <p:cNvPr id="76" name="Etapa 8 · fundo"/>
          <p:cNvSpPr/>
          <p:nvPr/>
        </p:nvSpPr>
        <p:spPr>
          <a:xfrm>
            <a:off x="9059418" y="4096512"/>
            <a:ext cx="93497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C4C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Etapa 8 · marca"/>
          <p:cNvSpPr/>
          <p:nvPr/>
        </p:nvSpPr>
        <p:spPr>
          <a:xfrm>
            <a:off x="9059418" y="4096512"/>
            <a:ext cx="934974" cy="36576"/>
          </a:xfrm>
          <a:prstGeom prst="rect">
            <a:avLst/>
          </a:prstGeom>
          <a:solidFill>
            <a:srgbClr val="123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Etapa 8 · número"/>
          <p:cNvSpPr txBox="1"/>
          <p:nvPr/>
        </p:nvSpPr>
        <p:spPr>
          <a:xfrm>
            <a:off x="9150858" y="4206240"/>
            <a:ext cx="75209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5C6469"/>
                </a:solidFill>
                <a:latin typeface="IBM Plex Mono"/>
              </a:rPr>
              <a:t>8</a:t>
            </a:r>
          </a:p>
        </p:txBody>
      </p:sp>
      <p:sp>
        <p:nvSpPr>
          <p:cNvPr id="79" name="Etapa 8 · título"/>
          <p:cNvSpPr txBox="1"/>
          <p:nvPr/>
        </p:nvSpPr>
        <p:spPr>
          <a:xfrm>
            <a:off x="9132570" y="4389120"/>
            <a:ext cx="78866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 i="0">
                <a:solidFill>
                  <a:srgbClr val="0B0D0E"/>
                </a:solidFill>
                <a:latin typeface="Archivo"/>
              </a:rPr>
              <a:t>PDF e e-mail</a:t>
            </a:r>
          </a:p>
        </p:txBody>
      </p:sp>
      <p:sp>
        <p:nvSpPr>
          <p:cNvPr id="80" name="Etapa 8 · texto"/>
          <p:cNvSpPr txBox="1"/>
          <p:nvPr/>
        </p:nvSpPr>
        <p:spPr>
          <a:xfrm>
            <a:off x="9132570" y="4864608"/>
            <a:ext cx="788669" cy="8961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2E3439"/>
                </a:solidFill>
                <a:latin typeface="Archivo"/>
              </a:rPr>
              <a:t>carta de duas páginas, guardada no R2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10058400" y="4965192"/>
            <a:ext cx="274320" cy="0"/>
          </a:xfrm>
          <a:prstGeom prst="line">
            <a:avLst/>
          </a:prstGeom>
          <a:ln w="15875">
            <a:solidFill>
              <a:srgbClr val="7C85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esultado 2 · fundo"/>
          <p:cNvSpPr/>
          <p:nvPr/>
        </p:nvSpPr>
        <p:spPr>
          <a:xfrm>
            <a:off x="10405872" y="4096512"/>
            <a:ext cx="1280160" cy="1737360"/>
          </a:xfrm>
          <a:prstGeom prst="rect">
            <a:avLst/>
          </a:prstGeom>
          <a:solidFill>
            <a:srgbClr val="123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sultado 2 · rótulo"/>
          <p:cNvSpPr txBox="1"/>
          <p:nvPr/>
        </p:nvSpPr>
        <p:spPr>
          <a:xfrm>
            <a:off x="10533888" y="4224528"/>
            <a:ext cx="10241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D3E0EC"/>
                </a:solidFill>
                <a:latin typeface="IBM Plex Mono"/>
              </a:rPr>
              <a:t>resultado</a:t>
            </a:r>
          </a:p>
        </p:txBody>
      </p:sp>
      <p:sp>
        <p:nvSpPr>
          <p:cNvPr id="84" name="Resultado 2 · título"/>
          <p:cNvSpPr txBox="1"/>
          <p:nvPr/>
        </p:nvSpPr>
        <p:spPr>
          <a:xfrm>
            <a:off x="10533888" y="4425696"/>
            <a:ext cx="102412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5F6F5"/>
                </a:solidFill>
                <a:latin typeface="Archivo"/>
              </a:rPr>
              <a:t>Assessor aprova, cliente recebe</a:t>
            </a:r>
          </a:p>
        </p:txBody>
      </p:sp>
      <p:sp>
        <p:nvSpPr>
          <p:cNvPr id="85" name="Resultado 2 · texto"/>
          <p:cNvSpPr txBox="1"/>
          <p:nvPr/>
        </p:nvSpPr>
        <p:spPr>
          <a:xfrm>
            <a:off x="10533888" y="4956048"/>
            <a:ext cx="1024127" cy="822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D3E0EC"/>
                </a:solidFill>
                <a:latin typeface="Archivo"/>
              </a:rPr>
              <a:t>Nada chega ao cliente sem aprovação. Portal e PDF vêm do mesmo objeto.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502920" y="5980176"/>
            <a:ext cx="11183112" cy="0"/>
          </a:xfrm>
          <a:prstGeom prst="line">
            <a:avLst/>
          </a:prstGeom>
          <a:ln w="9525">
            <a:solidFill>
              <a:srgbClr val="C4CA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odapé · título"/>
          <p:cNvSpPr txBox="1"/>
          <p:nvPr/>
        </p:nvSpPr>
        <p:spPr>
          <a:xfrm>
            <a:off x="502920" y="6035040"/>
            <a:ext cx="21031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0B0D0E"/>
                </a:solidFill>
                <a:latin typeface="Archivo"/>
              </a:rPr>
              <a:t>Tudo o que executa e guarda está na Cloudflare</a:t>
            </a:r>
          </a:p>
        </p:txBody>
      </p:sp>
      <p:sp>
        <p:nvSpPr>
          <p:cNvPr id="88" name="Rodapé · Cloudflare"/>
          <p:cNvSpPr txBox="1"/>
          <p:nvPr/>
        </p:nvSpPr>
        <p:spPr>
          <a:xfrm>
            <a:off x="2697480" y="6035040"/>
            <a:ext cx="5486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E3439"/>
                </a:solidFill>
                <a:latin typeface="IBM Plex Mono"/>
              </a:rPr>
              <a:t>Worker (API e portais) · Workflow (os três agentes) · cron 07:00 · D1 (registro relacional) · R2 (PDFs e séries diárias) · KV (cache dos provedores)</a:t>
            </a:r>
          </a:p>
        </p:txBody>
      </p:sp>
      <p:sp>
        <p:nvSpPr>
          <p:cNvPr id="89" name="Rodapé · modelo"/>
          <p:cNvSpPr txBox="1"/>
          <p:nvPr/>
        </p:nvSpPr>
        <p:spPr>
          <a:xfrm>
            <a:off x="8302751" y="6035040"/>
            <a:ext cx="33832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>
                <a:solidFill>
                  <a:srgbClr val="5C6469"/>
                </a:solidFill>
                <a:latin typeface="IBM Plex Mono"/>
              </a:rPr>
              <a:t>modelo: Claude via API da Anthropic, chamado pelo Worker · sem chave, os fluxos rodam de forma determinística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