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0256"/>
            <a:ext cx="12191969" cy="237744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62025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24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XP ADVISORY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0256" y="662025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24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15 DE SETEMBRO DE 2026</a:t>
            </a:r>
          </a:p>
        </p:txBody>
      </p:sp>
      <p:pic>
        <p:nvPicPr>
          <p:cNvPr id="6" name="Picture 5" descr="xp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3616" y="502920"/>
            <a:ext cx="548640" cy="4919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298448"/>
            <a:ext cx="104607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288">
                <a:solidFill>
                  <a:srgbClr val="A1A894"/>
                </a:solidFill>
                <a:latin typeface="Roboto Light"/>
                <a:ea typeface="Roboto Light"/>
                <a:cs typeface="Roboto Light"/>
              </a:rPr>
              <a:t>XP ASSET MANAGEMENT  ·  WEALTH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00784"/>
            <a:ext cx="9326880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>
                <a:solidFill>
                  <a:srgbClr val="FFFFFF"/>
                </a:solidFill>
                <a:latin typeface="Hanken Grotesk ExtraLight"/>
                <a:ea typeface="Hanken Grotesk ExtraLight"/>
                <a:cs typeface="Hanken Grotesk ExtraLight"/>
              </a:rPr>
              <a:t>A carta mensal,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>
                <a:solidFill>
                  <a:srgbClr val="FFFFFF"/>
                </a:solidFill>
                <a:latin typeface="Hanken Grotesk ExtraLight"/>
                <a:ea typeface="Hanken Grotesk ExtraLight"/>
                <a:cs typeface="Hanken Grotesk ExtraLight"/>
              </a:rPr>
              <a:t>para o book inteiro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3858768"/>
            <a:ext cx="1188720" cy="0"/>
          </a:xfrm>
          <a:prstGeom prst="line">
            <a:avLst/>
          </a:prstGeom>
          <a:ln w="19050">
            <a:solidFill>
              <a:srgbClr val="BB7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4133087"/>
            <a:ext cx="786384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BFBF"/>
                </a:solidFill>
                <a:latin typeface="Roboto Light"/>
                <a:ea typeface="Roboto Light"/>
                <a:cs typeface="Roboto Light"/>
              </a:rPr>
              <a:t>Um produto para o assessor escrever, todo mês, a cada um de até trezentos clientes — com a aritmética feita em código, a fonte de cada número anotada e a aprovação do assessor antes de qualquer envio.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70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SESSÃO DE TRABALHO ENTER × XP  ·  CONSTRUÍDO EM CLAUDE CODE, SOBRE A API DA ANTHROPIC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521440" y="475488"/>
            <a:ext cx="0" cy="5907024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402567" y="1792224"/>
            <a:ext cx="237744" cy="1947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5400000">
            <a:off x="10565892" y="2628900"/>
            <a:ext cx="1874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60">
                <a:solidFill>
                  <a:srgbClr val="828D6F"/>
                </a:solidFill>
                <a:latin typeface="Roboto Light"/>
                <a:ea typeface="Roboto Light"/>
                <a:cs typeface="Roboto Light"/>
              </a:rPr>
              <a:t>Roteiro</a:t>
            </a:r>
            <a:r>
              <a:rPr sz="850" b="0" spc="60">
                <a:solidFill>
                  <a:srgbClr val="2A3B43"/>
                </a:solidFill>
                <a:latin typeface="Roboto Light"/>
                <a:ea typeface="Roboto Light"/>
                <a:cs typeface="Roboto Light"/>
              </a:rPr>
              <a:t>  —  Setembro/2026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8251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A3B43"/>
                </a:solidFill>
                <a:latin typeface="Roboto"/>
                <a:ea typeface="Roboto"/>
                <a:cs typeface="Roboto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4607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272">
                <a:solidFill>
                  <a:srgbClr val="7F7F7F"/>
                </a:solidFill>
                <a:latin typeface="Roboto Light"/>
                <a:ea typeface="Roboto Light"/>
                <a:cs typeface="Roboto Light"/>
              </a:rPr>
              <a:t>ROTEIRO  ·  QUATRO PERGUNTAS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86384"/>
            <a:ext cx="1046073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828D6F"/>
                </a:solidFill>
                <a:latin typeface="Hanken Grotesk Light"/>
                <a:ea typeface="Hanken Grotesk Light"/>
                <a:cs typeface="Hanken Grotesk Light"/>
              </a:rPr>
              <a:t>O que vamos percorrer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99616"/>
            <a:ext cx="1046073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Onde estamos, o que recomendamos, como o que foi construído funciona, e o que separa o que está de pé do primeiro cliente real.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942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08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208276"/>
            <a:ext cx="99120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What is happening and why are we here?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523744"/>
            <a:ext cx="9912096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Trezentas cartas por mês, por assessor. A primeira tentativa rodava, produzia prosa em português e não podia ser mostrada a um cliente.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3182112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3291839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08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50691"/>
            <a:ext cx="99120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What do you recommend?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566159"/>
            <a:ext cx="9912096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Um produto novo, formado por duas pontas que se encontraram no meio: o mercado lido todo dia, a carteira de cada cliente, e a carta entre os dois.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4224527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4334255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08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293107"/>
            <a:ext cx="99120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How it 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608575"/>
            <a:ext cx="9912096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Quatro agentes. Três montam o panorama do dia sozinhos na nuvem; o quarto consolida a carta mensal quando o assessor manda.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20" y="5266944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20" y="5376671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08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335523"/>
            <a:ext cx="99120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Next steps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650991"/>
            <a:ext cx="9912096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O que falta para sair do dado simulado: acesso, contrato de nuvem, segurança do dado financeiro, sigilo e governança do que o modelo escreve.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1520" y="6309359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0256"/>
            <a:ext cx="12191969" cy="237744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62025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24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XP ADVISORY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0256" y="662025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24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CAPÍTULO 01</a:t>
            </a:r>
          </a:p>
        </p:txBody>
      </p:sp>
      <p:pic>
        <p:nvPicPr>
          <p:cNvPr id="6" name="Picture 5" descr="xp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3616" y="502920"/>
            <a:ext cx="548640" cy="4919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2103120"/>
            <a:ext cx="104607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288">
                <a:solidFill>
                  <a:srgbClr val="BB795E"/>
                </a:solidFill>
                <a:latin typeface="Roboto Light"/>
                <a:ea typeface="Roboto Light"/>
                <a:cs typeface="Roboto Light"/>
              </a:rPr>
              <a:t>CAPÍTULO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32304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FFFFFF"/>
                </a:solidFill>
                <a:latin typeface="Hanken Grotesk ExtraLight"/>
                <a:ea typeface="Hanken Grotesk ExtraLight"/>
                <a:cs typeface="Hanken Grotesk ExtraLight"/>
              </a:rPr>
              <a:t>What is happening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FFFFFF"/>
                </a:solidFill>
                <a:latin typeface="Hanken Grotesk ExtraLight"/>
                <a:ea typeface="Hanken Grotesk ExtraLight"/>
                <a:cs typeface="Hanken Grotesk ExtraLight"/>
              </a:rPr>
              <a:t>and why are we here?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4059936"/>
            <a:ext cx="1188720" cy="0"/>
          </a:xfrm>
          <a:prstGeom prst="line">
            <a:avLst/>
          </a:prstGeom>
          <a:ln w="19050">
            <a:solidFill>
              <a:srgbClr val="BB7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4315968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FBFBF"/>
                </a:solidFill>
                <a:latin typeface="Roboto Light"/>
                <a:ea typeface="Roboto Light"/>
                <a:cs typeface="Roboto Light"/>
              </a:rPr>
              <a:t>Trezentas cartas por mês, por assessor — e uma primeira tentativa que não sobreviveu à leitura.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521440" y="475488"/>
            <a:ext cx="0" cy="5907024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402567" y="1792224"/>
            <a:ext cx="237744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5400000">
            <a:off x="10533888" y="2660904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60">
                <a:solidFill>
                  <a:srgbClr val="828D6F"/>
                </a:solidFill>
                <a:latin typeface="Roboto Light"/>
                <a:ea typeface="Roboto Light"/>
                <a:cs typeface="Roboto Light"/>
              </a:rPr>
              <a:t>Contexto</a:t>
            </a:r>
            <a:r>
              <a:rPr sz="850" b="0" spc="60">
                <a:solidFill>
                  <a:srgbClr val="2A3B43"/>
                </a:solidFill>
                <a:latin typeface="Roboto Light"/>
                <a:ea typeface="Roboto Light"/>
                <a:cs typeface="Roboto Light"/>
              </a:rPr>
              <a:t>  —  Setembro/2026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8251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A3B43"/>
                </a:solidFill>
                <a:latin typeface="Roboto"/>
                <a:ea typeface="Roboto"/>
                <a:cs typeface="Roboto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4607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272">
                <a:solidFill>
                  <a:srgbClr val="7F7F7F"/>
                </a:solidFill>
                <a:latin typeface="Roboto Light"/>
                <a:ea typeface="Roboto Light"/>
                <a:cs typeface="Roboto Light"/>
              </a:rPr>
              <a:t>O QUE ESTÁ ACONTECENDO  ·  A ESCALA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86384"/>
            <a:ext cx="1046073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828D6F"/>
                </a:solidFill>
                <a:latin typeface="Hanken Grotesk Light"/>
                <a:ea typeface="Hanken Grotesk Light"/>
                <a:cs typeface="Hanken Grotesk Light"/>
              </a:rPr>
              <a:t>Trezentas cartas por mês, por assessor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99616"/>
            <a:ext cx="10460736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Cada assessor mantém um book de até trezentos clientes, e cada cliente espera uma carta por mês. A conta não fecha à mão, e o que a carta precisa conter não é opinião: é aritmética, procedência e política.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2304288"/>
            <a:ext cx="2409443" cy="0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2432304"/>
            <a:ext cx="240944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BB795E"/>
                </a:solidFill>
                <a:latin typeface="Hanken Grotesk Light"/>
                <a:ea typeface="Hanken Grotesk Light"/>
                <a:cs typeface="Hanken Grotesk Light"/>
              </a:rPr>
              <a:t>300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44368"/>
            <a:ext cx="240944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clientes no book de um assessor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15283" y="2304288"/>
            <a:ext cx="2409444" cy="0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15283" y="2432304"/>
            <a:ext cx="240944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BB795E"/>
                </a:solidFill>
                <a:latin typeface="Hanken Grotesk Light"/>
                <a:ea typeface="Hanken Grotesk Light"/>
                <a:cs typeface="Hanken Grotesk Light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5283" y="2944368"/>
            <a:ext cx="240944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cartas por cliente, por ano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9047" y="2304288"/>
            <a:ext cx="2409445" cy="0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99047" y="2432304"/>
            <a:ext cx="240944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BB795E"/>
                </a:solidFill>
                <a:latin typeface="Hanken Grotesk Light"/>
                <a:ea typeface="Hanken Grotesk Light"/>
                <a:cs typeface="Hanken Grotesk Light"/>
              </a:rPr>
              <a:t>3.600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7" y="2944368"/>
            <a:ext cx="240944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cartas por assessor, por ano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82812" y="2304288"/>
            <a:ext cx="2409444" cy="0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782812" y="2432304"/>
            <a:ext cx="240944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BB795E"/>
                </a:solidFill>
                <a:latin typeface="Hanken Grotesk Light"/>
                <a:ea typeface="Hanken Grotesk Light"/>
                <a:cs typeface="Hanken Grotesk Light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82812" y="2944368"/>
            <a:ext cx="240944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cartas por dia útil, se escritas à mão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" y="3785615"/>
            <a:ext cx="10460736" cy="0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3950208"/>
            <a:ext cx="1046073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80">
                <a:solidFill>
                  <a:srgbClr val="595959"/>
                </a:solidFill>
                <a:latin typeface="Roboto"/>
                <a:ea typeface="Roboto"/>
                <a:cs typeface="Roboto"/>
              </a:rPr>
              <a:t>E CADA UMA DESSAS CARTAS PRECISA ACERTAR QUATRO COISAS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334256"/>
            <a:ext cx="1417320" cy="475488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RENTABILIDADE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50008" y="4366260"/>
            <a:ext cx="8842247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O retorno do mês da carteira, medido contra a referência da política que o próprio cliente assinou.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1520" y="4809744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31520" y="4846320"/>
            <a:ext cx="1417320" cy="475488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ATRIBUIÇÃO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50008" y="4878324"/>
            <a:ext cx="8842247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Quem puxou o resultado para cima e para baixo, posição a posição, com o efeito do câmbio separado.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31520" y="5321808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31520" y="5358384"/>
            <a:ext cx="1417320" cy="475488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MERCADO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50008" y="5390388"/>
            <a:ext cx="8842247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O que aconteceu no mês e, de tudo aquilo, o que de fato toca esta carteira — e não a de todo mundo.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31520" y="5833872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31520" y="5870448"/>
            <a:ext cx="1417320" cy="475488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PROPOSTA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50008" y="5902452"/>
            <a:ext cx="8842247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O que sugerir, dentro da faixa, do teto e das restrições, com o sinal de mercado e o consenso ao lado.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31520" y="6345936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31520" y="6345936"/>
            <a:ext cx="1046073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95959"/>
                </a:solidFill>
                <a:latin typeface="Roboto"/>
                <a:ea typeface="Roboto"/>
                <a:cs typeface="Roboto"/>
              </a:rPr>
              <a:t>Fonte: </a:t>
            </a:r>
            <a:r>
              <a:rPr sz="750" b="0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volume declarado pela XP na sessão de trabalho; dias úteis, média de um mês comercial.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521440" y="475488"/>
            <a:ext cx="0" cy="5907024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402567" y="1792224"/>
            <a:ext cx="237744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5400000">
            <a:off x="10533888" y="2660904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60">
                <a:solidFill>
                  <a:srgbClr val="828D6F"/>
                </a:solidFill>
                <a:latin typeface="Roboto Light"/>
                <a:ea typeface="Roboto Light"/>
                <a:cs typeface="Roboto Light"/>
              </a:rPr>
              <a:t>Contexto</a:t>
            </a:r>
            <a:r>
              <a:rPr sz="850" b="0" spc="60">
                <a:solidFill>
                  <a:srgbClr val="2A3B43"/>
                </a:solidFill>
                <a:latin typeface="Roboto Light"/>
                <a:ea typeface="Roboto Light"/>
                <a:cs typeface="Roboto Light"/>
              </a:rPr>
              <a:t>  —  Setembro/2026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8251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A3B43"/>
                </a:solidFill>
                <a:latin typeface="Roboto"/>
                <a:ea typeface="Roboto"/>
                <a:cs typeface="Roboto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4607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272">
                <a:solidFill>
                  <a:srgbClr val="7F7F7F"/>
                </a:solidFill>
                <a:latin typeface="Roboto Light"/>
                <a:ea typeface="Roboto Light"/>
                <a:cs typeface="Roboto Light"/>
              </a:rPr>
              <a:t>O QUE ESTÁ ACONTECENDO  ·  A PRIMEIRA TENTATIVA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86384"/>
            <a:ext cx="1046073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828D6F"/>
                </a:solidFill>
                <a:latin typeface="Hanken Grotesk Light"/>
                <a:ea typeface="Hanken Grotesk Light"/>
                <a:cs typeface="Hanken Grotesk Light"/>
              </a:rPr>
              <a:t>Rodava, e não podia ser mostrada a um cliente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99616"/>
            <a:ext cx="10460736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Quatro prompts em cadeia: resuma o perfil, resuma o macro, resuma a carteira, escreva a carta. Produzia prosa em português e falhava em tudo o que uma carta precisa acertar.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1417320" cy="603504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SEM ARITMÉTICA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0008" y="2226564"/>
            <a:ext cx="8842247" cy="5394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Nenhum retorno era calculado. O extrato traz rentabilidade desde o início — LREN3 a −41,7%, HAPV3 a −74,58% — e nada impedia que aquilo fosse apresentado como o resultado do mês.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2798064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31520" y="2816352"/>
            <a:ext cx="1417320" cy="603504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SEM FONTES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0008" y="2848356"/>
            <a:ext cx="8842247" cy="5394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Cada número era o que o modelo repetia da entrada, sem registro de origem, de quando foi buscado ou se ainda era verdade. O relatório macro era de fevereiro de 2025 e entrava como se fosse de hoje.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3419856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31520" y="3438144"/>
            <a:ext cx="1417320" cy="603504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DADO VENCIDO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0008" y="3470148"/>
            <a:ext cx="8842247" cy="5394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MRFG3 virou MBRF3 e ARZZ3 virou AZZA3; nenhum provedor devolve preço para os tickers antigos. O CDB do extrato já havia vencido. A avaliação de maio de 2025 seguiria adiante, em silêncio.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4041648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31520" y="4059936"/>
            <a:ext cx="1417320" cy="603504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SEM POLÍTICA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0008" y="4091940"/>
            <a:ext cx="8842247" cy="5394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“Faça recomendações alinhadas ao perfil” deixava o modelo inventá-las: sem sinal de mercado, sem faixa da política, sem checagem de concentração e sem lista de restrições.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20" y="4663440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31520" y="4681728"/>
            <a:ext cx="1417320" cy="603504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SEM FORMATO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50008" y="4713732"/>
            <a:ext cx="8842247" cy="5394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 saída era texto de chat. As duas páginas, o formato da carta e a marca eram trabalho manual, refeito a cada cliente.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1520" y="5285232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31520" y="5303520"/>
            <a:ext cx="1417320" cy="603504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SEM ESTADO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0008" y="5335524"/>
            <a:ext cx="8842247" cy="5394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Nada era versionado, nada era guardado, nada era reproduzível — e não havia assessor no circuito: o primeiro rascunho do modelo era a entrega.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1520" y="5907024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31520" y="6089903"/>
            <a:ext cx="1046073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Debaixo de tudo, um erro de projeto:  </a:t>
            </a:r>
            <a:r>
              <a:rPr sz="1350" b="0">
                <a:solidFill>
                  <a:srgbClr val="BB795E"/>
                </a:solidFill>
                <a:latin typeface="Hanken Grotesk"/>
                <a:ea typeface="Hanken Grotesk"/>
                <a:cs typeface="Hanken Grotesk"/>
              </a:rPr>
              <a:t>o modelo era o sistema.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345936"/>
            <a:ext cx="1046073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95959"/>
                </a:solidFill>
                <a:latin typeface="Roboto"/>
                <a:ea typeface="Roboto"/>
                <a:cs typeface="Roboto"/>
              </a:rPr>
              <a:t>Fonte: </a:t>
            </a:r>
            <a:r>
              <a:rPr sz="750" b="0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docs/implementation-report.md §1 — revisão da versão inicial.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0256"/>
            <a:ext cx="12191969" cy="237744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62025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24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XP ADVISORY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0256" y="662025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24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CAPÍTULO 02</a:t>
            </a:r>
          </a:p>
        </p:txBody>
      </p:sp>
      <p:pic>
        <p:nvPicPr>
          <p:cNvPr id="6" name="Picture 5" descr="xp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3616" y="502920"/>
            <a:ext cx="548640" cy="4919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2103120"/>
            <a:ext cx="104607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288">
                <a:solidFill>
                  <a:srgbClr val="BB795E"/>
                </a:solidFill>
                <a:latin typeface="Roboto Light"/>
                <a:ea typeface="Roboto Light"/>
                <a:cs typeface="Roboto Light"/>
              </a:rPr>
              <a:t>CAPÍTULO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32304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FFFFFF"/>
                </a:solidFill>
                <a:latin typeface="Hanken Grotesk ExtraLight"/>
                <a:ea typeface="Hanken Grotesk ExtraLight"/>
                <a:cs typeface="Hanken Grotesk ExtraLight"/>
              </a:rPr>
              <a:t>What do you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FFFFFF"/>
                </a:solidFill>
                <a:latin typeface="Hanken Grotesk ExtraLight"/>
                <a:ea typeface="Hanken Grotesk ExtraLight"/>
                <a:cs typeface="Hanken Grotesk ExtraLight"/>
              </a:rPr>
              <a:t>recommend?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4059936"/>
            <a:ext cx="1188720" cy="0"/>
          </a:xfrm>
          <a:prstGeom prst="line">
            <a:avLst/>
          </a:prstGeom>
          <a:ln w="19050">
            <a:solidFill>
              <a:srgbClr val="BB7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4315968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FBFBF"/>
                </a:solidFill>
                <a:latin typeface="Roboto Light"/>
                <a:ea typeface="Roboto Light"/>
                <a:cs typeface="Roboto Light"/>
              </a:rPr>
              <a:t>Um produto novo, formado por duas pontas que se encontraram no meio.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521440" y="475488"/>
            <a:ext cx="0" cy="5907024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402567" y="1792224"/>
            <a:ext cx="237744" cy="22677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5400000">
            <a:off x="10405872" y="27889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60">
                <a:solidFill>
                  <a:srgbClr val="828D6F"/>
                </a:solidFill>
                <a:latin typeface="Roboto Light"/>
                <a:ea typeface="Roboto Light"/>
                <a:cs typeface="Roboto Light"/>
              </a:rPr>
              <a:t>Recomendação</a:t>
            </a:r>
            <a:r>
              <a:rPr sz="850" b="0" spc="60">
                <a:solidFill>
                  <a:srgbClr val="2A3B43"/>
                </a:solidFill>
                <a:latin typeface="Roboto Light"/>
                <a:ea typeface="Roboto Light"/>
                <a:cs typeface="Roboto Light"/>
              </a:rPr>
              <a:t>  —  Setembro/2026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8251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A3B43"/>
                </a:solidFill>
                <a:latin typeface="Roboto"/>
                <a:ea typeface="Roboto"/>
                <a:cs typeface="Roboto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4607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272">
                <a:solidFill>
                  <a:srgbClr val="7F7F7F"/>
                </a:solidFill>
                <a:latin typeface="Roboto Light"/>
                <a:ea typeface="Roboto Light"/>
                <a:cs typeface="Roboto Light"/>
              </a:rPr>
              <a:t>A RECOMENDAÇÃO  ·  A FORMA DO PRODUTO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86384"/>
            <a:ext cx="1046073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828D6F"/>
                </a:solidFill>
                <a:latin typeface="Hanken Grotesk Light"/>
                <a:ea typeface="Hanken Grotesk Light"/>
                <a:cs typeface="Hanken Grotesk Light"/>
              </a:rPr>
              <a:t>Duas pontas, e a carta no meio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99616"/>
            <a:ext cx="10460736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De um lado, o mercado, lido todo dia. Do outro, a carteira de cada cliente e a política que a governa. O produto é o encontro dos dois, e o encontro tem a forma de uma carta — que o assessor lê, corrige e aprova antes de o cliente ver.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60320"/>
            <a:ext cx="3054096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60320"/>
            <a:ext cx="3054096" cy="384048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>
            <a:no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7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O MERCADO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127248"/>
            <a:ext cx="2615184" cy="1847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Cotações, séries diárias e câmbio, de provedor nomeado.</a:t>
            </a:r>
          </a:p>
          <a:p>
            <a:pPr algn="l">
              <a:lnSpc>
                <a:spcPct val="142000"/>
              </a:lnSpc>
              <a:spcBef>
                <a:spcPts val="1000"/>
              </a:spcBef>
              <a:spcAft>
                <a:spcPts val="0"/>
              </a:spcAft>
            </a:pPr>
            <a:r>
              <a:rPr sz="94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Leitura técnica e consenso de analistas, por ativo.</a:t>
            </a:r>
          </a:p>
          <a:p>
            <a:pPr algn="l">
              <a:lnSpc>
                <a:spcPct val="142000"/>
              </a:lnSpc>
              <a:spcBef>
                <a:spcPts val="1000"/>
              </a:spcBef>
              <a:spcAft>
                <a:spcPts val="0"/>
              </a:spcAft>
            </a:pPr>
            <a:r>
              <a:rPr sz="94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As manchetes das últimas 48 horas, cada uma ligada ao seu artigo.</a:t>
            </a:r>
          </a:p>
          <a:p>
            <a:pPr algn="l">
              <a:lnSpc>
                <a:spcPct val="142000"/>
              </a:lnSpc>
              <a:spcBef>
                <a:spcPts val="1000"/>
              </a:spcBef>
              <a:spcAft>
                <a:spcPts val="0"/>
              </a:spcAft>
            </a:pPr>
            <a:r>
              <a:rPr sz="94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Indicadores medidos em 5 sessões e em 30 dias.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08975" y="2560320"/>
            <a:ext cx="3054096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08975" y="2560320"/>
            <a:ext cx="3054096" cy="384048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>
            <a:no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7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O CLIENTE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3127248"/>
            <a:ext cx="2615184" cy="1847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 carteira aprovada, posição a posição, com os fluxos do mês.</a:t>
            </a:r>
          </a:p>
          <a:p>
            <a:pPr algn="l">
              <a:lnSpc>
                <a:spcPct val="142000"/>
              </a:lnSpc>
              <a:spcBef>
                <a:spcPts val="1000"/>
              </a:spcBef>
              <a:spcAft>
                <a:spcPts val="0"/>
              </a:spcAft>
            </a:pPr>
            <a:r>
              <a:rPr sz="94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 política de investimento: faixas, tetos e restrições.</a:t>
            </a:r>
          </a:p>
          <a:p>
            <a:pPr algn="l">
              <a:lnSpc>
                <a:spcPct val="142000"/>
              </a:lnSpc>
              <a:spcBef>
                <a:spcPts val="1000"/>
              </a:spcBef>
              <a:spcAft>
                <a:spcPts val="0"/>
              </a:spcAft>
            </a:pPr>
            <a:r>
              <a:rPr sz="94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O perfil de suitability e a última reunião registrada.</a:t>
            </a:r>
          </a:p>
          <a:p>
            <a:pPr algn="l">
              <a:lnSpc>
                <a:spcPct val="142000"/>
              </a:lnSpc>
              <a:spcBef>
                <a:spcPts val="1000"/>
              </a:spcBef>
              <a:spcAft>
                <a:spcPts val="0"/>
              </a:spcAft>
            </a:pPr>
            <a:r>
              <a:rPr sz="94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 exposição por classe de ativo, hoje.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96511" y="2340864"/>
            <a:ext cx="3401568" cy="2871216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96511" y="2340864"/>
            <a:ext cx="3401568" cy="59436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2544" y="2743200"/>
            <a:ext cx="2889504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Hanken Grotesk Light"/>
                <a:ea typeface="Hanken Grotesk Light"/>
                <a:cs typeface="Hanken Grotesk Light"/>
              </a:rPr>
              <a:t>A carta mensal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85231" y="3236976"/>
            <a:ext cx="1024128" cy="0"/>
          </a:xfrm>
          <a:prstGeom prst="line">
            <a:avLst/>
          </a:prstGeom>
          <a:ln w="12700">
            <a:solidFill>
              <a:srgbClr val="BB7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70831" y="3401568"/>
            <a:ext cx="2852928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DDDDDD"/>
                </a:solidFill>
                <a:latin typeface="Roboto Light"/>
                <a:ea typeface="Roboto Light"/>
                <a:cs typeface="Roboto Light"/>
              </a:rPr>
              <a:t>Rentabilidade e atribuição do mês, contra a referência da própria política.</a:t>
            </a:r>
          </a:p>
          <a:p>
            <a:pPr algn="ctr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</a:pPr>
            <a:r>
              <a:rPr sz="940" b="0">
                <a:solidFill>
                  <a:srgbClr val="DDDDDD"/>
                </a:solidFill>
                <a:latin typeface="Roboto Light"/>
                <a:ea typeface="Roboto Light"/>
                <a:cs typeface="Roboto Light"/>
              </a:rPr>
              <a:t>O que do mercado toca esta carteira — e só isso.</a:t>
            </a:r>
          </a:p>
          <a:p>
            <a:pPr algn="ctr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</a:pPr>
            <a:r>
              <a:rPr sz="940" b="0">
                <a:solidFill>
                  <a:srgbClr val="DDDDDD"/>
                </a:solidFill>
                <a:latin typeface="Roboto Light"/>
                <a:ea typeface="Roboto Light"/>
                <a:cs typeface="Roboto Light"/>
              </a:rPr>
              <a:t>Propostas medidas contra a faixa, o teto e as restrições.</a:t>
            </a:r>
          </a:p>
          <a:p>
            <a:pPr algn="ctr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</a:pPr>
            <a:r>
              <a:rPr sz="940" b="0">
                <a:solidFill>
                  <a:srgbClr val="DDDDDD"/>
                </a:solidFill>
                <a:latin typeface="Roboto Light"/>
                <a:ea typeface="Roboto Light"/>
                <a:cs typeface="Roboto Light"/>
              </a:rPr>
              <a:t>Lida, corrigida e aprovada pelo assessor antes de sair.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40479" y="3776472"/>
            <a:ext cx="201169" cy="0"/>
          </a:xfrm>
          <a:prstGeom prst="line">
            <a:avLst/>
          </a:prstGeom>
          <a:ln w="15875">
            <a:solidFill>
              <a:srgbClr val="BB79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7552944" y="3776472"/>
            <a:ext cx="201167" cy="0"/>
          </a:xfrm>
          <a:prstGeom prst="line">
            <a:avLst/>
          </a:prstGeom>
          <a:ln w="15875">
            <a:solidFill>
              <a:srgbClr val="BB79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31520" y="5468112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1520" y="5632704"/>
            <a:ext cx="10460736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Duas portas para o mesmo documento. </a:t>
            </a:r>
            <a:r>
              <a:rPr sz="105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No portal do assessor a carta é feita, revisada e aprovada; no portal do cliente ela é lida, junto da carteira e do mês. Um documento por cliente por mês, um lugar só onde ele existe — e o mesmo agente percorre o book inteiro quando o assessor pede todas as cartas de uma vez.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521440" y="475488"/>
            <a:ext cx="0" cy="5907024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402567" y="1792224"/>
            <a:ext cx="237744" cy="22677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5400000">
            <a:off x="10405872" y="27889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60">
                <a:solidFill>
                  <a:srgbClr val="828D6F"/>
                </a:solidFill>
                <a:latin typeface="Roboto Light"/>
                <a:ea typeface="Roboto Light"/>
                <a:cs typeface="Roboto Light"/>
              </a:rPr>
              <a:t>Recomendação</a:t>
            </a:r>
            <a:r>
              <a:rPr sz="850" b="0" spc="60">
                <a:solidFill>
                  <a:srgbClr val="2A3B43"/>
                </a:solidFill>
                <a:latin typeface="Roboto Light"/>
                <a:ea typeface="Roboto Light"/>
                <a:cs typeface="Roboto Light"/>
              </a:rPr>
              <a:t>  —  Setembro/2026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8251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A3B43"/>
                </a:solidFill>
                <a:latin typeface="Roboto"/>
                <a:ea typeface="Roboto"/>
                <a:cs typeface="Roboto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4607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272">
                <a:solidFill>
                  <a:srgbClr val="7F7F7F"/>
                </a:solidFill>
                <a:latin typeface="Roboto Light"/>
                <a:ea typeface="Roboto Light"/>
                <a:cs typeface="Roboto Light"/>
              </a:rPr>
              <a:t>O QUE FOI CRIADO  ·  PORTAL DO ASSESSOR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86384"/>
            <a:ext cx="1046073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828D6F"/>
                </a:solidFill>
                <a:latin typeface="Hanken Grotesk Light"/>
                <a:ea typeface="Hanken Grotesk Light"/>
                <a:cs typeface="Hanken Grotesk Light"/>
              </a:rPr>
              <a:t>Portal do assessor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99616"/>
            <a:ext cx="649224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Trilho escuro à esquerda com o símbolo branco, páginas claras, títulos finos em oliva, filetes no lugar de molduras, tabelas com faixa carvão e o cobre como único acento.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1298448" cy="731520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PANORAMA DO 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1136" y="2318004"/>
            <a:ext cx="4992624" cy="6675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O resumo do dia escrito pelo agente de inferência; O que importa hoje em duas tabelas, Brasil e internacional; os indicadores com sparkline; os gatilhos em barras; os desvios por cliente e a matriz de correlações.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3017520"/>
            <a:ext cx="64922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31520" y="3054096"/>
            <a:ext cx="1298448" cy="731520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SINAIS DE MERCADO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31136" y="3086100"/>
            <a:ext cx="4992624" cy="6675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Leitura técnica e consenso de analistas por ativo, duas famílias independentes que podem discordar, e o risco-retorno dos doze meses fechados com a fronteira empírica por cima.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3785615"/>
            <a:ext cx="64922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31520" y="3822191"/>
            <a:ext cx="1298448" cy="731520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CLIENTES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31136" y="3854196"/>
            <a:ext cx="4992624" cy="6675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 tabela do book — patrimônio, mês, referência, última reunião, próxima revisão, estado da carta e alertas — e um cartão por cliente com os pontos que pedem atenção.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4553712"/>
            <a:ext cx="64922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31520" y="4590288"/>
            <a:ext cx="1298448" cy="731520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GATILHOS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31136" y="4622292"/>
            <a:ext cx="4992624" cy="6675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Cada limiar configurado e cada desvio de alocação com sua proximidade (1,0 = no limiar), desenhado como barra, dizendo quando uma ação é devida.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20" y="5321807"/>
            <a:ext cx="64922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31520" y="5358383"/>
            <a:ext cx="1298448" cy="731520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PÁGINA DO CLIENTE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5390388"/>
            <a:ext cx="4992624" cy="6675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Carteira, desempenho, recomendações com o guarda-corpo de suitability, preparação de reunião, editor de carteira, cartas e auditoria — e os dois botões que disparam agentes.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1520" y="6089903"/>
            <a:ext cx="64922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174736" y="1993392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90">
                <a:solidFill>
                  <a:srgbClr val="7F7F7F"/>
                </a:solidFill>
                <a:latin typeface="Roboto Light"/>
                <a:ea typeface="Roboto Light"/>
                <a:cs typeface="Roboto Light"/>
              </a:rPr>
              <a:t>PANORAMA DO DIA  ·  TOPO DA PÁGINA</a:t>
            </a:r>
          </a:p>
        </p:txBody>
      </p:sp>
      <p:pic>
        <p:nvPicPr>
          <p:cNvPr id="25" name="Picture 24" descr="shot-pano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4736" y="2231136"/>
            <a:ext cx="3014816" cy="4078224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521440" y="475488"/>
            <a:ext cx="0" cy="5907024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402567" y="1792224"/>
            <a:ext cx="237744" cy="22677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5400000">
            <a:off x="10405872" y="27889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60">
                <a:solidFill>
                  <a:srgbClr val="828D6F"/>
                </a:solidFill>
                <a:latin typeface="Roboto Light"/>
                <a:ea typeface="Roboto Light"/>
                <a:cs typeface="Roboto Light"/>
              </a:rPr>
              <a:t>Recomendação</a:t>
            </a:r>
            <a:r>
              <a:rPr sz="850" b="0" spc="60">
                <a:solidFill>
                  <a:srgbClr val="2A3B43"/>
                </a:solidFill>
                <a:latin typeface="Roboto Light"/>
                <a:ea typeface="Roboto Light"/>
                <a:cs typeface="Roboto Light"/>
              </a:rPr>
              <a:t>  —  Setembro/2026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8251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A3B43"/>
                </a:solidFill>
                <a:latin typeface="Roboto"/>
                <a:ea typeface="Roboto"/>
                <a:cs typeface="Roboto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4607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272">
                <a:solidFill>
                  <a:srgbClr val="7F7F7F"/>
                </a:solidFill>
                <a:latin typeface="Roboto Light"/>
                <a:ea typeface="Roboto Light"/>
                <a:cs typeface="Roboto Light"/>
              </a:rPr>
              <a:t>O QUE FOI CRIADO  ·  PORTAL DO CLIENTE E A CARTA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86384"/>
            <a:ext cx="1046073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828D6F"/>
                </a:solidFill>
                <a:latin typeface="Hanken Grotesk Light"/>
                <a:ea typeface="Hanken Grotesk Light"/>
                <a:cs typeface="Hanken Grotesk Light"/>
              </a:rPr>
              <a:t>Portal do cliente, e a carta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99616"/>
            <a:ext cx="649224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O mesmo sistema visual com menos superfície. O cliente vê a carteira, o mês e a carta que o assessor aprovou — nada em rascunho, nada gerado na hora em que a página abre.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1298448" cy="676656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MINHA CARTEIRA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1136" y="2318004"/>
            <a:ext cx="4992624" cy="61264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 composição por classe com a faixa permitida desenhada em vez de escrita, as posições e o patrimônio do dia, cada preço com o provedor que o forneceu.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2962656"/>
            <a:ext cx="64922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31520" y="2999232"/>
            <a:ext cx="1298448" cy="676656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ÚLTIMO MÊS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31136" y="3031236"/>
            <a:ext cx="4992624" cy="61264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Rentabilidade contra a referência da própria política, atribuição por posição e os fluxos do mês — os mesmos números da carta, porque saem do mesmo cálculo.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3675888"/>
            <a:ext cx="64922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31520" y="3712464"/>
            <a:ext cx="1298448" cy="676656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O QUE IMPORTA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31136" y="3744468"/>
            <a:ext cx="4992624" cy="61264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O recorte do panorama do dia que toca esta carteira, com a fonte de cada linha e o link para a matéria de onde a manchete veio.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4389120"/>
            <a:ext cx="64922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31520" y="4425696"/>
            <a:ext cx="1298448" cy="676656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CARTA DO ASSESSOR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31136" y="4457700"/>
            <a:ext cx="4992624" cy="61264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 carta publicada, exatamente como foi aprovada, com o gráfico de posicionamento, as fontes usadas ao pé e o disclaimer.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20" y="5102352"/>
            <a:ext cx="64922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31520" y="5138928"/>
            <a:ext cx="1298448" cy="676656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DOCUMENTOS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5170932"/>
            <a:ext cx="4992624" cy="61264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 política de investimento em vigor — o PDF em que ela foi acordada, quem subiu e quando — e as cartas anteriores.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1520" y="5815584"/>
            <a:ext cx="64922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1520" y="6016752"/>
            <a:ext cx="64922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Uma carga, três saídas. </a:t>
            </a:r>
            <a:r>
              <a:rPr sz="9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Portal, PDF de duas páginas e e-mail saem do mesmo modelo de carta e da mesma geometria de gráfico, de modo que não podem discordar entre si.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4736" y="1993392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90">
                <a:solidFill>
                  <a:srgbClr val="7F7F7F"/>
                </a:solidFill>
                <a:latin typeface="Roboto Light"/>
                <a:ea typeface="Roboto Light"/>
                <a:cs typeface="Roboto Light"/>
              </a:rPr>
              <a:t>CARTA DO ASSESSOR  ·  E O PDF</a:t>
            </a:r>
          </a:p>
        </p:txBody>
      </p:sp>
      <p:pic>
        <p:nvPicPr>
          <p:cNvPr id="26" name="Picture 25" descr="shot-le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4736" y="2231136"/>
            <a:ext cx="3014816" cy="4078224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27" name="Rectangle 26"/>
          <p:cNvSpPr/>
          <p:nvPr/>
        </p:nvSpPr>
        <p:spPr>
          <a:xfrm>
            <a:off x="9875520" y="4370832"/>
            <a:ext cx="1280160" cy="1764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pic>
        <p:nvPicPr>
          <p:cNvPr id="28" name="Picture 27" descr="pd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0384" y="4425696"/>
            <a:ext cx="1170432" cy="1653653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0256"/>
            <a:ext cx="12191969" cy="237744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62025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24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XP ADVISORY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0256" y="662025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24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CAPÍTULO 03</a:t>
            </a:r>
          </a:p>
        </p:txBody>
      </p:sp>
      <p:pic>
        <p:nvPicPr>
          <p:cNvPr id="6" name="Picture 5" descr="xp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3616" y="502920"/>
            <a:ext cx="548640" cy="4919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2103120"/>
            <a:ext cx="104607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288">
                <a:solidFill>
                  <a:srgbClr val="BB795E"/>
                </a:solidFill>
                <a:latin typeface="Roboto Light"/>
                <a:ea typeface="Roboto Light"/>
                <a:cs typeface="Roboto Light"/>
              </a:rPr>
              <a:t>CAPÍTULO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32304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FFFFFF"/>
                </a:solidFill>
                <a:latin typeface="Hanken Grotesk ExtraLight"/>
                <a:ea typeface="Hanken Grotesk ExtraLight"/>
                <a:cs typeface="Hanken Grotesk ExtraLight"/>
              </a:rPr>
              <a:t>How it works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3529584"/>
            <a:ext cx="1188720" cy="0"/>
          </a:xfrm>
          <a:prstGeom prst="line">
            <a:avLst/>
          </a:prstGeom>
          <a:ln w="19050">
            <a:solidFill>
              <a:srgbClr val="BB7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3785615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FBFBF"/>
                </a:solidFill>
                <a:latin typeface="Roboto Light"/>
                <a:ea typeface="Roboto Light"/>
                <a:cs typeface="Roboto Light"/>
              </a:rPr>
              <a:t>Quatro agentes: três montam o panorama do dia e rodam sozinhos na nuvem; o quarto consolida a carta mensal quando o assessor manda.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521440" y="475488"/>
            <a:ext cx="0" cy="5907024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402567" y="1792224"/>
            <a:ext cx="237744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5400000">
            <a:off x="10373868" y="2820924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60">
                <a:solidFill>
                  <a:srgbClr val="828D6F"/>
                </a:solidFill>
                <a:latin typeface="Roboto Light"/>
                <a:ea typeface="Roboto Light"/>
                <a:cs typeface="Roboto Light"/>
              </a:rPr>
              <a:t>Como funciona</a:t>
            </a:r>
            <a:r>
              <a:rPr sz="850" b="0" spc="60">
                <a:solidFill>
                  <a:srgbClr val="2A3B43"/>
                </a:solidFill>
                <a:latin typeface="Roboto Light"/>
                <a:ea typeface="Roboto Light"/>
                <a:cs typeface="Roboto Light"/>
              </a:rPr>
              <a:t>  —  Setembro/2026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8251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A3B43"/>
                </a:solidFill>
                <a:latin typeface="Roboto"/>
                <a:ea typeface="Roboto"/>
                <a:cs typeface="Roboto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4607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272">
                <a:solidFill>
                  <a:srgbClr val="7F7F7F"/>
                </a:solidFill>
                <a:latin typeface="Roboto Light"/>
                <a:ea typeface="Roboto Light"/>
                <a:cs typeface="Roboto Light"/>
              </a:rPr>
              <a:t>COMO FUNCIONA  ·  O ESQUEMA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86384"/>
            <a:ext cx="1046073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828D6F"/>
                </a:solidFill>
                <a:latin typeface="Hanken Grotesk Light"/>
                <a:ea typeface="Hanken Grotesk Light"/>
                <a:cs typeface="Hanken Grotesk Light"/>
              </a:rPr>
              <a:t>Quatro agentes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72768"/>
            <a:ext cx="10460736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224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TODO DIA ÀS 07:00 DE SÃO PAULO  ·  CRON DA CLOUDFLARE  ·  E DE NOVO SEMPRE QUE O ASSESSOR PEDIR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84831"/>
            <a:ext cx="3206495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084831"/>
            <a:ext cx="3206495" cy="45720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286000"/>
            <a:ext cx="2767583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AGENTE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523744"/>
            <a:ext cx="2767583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Dados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26080"/>
            <a:ext cx="2767583" cy="749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Busca cotações, séries diárias e sinais técnicos, mede 5 sessões e 30 dias, lê as manchetes das últimas 48 horas — e anota a fonte de cada número que traz.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92879" y="2935224"/>
            <a:ext cx="310897" cy="0"/>
          </a:xfrm>
          <a:prstGeom prst="line">
            <a:avLst/>
          </a:prstGeom>
          <a:ln w="15875">
            <a:solidFill>
              <a:srgbClr val="BB79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58640" y="2084831"/>
            <a:ext cx="3206495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58640" y="2084831"/>
            <a:ext cx="3206495" cy="45720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8096" y="2286000"/>
            <a:ext cx="2767583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AGENTE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8096" y="2523744"/>
            <a:ext cx="2767583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Inferência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8096" y="2926080"/>
            <a:ext cx="2767583" cy="749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Lê o que o primeiro reuniu junto da exposição de cada cliente e decide o que, de tudo aquilo, importa para estas carteiras hoje. É ele que escreve o resumo do dia.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20000" y="2935224"/>
            <a:ext cx="310896" cy="0"/>
          </a:xfrm>
          <a:prstGeom prst="line">
            <a:avLst/>
          </a:prstGeom>
          <a:ln w="15875">
            <a:solidFill>
              <a:srgbClr val="BB79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985759" y="2084831"/>
            <a:ext cx="3206495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85759" y="2084831"/>
            <a:ext cx="3206495" cy="45720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5215" y="2286000"/>
            <a:ext cx="2767583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AGENTE 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5215" y="2523744"/>
            <a:ext cx="2767583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Gatilhos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5215" y="2926080"/>
            <a:ext cx="2767583" cy="749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Compara cada indicador com os limiares configurados de cada carteira e cada desvio com a política que a governa, e diz quando uma ação é devida.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1520" y="3950208"/>
            <a:ext cx="10460736" cy="0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31520" y="4041648"/>
            <a:ext cx="10460736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70">
                <a:solidFill>
                  <a:srgbClr val="2A3B43"/>
                </a:solidFill>
                <a:latin typeface="Roboto"/>
                <a:ea typeface="Roboto"/>
                <a:cs typeface="Roboto"/>
              </a:rPr>
              <a:t>PANORAMA DO DIA</a:t>
            </a:r>
            <a:r>
              <a:rPr sz="850" b="0" spc="170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   ·   RODAM EM SEQUÊNCIA, SOZINHOS, SEM DEPENDER DA MÁQUINA DE NINGUÉM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572000"/>
            <a:ext cx="10460736" cy="140817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4572000"/>
            <a:ext cx="50292" cy="1408176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773168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AGENTE 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992624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Carta mensal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376672"/>
            <a:ext cx="411480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Comandado pelo assessor a partir da página do cliente. Abre uma aba própria e relata cada etapa enquanto roda.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77840" y="4974336"/>
            <a:ext cx="120700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Dados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821424" y="5138928"/>
            <a:ext cx="164592" cy="0"/>
          </a:xfrm>
          <a:prstGeom prst="line">
            <a:avLst/>
          </a:prstGeom>
          <a:ln w="12700">
            <a:solidFill>
              <a:srgbClr val="BB79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022592" y="4974336"/>
            <a:ext cx="120700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Análise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266175" y="5138928"/>
            <a:ext cx="164593" cy="0"/>
          </a:xfrm>
          <a:prstGeom prst="line">
            <a:avLst/>
          </a:prstGeom>
          <a:ln w="12700">
            <a:solidFill>
              <a:srgbClr val="BB79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467344" y="4974336"/>
            <a:ext cx="120700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Redação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710928" y="5138928"/>
            <a:ext cx="164592" cy="0"/>
          </a:xfrm>
          <a:prstGeom prst="line">
            <a:avLst/>
          </a:prstGeom>
          <a:ln w="12700">
            <a:solidFill>
              <a:srgbClr val="BB79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912096" y="4974336"/>
            <a:ext cx="120700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Diagramação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0" y="5413248"/>
            <a:ext cx="554126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Reúne os dados do mês, calcula rentabilidade, atribuição e propostas, escreve a carta, diagrama em PDF e e-mail e atualiza o portal. É esse mesmo agente que percorre o book inteiro quando o assessor pede todas as cartas de uma vez.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521440" y="475488"/>
            <a:ext cx="0" cy="5907024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402567" y="1792224"/>
            <a:ext cx="237744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5400000">
            <a:off x="10373868" y="2820924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60">
                <a:solidFill>
                  <a:srgbClr val="828D6F"/>
                </a:solidFill>
                <a:latin typeface="Roboto Light"/>
                <a:ea typeface="Roboto Light"/>
                <a:cs typeface="Roboto Light"/>
              </a:rPr>
              <a:t>Como funciona</a:t>
            </a:r>
            <a:r>
              <a:rPr sz="850" b="0" spc="60">
                <a:solidFill>
                  <a:srgbClr val="2A3B43"/>
                </a:solidFill>
                <a:latin typeface="Roboto Light"/>
                <a:ea typeface="Roboto Light"/>
                <a:cs typeface="Roboto Light"/>
              </a:rPr>
              <a:t>  —  Setembro/2026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8251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A3B43"/>
                </a:solidFill>
                <a:latin typeface="Roboto"/>
                <a:ea typeface="Roboto"/>
                <a:cs typeface="Roboto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4607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272">
                <a:solidFill>
                  <a:srgbClr val="7F7F7F"/>
                </a:solidFill>
                <a:latin typeface="Roboto Light"/>
                <a:ea typeface="Roboto Light"/>
                <a:cs typeface="Roboto Light"/>
              </a:rPr>
              <a:t>COMO FUNCIONA  ·  OS TRÊS AGENTES DO 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86384"/>
            <a:ext cx="1046073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828D6F"/>
                </a:solidFill>
                <a:latin typeface="Hanken Grotesk Light"/>
                <a:ea typeface="Hanken Grotesk Light"/>
                <a:cs typeface="Hanken Grotesk Light"/>
              </a:rPr>
              <a:t>O panorama, montado sozinho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99616"/>
            <a:ext cx="10460736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Rodam em sequência dentro do Worker, todo dia às sete da manhã e de novo sempre que o assessor aperta atualizar dados de mercado — o que abre um cartão de progresso dizendo o que cada agente está fazendo enquanto roda.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2157984"/>
            <a:ext cx="3169920" cy="0"/>
          </a:xfrm>
          <a:prstGeom prst="line">
            <a:avLst/>
          </a:prstGeom>
          <a:ln w="25400">
            <a:solidFill>
              <a:srgbClr val="BB7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2304288"/>
            <a:ext cx="316991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AGENTE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42032"/>
            <a:ext cx="316991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Dados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99232"/>
            <a:ext cx="3169919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7F7F7F"/>
                </a:solidFill>
                <a:latin typeface="Roboto"/>
                <a:ea typeface="Roboto"/>
                <a:cs typeface="Roboto"/>
              </a:rPr>
              <a:t>O QUE BUSCA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316991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Todo indicador monitorado com o movimento do dia, as séries diárias guardadas em R2, os sinais técnicos e o consenso de analistas, e as manchetes das últimas 48 horas.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3169919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7F7F7F"/>
                </a:solidFill>
                <a:latin typeface="Roboto"/>
                <a:ea typeface="Roboto"/>
                <a:cs typeface="Roboto"/>
              </a:rPr>
              <a:t>DE ONDE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24528"/>
            <a:ext cx="316991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Yahoo Finance e TradingView para preço e sinal, Banco Central para CDI, Selic, IPCA e PTAX, CoinGecko para ativos digitais, Valor Econômico e Google News para as manchetes.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47488"/>
            <a:ext cx="3169919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7F7F7F"/>
                </a:solidFill>
                <a:latin typeface="Roboto"/>
                <a:ea typeface="Roboto"/>
                <a:cs typeface="Roboto"/>
              </a:rPr>
              <a:t>O QUE GARANTE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48656"/>
            <a:ext cx="316991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Cada número traz o seu registro de origem: quem forneceu, quando foi buscado e se é definitivo ou de sessão em curso.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376928" y="2157984"/>
            <a:ext cx="3169919" cy="0"/>
          </a:xfrm>
          <a:prstGeom prst="line">
            <a:avLst/>
          </a:prstGeom>
          <a:ln w="25400">
            <a:solidFill>
              <a:srgbClr val="BB7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76928" y="2304288"/>
            <a:ext cx="316991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AGENTE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6928" y="2542032"/>
            <a:ext cx="316991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Inferência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6928" y="2999232"/>
            <a:ext cx="3169919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7F7F7F"/>
                </a:solidFill>
                <a:latin typeface="Roboto"/>
                <a:ea typeface="Roboto"/>
                <a:cs typeface="Roboto"/>
              </a:rPr>
              <a:t>O QUE LÊ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6928" y="3200400"/>
            <a:ext cx="316991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Tudo o que o primeiro reuniu, junto da exposição de cada cliente por classe de ativo.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6928" y="4023360"/>
            <a:ext cx="3169919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7F7F7F"/>
                </a:solidFill>
                <a:latin typeface="Roboto"/>
                <a:ea typeface="Roboto"/>
                <a:cs typeface="Roboto"/>
              </a:rPr>
              <a:t>O QUE 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6928" y="4224528"/>
            <a:ext cx="316991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O que, de tudo aquilo, importa para estas carteiras hoje — e em que ordem. É ele que escreve o resumo do dia e as linhas de O que importa hoje, em português.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6928" y="5047488"/>
            <a:ext cx="3169919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7F7F7F"/>
                </a:solidFill>
                <a:latin typeface="Roboto"/>
                <a:ea typeface="Roboto"/>
                <a:cs typeface="Roboto"/>
              </a:rPr>
              <a:t>O QUE GARANTE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6928" y="5248656"/>
            <a:ext cx="316991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 aritmética da exposição fica no código. O modelo nunca escreve um número que não esteja nos fatos que recebeu.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022336" y="2157984"/>
            <a:ext cx="3169920" cy="0"/>
          </a:xfrm>
          <a:prstGeom prst="line">
            <a:avLst/>
          </a:prstGeom>
          <a:ln w="25400">
            <a:solidFill>
              <a:srgbClr val="2A3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022336" y="2304288"/>
            <a:ext cx="316991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2A3B43"/>
                </a:solidFill>
                <a:latin typeface="Roboto Mono"/>
                <a:ea typeface="Roboto Mono"/>
                <a:cs typeface="Roboto Mono"/>
              </a:rPr>
              <a:t>AGENTE 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22336" y="2542032"/>
            <a:ext cx="316991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Gatilhos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22336" y="2999232"/>
            <a:ext cx="3169919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7F7F7F"/>
                </a:solidFill>
                <a:latin typeface="Roboto"/>
                <a:ea typeface="Roboto"/>
                <a:cs typeface="Roboto"/>
              </a:rPr>
              <a:t>O QUE COMPARA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2336" y="3200400"/>
            <a:ext cx="316991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Cada indicador contra os limiares configurados de cada carteira, e cada desvio de alocação contra a política que a governa.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22336" y="4023360"/>
            <a:ext cx="3169919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7F7F7F"/>
                </a:solidFill>
                <a:latin typeface="Roboto"/>
                <a:ea typeface="Roboto"/>
                <a:cs typeface="Roboto"/>
              </a:rPr>
              <a:t>COMO MOSTRA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22336" y="4224528"/>
            <a:ext cx="316991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Com uma proximidade — 1,0 é estar no limiar — que o portal desenha como barra, de modo que dá para ver o que está perto sem ter estourado.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22336" y="5047488"/>
            <a:ext cx="3169919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7F7F7F"/>
                </a:solidFill>
                <a:latin typeface="Roboto"/>
                <a:ea typeface="Roboto"/>
                <a:cs typeface="Roboto"/>
              </a:rPr>
              <a:t>O QUE GARANTE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22336" y="5248656"/>
            <a:ext cx="316991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Código puro, sem modelo. Diz quando uma ação é devida; não diz qual, e não executa nenhuma.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943600"/>
            <a:ext cx="10460736" cy="42062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224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SEM CHAVE DE API O PRODUTO NÃO PARA: AS MANCHETES CONTINUAM CHEGANDO E SÃO CLASSIFICADAS POR REGRA, E O RESUMO DO DIA SAI DE UM REDATOR DETERMINÍSTICO, EM PORTUGUÊS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521440" y="475488"/>
            <a:ext cx="0" cy="5907024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402567" y="1792224"/>
            <a:ext cx="237744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5400000">
            <a:off x="10373868" y="2820924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60">
                <a:solidFill>
                  <a:srgbClr val="828D6F"/>
                </a:solidFill>
                <a:latin typeface="Roboto Light"/>
                <a:ea typeface="Roboto Light"/>
                <a:cs typeface="Roboto Light"/>
              </a:rPr>
              <a:t>Como funciona</a:t>
            </a:r>
            <a:r>
              <a:rPr sz="850" b="0" spc="60">
                <a:solidFill>
                  <a:srgbClr val="2A3B43"/>
                </a:solidFill>
                <a:latin typeface="Roboto Light"/>
                <a:ea typeface="Roboto Light"/>
                <a:cs typeface="Roboto Light"/>
              </a:rPr>
              <a:t>  —  Setembro/2026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8251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A3B43"/>
                </a:solidFill>
                <a:latin typeface="Roboto"/>
                <a:ea typeface="Roboto"/>
                <a:cs typeface="Roboto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4607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272">
                <a:solidFill>
                  <a:srgbClr val="7F7F7F"/>
                </a:solidFill>
                <a:latin typeface="Roboto Light"/>
                <a:ea typeface="Roboto Light"/>
                <a:cs typeface="Roboto Light"/>
              </a:rPr>
              <a:t>COMO FUNCIONA  ·  O QUARTO AGENTE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86384"/>
            <a:ext cx="1046073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828D6F"/>
                </a:solidFill>
                <a:latin typeface="Hanken Grotesk Light"/>
                <a:ea typeface="Hanken Grotesk Light"/>
                <a:cs typeface="Hanken Grotesk Light"/>
              </a:rPr>
              <a:t>A carta mensal, em quatro etapas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99616"/>
            <a:ext cx="10460736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Comandado pelo assessor a partir da página do cliente. Escreve a mesma carta que o grafo do Rivet produz e a deposita na mesma linha, de modo que existe um único documento mensal por cliente e um único lugar onde ele é lido, aprovado e publicado.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08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71700"/>
            <a:ext cx="99120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Dados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487168"/>
            <a:ext cx="9912096" cy="5486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 carteira aprovada, a política, os fluxos do mês, os preços de abertura e fechamento de cada posição com o câmbio, e a próxima reunião já na agenda — cada um com o registro de quem forneceu.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3072384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316382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08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122676"/>
            <a:ext cx="99120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Análise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438144"/>
            <a:ext cx="9912096" cy="5486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Rentabilidade do mês por Dietz modificado contra a alocação-alvo da política precificada como referência; os indicadores e eventos mantidos só onde tocam esta carteira; leitura técnica e consenso por posição; e as propostas medidas contra a política.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4023360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411480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08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073652"/>
            <a:ext cx="99120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Redação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389120"/>
            <a:ext cx="9912096" cy="5486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O modelo escreve o título, a saudação e quatro a seis parágrafos a partir de um objeto de fatos em que toda cifra já é texto formatado. Nunca lhe pedem um número — e uma carta com cifra que os fatos não forneceram é recusada e pedida de novo.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20" y="4974336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20" y="5065776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08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024628"/>
            <a:ext cx="99120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Diagramação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340096"/>
            <a:ext cx="9912096" cy="5486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 carta na página um e o anexo na página dois, o e-mail e a página do portal, todos para o R2 com o relatório canônico por trás. Uma terceira página faz a etapa falhar.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1520" y="5925312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31520" y="5870448"/>
            <a:ext cx="10460736" cy="0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31520" y="6016752"/>
            <a:ext cx="10460736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A carta nasce pendente de aprovação. </a:t>
            </a:r>
            <a:r>
              <a:rPr sz="100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Só uma carta publicada chega ao cliente, um mês já publicado é recusado em vez de sobrescrito, e o mesmo agente percorre o book inteiro quando o assessor pede todas as cartas de uma vez.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521440" y="475488"/>
            <a:ext cx="0" cy="5907024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402567" y="1792224"/>
            <a:ext cx="237744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5400000">
            <a:off x="10373868" y="2820924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60">
                <a:solidFill>
                  <a:srgbClr val="828D6F"/>
                </a:solidFill>
                <a:latin typeface="Roboto Light"/>
                <a:ea typeface="Roboto Light"/>
                <a:cs typeface="Roboto Light"/>
              </a:rPr>
              <a:t>Como funciona</a:t>
            </a:r>
            <a:r>
              <a:rPr sz="850" b="0" spc="60">
                <a:solidFill>
                  <a:srgbClr val="2A3B43"/>
                </a:solidFill>
                <a:latin typeface="Roboto Light"/>
                <a:ea typeface="Roboto Light"/>
                <a:cs typeface="Roboto Light"/>
              </a:rPr>
              <a:t>  —  Setembro/2026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8251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A3B43"/>
                </a:solidFill>
                <a:latin typeface="Roboto"/>
                <a:ea typeface="Roboto"/>
                <a:cs typeface="Roboto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4607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272">
                <a:solidFill>
                  <a:srgbClr val="7F7F7F"/>
                </a:solidFill>
                <a:latin typeface="Roboto Light"/>
                <a:ea typeface="Roboto Light"/>
                <a:cs typeface="Roboto Light"/>
              </a:rPr>
              <a:t>COMO FUNCIONA  ·  A BASE DA CONSTRUÇÃO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86384"/>
            <a:ext cx="1046073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828D6F"/>
                </a:solidFill>
                <a:latin typeface="Hanken Grotesk Light"/>
                <a:ea typeface="Hanken Grotesk Light"/>
                <a:cs typeface="Hanken Grotesk Light"/>
              </a:rPr>
              <a:t>Claude Code, a API da Anthropic e um Worker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99616"/>
            <a:ext cx="1046073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 construção foi feita em Claude Code, sobre a API da Anthropic. O modelo tem um trabalho definido e estreito, e o resto é código.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57984"/>
            <a:ext cx="1572768" cy="694944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O QUE O MODELO FAZ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5456" y="2189988"/>
            <a:ext cx="4901184" cy="6309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Escreve e classifica: a carta, a leitura do dia e o assunto de cada manchete.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2852928"/>
            <a:ext cx="667512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31520" y="2889504"/>
            <a:ext cx="1572768" cy="694944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O QUE ELE RECEBE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5456" y="2921508"/>
            <a:ext cx="4901184" cy="6309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Os números já calculados, como texto formatado. Se devolver um que não estava nos fatos, a carta é recusada.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3584448"/>
            <a:ext cx="667512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31520" y="3621024"/>
            <a:ext cx="1572768" cy="694944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SEM CHAVE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5456" y="3653028"/>
            <a:ext cx="4901184" cy="6309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Um redator determinístico faz o mesmo em português, e as manchetes são classificadas por regra. O produto não depende de o modelo estar de pé.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4315968"/>
            <a:ext cx="667512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31520" y="4352544"/>
            <a:ext cx="1572768" cy="694944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O WORKER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05456" y="4384548"/>
            <a:ext cx="4901184" cy="6309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Cada etapa é um bloco que chama o Worker da Cloudflare, onde a conta é feita. Trocar o driver não muda o resultado.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20" y="5047488"/>
            <a:ext cx="667512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31520" y="5084064"/>
            <a:ext cx="1572768" cy="694944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O RIVET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05456" y="5116068"/>
            <a:ext cx="4901184" cy="6309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Existe para que a sequência e os prompts fiquem legíveis e editáveis: um orquestrador e nove estágios encadeados por um gate, gerados a partir do arquivo único de prompts.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1520" y="5779007"/>
            <a:ext cx="667512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772400" y="2157984"/>
            <a:ext cx="3419856" cy="270662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91856" y="2359152"/>
            <a:ext cx="29809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60">
                <a:solidFill>
                  <a:srgbClr val="595959"/>
                </a:solidFill>
                <a:latin typeface="Roboto"/>
                <a:ea typeface="Roboto"/>
                <a:cs typeface="Roboto"/>
              </a:rPr>
              <a:t>A CADEIA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2688336"/>
            <a:ext cx="2871216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2688336"/>
            <a:ext cx="45720" cy="512064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2770632"/>
            <a:ext cx="259689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Rivet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962656"/>
            <a:ext cx="259689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o grafo: sequência e prompts, legíveis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482328" y="3236976"/>
            <a:ext cx="0" cy="182880"/>
          </a:xfrm>
          <a:prstGeom prst="line">
            <a:avLst/>
          </a:prstGeom>
          <a:ln w="12700">
            <a:solidFill>
              <a:srgbClr val="BB79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046720" y="3438144"/>
            <a:ext cx="2871216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3438144"/>
            <a:ext cx="45720" cy="512064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3520439"/>
            <a:ext cx="259689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Worker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712463"/>
            <a:ext cx="259689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a conta, na Cloudflare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482328" y="3986783"/>
            <a:ext cx="0" cy="182880"/>
          </a:xfrm>
          <a:prstGeom prst="line">
            <a:avLst/>
          </a:prstGeom>
          <a:ln w="12700">
            <a:solidFill>
              <a:srgbClr val="BB79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046720" y="4187952"/>
            <a:ext cx="2871216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46720" y="4187952"/>
            <a:ext cx="45720" cy="512064"/>
          </a:xfrm>
          <a:prstGeom prst="rect">
            <a:avLst/>
          </a:prstGeom>
          <a:solidFill>
            <a:srgbClr val="454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4270248"/>
            <a:ext cx="259689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D1 · R2 · KV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4462272"/>
            <a:ext cx="259689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registro, PDFs e cache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4992624"/>
            <a:ext cx="2871216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O modelo entra em um estágio só, o da redação, e recebe fatos — nunca a planilha.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6345936"/>
            <a:ext cx="1046073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95959"/>
                </a:solidFill>
                <a:latin typeface="Roboto"/>
                <a:ea typeface="Roboto"/>
                <a:cs typeface="Roboto"/>
              </a:rPr>
              <a:t>Fonte: </a:t>
            </a:r>
            <a:r>
              <a:rPr sz="750" b="0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src/llm/prompts.js — todo prompt em um arquivo; rivet/build-graph.mjs gera o grafo a partir dele.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0256"/>
            <a:ext cx="12191969" cy="237744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62025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24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XP ADVISORY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0256" y="662025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24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CAPÍTULO 04</a:t>
            </a:r>
          </a:p>
        </p:txBody>
      </p:sp>
      <p:pic>
        <p:nvPicPr>
          <p:cNvPr id="6" name="Picture 5" descr="xp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3616" y="502920"/>
            <a:ext cx="548640" cy="4919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2103120"/>
            <a:ext cx="104607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288">
                <a:solidFill>
                  <a:srgbClr val="BB795E"/>
                </a:solidFill>
                <a:latin typeface="Roboto Light"/>
                <a:ea typeface="Roboto Light"/>
                <a:cs typeface="Roboto Light"/>
              </a:rPr>
              <a:t>CAPÍTULO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32304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FFFFFF"/>
                </a:solidFill>
                <a:latin typeface="Hanken Grotesk ExtraLight"/>
                <a:ea typeface="Hanken Grotesk ExtraLight"/>
                <a:cs typeface="Hanken Grotesk ExtraLight"/>
              </a:rPr>
              <a:t>Next steps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3529584"/>
            <a:ext cx="1188720" cy="0"/>
          </a:xfrm>
          <a:prstGeom prst="line">
            <a:avLst/>
          </a:prstGeom>
          <a:ln w="19050">
            <a:solidFill>
              <a:srgbClr val="BB7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3785615"/>
            <a:ext cx="84124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FBFBF"/>
                </a:solidFill>
                <a:latin typeface="Roboto Light"/>
                <a:ea typeface="Roboto Light"/>
                <a:cs typeface="Roboto Light"/>
              </a:rPr>
              <a:t>Tudo o que foi construído roda sobre dados reais de mercado e dados simulados de clientes. O caminho até dados reais passa por cinco frentes.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521440" y="475488"/>
            <a:ext cx="0" cy="5907024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402567" y="1792224"/>
            <a:ext cx="237744" cy="24597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5400000">
            <a:off x="10309860" y="2884932"/>
            <a:ext cx="23865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60">
                <a:solidFill>
                  <a:srgbClr val="828D6F"/>
                </a:solidFill>
                <a:latin typeface="Roboto Light"/>
                <a:ea typeface="Roboto Light"/>
                <a:cs typeface="Roboto Light"/>
              </a:rPr>
              <a:t>Próximos passos</a:t>
            </a:r>
            <a:r>
              <a:rPr sz="850" b="0" spc="60">
                <a:solidFill>
                  <a:srgbClr val="2A3B43"/>
                </a:solidFill>
                <a:latin typeface="Roboto Light"/>
                <a:ea typeface="Roboto Light"/>
                <a:cs typeface="Roboto Light"/>
              </a:rPr>
              <a:t>  —  Setembro/2026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8251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A3B43"/>
                </a:solidFill>
                <a:latin typeface="Roboto"/>
                <a:ea typeface="Roboto"/>
                <a:cs typeface="Roboto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4607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272">
                <a:solidFill>
                  <a:srgbClr val="7F7F7F"/>
                </a:solidFill>
                <a:latin typeface="Roboto Light"/>
                <a:ea typeface="Roboto Light"/>
                <a:cs typeface="Roboto Light"/>
              </a:rPr>
              <a:t>PRÓXIMOS PASSOS  ·  ONDE ESTAMOS HOJE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86384"/>
            <a:ext cx="1046073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828D6F"/>
                </a:solidFill>
                <a:latin typeface="Hanken Grotesk Light"/>
                <a:ea typeface="Hanken Grotesk Light"/>
                <a:cs typeface="Hanken Grotesk Light"/>
              </a:rPr>
              <a:t>Mercado real, clientes simulados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99616"/>
            <a:ext cx="10460736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 separação não é uma nota de rodapé: o dado simulado carrega </a:t>
            </a:r>
            <a:r>
              <a:rPr sz="1000" b="0">
                <a:solidFill>
                  <a:srgbClr val="2A3B43"/>
                </a:solidFill>
                <a:latin typeface="Roboto Mono"/>
                <a:ea typeface="Roboto Mono"/>
                <a:cs typeface="Roboto Mono"/>
              </a:rPr>
              <a:t>mocked: true</a:t>
            </a:r>
            <a:r>
              <a:rPr sz="115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 no seu registro de origem, mostra o selo SIMULADO na aba de auditoria do assessor e é nomeado na linha de fontes da própria carta.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2249424"/>
            <a:ext cx="4956048" cy="0"/>
          </a:xfrm>
          <a:prstGeom prst="line">
            <a:avLst/>
          </a:prstGeom>
          <a:ln w="25400">
            <a:solidFill>
              <a:srgbClr val="2A3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2395728"/>
            <a:ext cx="495604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Real, buscado ao vivo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2852166"/>
            <a:ext cx="68580" cy="68580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4736592" cy="2316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Todo preço listado — Yahoo Finance e TradingView.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3230118"/>
            <a:ext cx="68580" cy="68580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3176016"/>
            <a:ext cx="4736592" cy="2316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CDI, Selic, IPCA e PTAX — Banco Central.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3608070"/>
            <a:ext cx="68580" cy="68580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553968"/>
            <a:ext cx="4736592" cy="2316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Leitura técnica e consenso de analistas — TradingView.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3986022"/>
            <a:ext cx="68580" cy="68580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3931920"/>
            <a:ext cx="4736592" cy="4084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As manchetes do dia — Valor Econômico e Google News, cada uma ligada ao seu artigo.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4540758"/>
            <a:ext cx="68580" cy="68580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486656"/>
            <a:ext cx="4736592" cy="2316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 referência da política, composta a partir de tudo acima.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36207" y="2249424"/>
            <a:ext cx="4956048" cy="0"/>
          </a:xfrm>
          <a:prstGeom prst="line">
            <a:avLst/>
          </a:prstGeom>
          <a:ln w="25400">
            <a:solidFill>
              <a:srgbClr val="BB7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36207" y="2395728"/>
            <a:ext cx="495604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Simulado, e rotulado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54495" y="2852166"/>
            <a:ext cx="68580" cy="68580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5664" y="2798064"/>
            <a:ext cx="4736592" cy="4084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As cotas mensais dos fundos brasileiros — não há feed público; a resposta honesta é o extrato do custodiante.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54495" y="3406902"/>
            <a:ext cx="68580" cy="68580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5664" y="3352800"/>
            <a:ext cx="4736592" cy="2316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O histórico de retorno anterior à existência da plataforma.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54495" y="3784854"/>
            <a:ext cx="68580" cy="68580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55664" y="3730752"/>
            <a:ext cx="4736592" cy="2316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Os quatro clientes de demonstração além de Albert da Silva.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31520" y="4937760"/>
            <a:ext cx="10460736" cy="0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31520" y="5102352"/>
            <a:ext cx="1046073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70">
                <a:solidFill>
                  <a:srgbClr val="595959"/>
                </a:solidFill>
                <a:latin typeface="Roboto"/>
                <a:ea typeface="Roboto"/>
                <a:cs typeface="Roboto"/>
              </a:rPr>
              <a:t>TAMBÉM É REAL, E VEM DOS ARQUIVOS DO CASO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394960"/>
            <a:ext cx="1046073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 identidade de Albert, o assessor e o perfil de risco; o extrato de posição da XP de maio de 2025, reproduzido como snapshot v1; e as projeções macro da XP de fevereiro de 2025 — usadas como o que são, um documento datado, e não como se fossem a leitura de hoje.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521440" y="475488"/>
            <a:ext cx="0" cy="5907024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402567" y="1792224"/>
            <a:ext cx="237744" cy="24597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5400000">
            <a:off x="10309860" y="2884932"/>
            <a:ext cx="23865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60">
                <a:solidFill>
                  <a:srgbClr val="828D6F"/>
                </a:solidFill>
                <a:latin typeface="Roboto Light"/>
                <a:ea typeface="Roboto Light"/>
                <a:cs typeface="Roboto Light"/>
              </a:rPr>
              <a:t>Próximos passos</a:t>
            </a:r>
            <a:r>
              <a:rPr sz="850" b="0" spc="60">
                <a:solidFill>
                  <a:srgbClr val="2A3B43"/>
                </a:solidFill>
                <a:latin typeface="Roboto Light"/>
                <a:ea typeface="Roboto Light"/>
                <a:cs typeface="Roboto Light"/>
              </a:rPr>
              <a:t>  —  Setembro/2026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8251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A3B43"/>
                </a:solidFill>
                <a:latin typeface="Roboto"/>
                <a:ea typeface="Roboto"/>
                <a:cs typeface="Roboto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4607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272">
                <a:solidFill>
                  <a:srgbClr val="7F7F7F"/>
                </a:solidFill>
                <a:latin typeface="Roboto Light"/>
                <a:ea typeface="Roboto Light"/>
                <a:cs typeface="Roboto Light"/>
              </a:rPr>
              <a:t>PRÓXIMOS PASSOS  ·  FRENTES 1 A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86384"/>
            <a:ext cx="1046073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828D6F"/>
                </a:solidFill>
                <a:latin typeface="Hanken Grotesk Light"/>
                <a:ea typeface="Hanken Grotesk Light"/>
                <a:cs typeface="Hanken Grotesk Light"/>
              </a:rPr>
              <a:t>Acesso, nuvem e segurança do dado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99616"/>
            <a:ext cx="1046073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Cinco frentes separam o que está de pé do primeiro cliente real. As três primeiras são de acesso, de contrato e de infraestrutura.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30551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120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057400"/>
            <a:ext cx="98938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Acesso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35024" y="2579687"/>
            <a:ext cx="68580" cy="68580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36192" y="2523744"/>
            <a:ext cx="9656063" cy="2353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 senha compartilhada do portal sai e entra o SSO corporativo da XP com MFA pelo Cloudflare Access — que o código já prevê.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35024" y="2943034"/>
            <a:ext cx="68580" cy="68580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6192" y="2887090"/>
            <a:ext cx="9656063" cy="2353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 regra de que cada assessor enxerga apenas o próprio livro é verificada hoje num único ponto do sistema, e deve continuar assim.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3341878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3588765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120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3515613"/>
            <a:ext cx="98938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Compliance com a nuvem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35024" y="4037901"/>
            <a:ext cx="68580" cy="68580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36192" y="3981957"/>
            <a:ext cx="9656063" cy="415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 Cloudflare precisa ser contratada como a CMN 4.893 exige: comunicação ao Banco Central, os requisitos adicionais para processamento no exterior, localização dos dados, direito de auditoria e plano de saída em contrato.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35024" y="4581715"/>
            <a:ext cx="68580" cy="68580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36192" y="4525771"/>
            <a:ext cx="9656063" cy="2353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O mesmo vale para a Anthropic, com acordo de não-retenção dos prompts.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1520" y="4980558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1520" y="5227447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120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5154295"/>
            <a:ext cx="98938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Segurança do dado financeiro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5024" y="5676582"/>
            <a:ext cx="68580" cy="68580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36192" y="5620638"/>
            <a:ext cx="9656063" cy="2353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Criptografia com chaves geridas pela instituição, segregação por assessor e rotação de segredos.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35024" y="6039929"/>
            <a:ext cx="68580" cy="68580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36192" y="5983986"/>
            <a:ext cx="9656063" cy="2353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Trilha de auditoria exportável, e um teste de intrusão independente antes do primeiro cliente real.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345936"/>
            <a:ext cx="1046073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95959"/>
                </a:solidFill>
                <a:latin typeface="Roboto"/>
                <a:ea typeface="Roboto"/>
                <a:cs typeface="Roboto"/>
              </a:rPr>
              <a:t>Fonte: </a:t>
            </a:r>
            <a:r>
              <a:rPr sz="750" b="0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CMN 4.893/2021 — política de segurança cibernética e contratação de processamento e armazenamento de dados em nuvem.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521440" y="475488"/>
            <a:ext cx="0" cy="5907024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402567" y="1792224"/>
            <a:ext cx="237744" cy="24597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5400000">
            <a:off x="10309860" y="2884932"/>
            <a:ext cx="23865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60">
                <a:solidFill>
                  <a:srgbClr val="828D6F"/>
                </a:solidFill>
                <a:latin typeface="Roboto Light"/>
                <a:ea typeface="Roboto Light"/>
                <a:cs typeface="Roboto Light"/>
              </a:rPr>
              <a:t>Próximos passos</a:t>
            </a:r>
            <a:r>
              <a:rPr sz="850" b="0" spc="60">
                <a:solidFill>
                  <a:srgbClr val="2A3B43"/>
                </a:solidFill>
                <a:latin typeface="Roboto Light"/>
                <a:ea typeface="Roboto Light"/>
                <a:cs typeface="Roboto Light"/>
              </a:rPr>
              <a:t>  —  Setembro/2026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8251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A3B43"/>
                </a:solidFill>
                <a:latin typeface="Roboto"/>
                <a:ea typeface="Roboto"/>
                <a:cs typeface="Roboto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4607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272">
                <a:solidFill>
                  <a:srgbClr val="7F7F7F"/>
                </a:solidFill>
                <a:latin typeface="Roboto Light"/>
                <a:ea typeface="Roboto Light"/>
                <a:cs typeface="Roboto Light"/>
              </a:rPr>
              <a:t>PRÓXIMOS PASSOS  ·  FRENTES 4 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86384"/>
            <a:ext cx="1046073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828D6F"/>
                </a:solidFill>
                <a:latin typeface="Hanken Grotesk Light"/>
                <a:ea typeface="Hanken Grotesk Light"/>
                <a:cs typeface="Hanken Grotesk Light"/>
              </a:rPr>
              <a:t>Sigilo, e governança do que o modelo escreve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99616"/>
            <a:ext cx="1046073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As duas últimas são sobre dado pessoal e sobre o que uma pessoa precisa ter lido antes de a carta sair.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30551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120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057400"/>
            <a:ext cx="98938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Sigilo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35024" y="2579687"/>
            <a:ext cx="68580" cy="68580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36192" y="2523744"/>
            <a:ext cx="9656063" cy="2353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O sigilo bancário da LC 105 e a LGPD pedem minimização. O modelo já recebe só o objeto de fatos, e não a base.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35024" y="2943034"/>
            <a:ext cx="68580" cy="68580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6192" y="2887090"/>
            <a:ext cx="9656063" cy="2353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O próximo passo é pseudonimizar nome e documento no prompt, definir retenção para cartas e logs, e registrar quem viu o quê.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3341878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3588765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120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3515613"/>
            <a:ext cx="98938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Governança do que o modelo escreve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35024" y="4037901"/>
            <a:ext cx="68580" cy="68580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36192" y="3981957"/>
            <a:ext cx="9656063" cy="2353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Manter a aprovação do assessor como obrigatória: nenhuma carta chega ao cliente sem ter sido lida por uma pessoa.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35024" y="4401248"/>
            <a:ext cx="68580" cy="68580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36192" y="4345305"/>
            <a:ext cx="9656063" cy="2353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Versionar os prompts — já existe — e medir a qualidade das cartas contra um conjunto fixo de casos a cada mudança.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35024" y="4764595"/>
            <a:ext cx="68580" cy="68580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36192" y="4708652"/>
            <a:ext cx="9656063" cy="2353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Assim, uma troca de modelo nunca chega ao cliente sem ter sido avaliada antes.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1520" y="5724144"/>
            <a:ext cx="10460736" cy="0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1520" y="5888736"/>
            <a:ext cx="1046073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O princípio que atravessa as cinco frentes:  </a:t>
            </a:r>
            <a:r>
              <a:rPr sz="1300" b="0">
                <a:solidFill>
                  <a:srgbClr val="BB795E"/>
                </a:solidFill>
                <a:latin typeface="Hanken Grotesk"/>
                <a:ea typeface="Hanken Grotesk"/>
                <a:cs typeface="Hanken Grotesk"/>
              </a:rPr>
              <a:t>o que é verificável fica em código, e o que é escrito passa por uma pessoa.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345936"/>
            <a:ext cx="1046073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95959"/>
                </a:solidFill>
                <a:latin typeface="Roboto"/>
                <a:ea typeface="Roboto"/>
                <a:cs typeface="Roboto"/>
              </a:rPr>
              <a:t>Fonte: </a:t>
            </a:r>
            <a:r>
              <a:rPr sz="750" b="0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LC 105/2001 — sigilo das operações de instituições financeiras; Lei 13.709/2018 — LGPD.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0256"/>
            <a:ext cx="12191969" cy="237744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62025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24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XP ADVISORY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0256" y="662025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24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OBRIGADO</a:t>
            </a:r>
          </a:p>
        </p:txBody>
      </p:sp>
      <p:pic>
        <p:nvPicPr>
          <p:cNvPr id="6" name="Picture 5" descr="xp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3616" y="502920"/>
            <a:ext cx="548640" cy="4919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700784"/>
            <a:ext cx="104607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288">
                <a:solidFill>
                  <a:srgbClr val="BB795E"/>
                </a:solidFill>
                <a:latin typeface="Roboto Light"/>
                <a:ea typeface="Roboto Light"/>
                <a:cs typeface="Roboto Light"/>
              </a:rPr>
              <a:t>PARA VER AO VIVO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29968"/>
            <a:ext cx="969264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FFFFFF"/>
                </a:solidFill>
                <a:latin typeface="Hanken Grotesk ExtraLight"/>
                <a:ea typeface="Hanken Grotesk ExtraLight"/>
                <a:cs typeface="Hanken Grotesk ExtraLight"/>
              </a:rPr>
              <a:t>Uma carta por cliente, por mês —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FFFFFF"/>
                </a:solidFill>
                <a:latin typeface="Hanken Grotesk ExtraLight"/>
                <a:ea typeface="Hanken Grotesk ExtraLight"/>
                <a:cs typeface="Hanken Grotesk ExtraLight"/>
              </a:rPr>
              <a:t>lida por uma pessoa antes de sair.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3675887"/>
            <a:ext cx="1188720" cy="0"/>
          </a:xfrm>
          <a:prstGeom prst="line">
            <a:avLst/>
          </a:prstGeom>
          <a:ln w="19050">
            <a:solidFill>
              <a:srgbClr val="BB7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4041648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90">
                <a:solidFill>
                  <a:srgbClr val="A1A894"/>
                </a:solidFill>
                <a:latin typeface="Roboto Light"/>
                <a:ea typeface="Roboto Light"/>
                <a:cs typeface="Roboto Light"/>
              </a:rPr>
              <a:t>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6110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DDDDD"/>
                </a:solidFill>
                <a:latin typeface="Roboto Mono"/>
                <a:ea typeface="Roboto Mono"/>
                <a:cs typeface="Roboto Mono"/>
              </a:rPr>
              <a:t>enter-wealth-advisor.joaocreste-8da.workers.dev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041648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90">
                <a:solidFill>
                  <a:srgbClr val="A1A894"/>
                </a:solidFill>
                <a:latin typeface="Roboto Light"/>
                <a:ea typeface="Roboto Light"/>
                <a:cs typeface="Roboto Light"/>
              </a:rPr>
              <a:t>ASSESSOR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26110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DDDDD"/>
                </a:solidFill>
                <a:latin typeface="Roboto Mono"/>
                <a:ea typeface="Roboto Mono"/>
                <a:cs typeface="Roboto Mono"/>
              </a:rPr>
              <a:t>antonio.bicudo@xpi.com.br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041648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90">
                <a:solidFill>
                  <a:srgbClr val="A1A894"/>
                </a:solidFill>
                <a:latin typeface="Roboto Light"/>
                <a:ea typeface="Roboto Light"/>
                <a:cs typeface="Roboto Light"/>
              </a:rPr>
              <a:t>CLIENTE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26110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DDDDD"/>
                </a:solidFill>
                <a:latin typeface="Roboto Mono"/>
                <a:ea typeface="Roboto Mono"/>
                <a:cs typeface="Roboto Mono"/>
              </a:rPr>
              <a:t>albert.dasilva@exemplo.com.br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377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Roboto Light"/>
                <a:ea typeface="Roboto Light"/>
                <a:cs typeface="Roboto Light"/>
              </a:rPr>
              <a:t>O portal está atrás de uma senha de acesso; as credenciais de demonstração vão com o material.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