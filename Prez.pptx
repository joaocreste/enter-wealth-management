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4E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67"/>
    <p:restoredTop sz="94719"/>
  </p:normalViewPr>
  <p:slideViewPr>
    <p:cSldViewPr snapToGrid="0" snapToObjects="1">
      <p:cViewPr>
        <p:scale>
          <a:sx n="119" d="100"/>
          <a:sy n="119" d="100"/>
        </p:scale>
        <p:origin x="352" y="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26D41C-67A2-944E-98AB-73934D596873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CC5552-B27E-EC41-ADF4-4AEA152D2F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8650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C5552-B27E-EC41-ADF4-4AEA152D2FA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6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ela.jpg"/>
          <p:cNvPicPr>
            <a:picLocks noChangeAspect="1"/>
          </p:cNvPicPr>
          <p:nvPr/>
        </p:nvPicPr>
        <p:blipFill>
          <a:blip r:embed="rId2"/>
          <a:srcRect t="6250" b="93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D0E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751027" y="446227"/>
            <a:ext cx="53645" cy="53645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7068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902208" y="597408"/>
            <a:ext cx="53645" cy="53645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7068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819302" y="509626"/>
            <a:ext cx="87782" cy="53645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7068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819302" y="534010"/>
            <a:ext cx="29261" cy="58522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7068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6800" y="42672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50" b="1" i="0" spc="-80" dirty="0">
                <a:solidFill>
                  <a:srgbClr val="F1F4F5"/>
                </a:solidFill>
                <a:latin typeface="Archivo"/>
              </a:rPr>
              <a:t>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609600"/>
            <a:ext cx="152400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500" b="0" i="0" spc="150">
                <a:solidFill>
                  <a:srgbClr val="C7CDCF"/>
                </a:solidFill>
                <a:latin typeface="Archivo"/>
              </a:rPr>
              <a:t>Asset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14600"/>
            <a:ext cx="6858000" cy="1981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4000"/>
              </a:lnSpc>
            </a:pPr>
            <a:r>
              <a:rPr sz="7000" b="0" i="0">
                <a:solidFill>
                  <a:srgbClr val="F1F4F5"/>
                </a:solidFill>
                <a:latin typeface="Newsreader"/>
              </a:rPr>
              <a:t>Diário de</a:t>
            </a:r>
          </a:p>
          <a:p>
            <a:pPr algn="l">
              <a:lnSpc>
                <a:spcPct val="94000"/>
              </a:lnSpc>
            </a:pPr>
            <a:r>
              <a:rPr sz="7000" b="0" i="1">
                <a:solidFill>
                  <a:srgbClr val="F1F4F5"/>
                </a:solidFill>
                <a:latin typeface="Newsreader"/>
              </a:rPr>
              <a:t>bordo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5486400" cy="838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550" b="0" i="0">
                <a:solidFill>
                  <a:srgbClr val="E3E7E8"/>
                </a:solidFill>
                <a:latin typeface="Newsreader"/>
              </a:rPr>
              <a:t>De um grafo com quatro prompts a uma gestora com portal, carta e agentes diários. O que foi pedido, o que foi construído, o que sustenta cada número e o próximo bordo.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8556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20">
                <a:solidFill>
                  <a:srgbClr val="C7CDCF"/>
                </a:solidFill>
                <a:latin typeface="IBM Plex Mono"/>
              </a:rPr>
              <a:t>Sessão de trabalho Enter × XP · 7 a 12 de setembro de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6385560"/>
            <a:ext cx="460248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 cap="all" spc="120">
                <a:solidFill>
                  <a:srgbClr val="A9B0B4"/>
                </a:solidFill>
                <a:latin typeface="IBM Plex Mono"/>
              </a:rPr>
              <a:t>Baía de Guanabara, Rio de Janeiro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Roteiro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Roteiro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cinco capítulos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Enter Asset Management · setembro 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A travessia, em cinco capítulos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1713992"/>
            <a:ext cx="1676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0B0D0E"/>
                </a:solidFill>
                <a:latin typeface="IBM Plex Mono"/>
              </a:rPr>
              <a:t>I · Contexto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8000" y="1698752"/>
            <a:ext cx="8595360" cy="1955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E3439"/>
                </a:solidFill>
                <a:latin typeface="Archivo"/>
              </a:rPr>
              <a:t>O desafio da XP, o material recebido e o que estava errado na primeira versão do MVP.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19200" y="2001012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19200" y="2122932"/>
            <a:ext cx="1676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0B0D0E"/>
                </a:solidFill>
                <a:latin typeface="IBM Plex Mono"/>
              </a:rPr>
              <a:t>II · A criação da Enter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2107692"/>
            <a:ext cx="8595360" cy="1955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E3439"/>
                </a:solidFill>
                <a:latin typeface="Archivo"/>
              </a:rPr>
              <a:t>Por que a resposta foi fundar uma gestora com identidade própria, brand book e uma narrativa de navegação.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19200" y="2409952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19200" y="2531872"/>
            <a:ext cx="1676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0B0D0E"/>
                </a:solidFill>
                <a:latin typeface="IBM Plex Mono"/>
              </a:rPr>
              <a:t>III · O que fizemos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8000" y="2516632"/>
            <a:ext cx="8595360" cy="391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E3439"/>
                </a:solidFill>
                <a:latin typeface="Archivo"/>
              </a:rPr>
              <a:t>A inversão “código calcula, modelo escreve”, o grafo Rivet, os dois portais, a carta em três formatos, os agentes diários e a cronologia de seis dias.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19200" y="3014472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19200" y="3136392"/>
            <a:ext cx="1676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0B0D0E"/>
                </a:solidFill>
                <a:latin typeface="IBM Plex Mono"/>
              </a:rPr>
              <a:t>IV · O que está por trás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48000" y="3121152"/>
            <a:ext cx="8595360" cy="391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E3439"/>
                </a:solidFill>
                <a:latin typeface="Archivo"/>
              </a:rPr>
              <a:t>Proveniência como tipo, o guardrail de suitability, segurança da API, o que é real e o que é simulado, os números do projeto.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19200" y="3618992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219200" y="3740912"/>
            <a:ext cx="1676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0B0D0E"/>
                </a:solidFill>
                <a:latin typeface="IBM Plex Mono"/>
              </a:rPr>
              <a:t>V · Próximos passos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8000" y="3725672"/>
            <a:ext cx="8595360" cy="1955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E3439"/>
                </a:solidFill>
                <a:latin typeface="Archivo"/>
              </a:rPr>
              <a:t>Um mês a mais, semana a semana, e o que deliberadamente não faríamos.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Cada capítulo abre com uma página de tinta.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github.com/joaocreste/enter-wealth-management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267200"/>
            <a:ext cx="5334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 cap="all" spc="200" dirty="0" err="1">
                <a:solidFill>
                  <a:srgbClr val="8A9196"/>
                </a:solidFill>
                <a:latin typeface="IBM Plex Mono"/>
              </a:rPr>
              <a:t>Capítulo</a:t>
            </a:r>
            <a:r>
              <a:rPr sz="1050" b="0" i="0" cap="all" spc="200" dirty="0">
                <a:solidFill>
                  <a:srgbClr val="8A9196"/>
                </a:solidFill>
                <a:latin typeface="IBM Plex Mono"/>
              </a:rPr>
              <a:t>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95800"/>
            <a:ext cx="5791200" cy="1828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8000"/>
              </a:lnSpc>
            </a:pPr>
            <a:r>
              <a:rPr sz="5800" b="0" i="0">
                <a:solidFill>
                  <a:srgbClr val="F1F4F5"/>
                </a:solidFill>
                <a:latin typeface="Newsreader"/>
              </a:rPr>
              <a:t>O vento que </a:t>
            </a:r>
            <a:r>
              <a:rPr sz="5800" b="0" i="1">
                <a:solidFill>
                  <a:srgbClr val="F1F4F5"/>
                </a:solidFill>
                <a:latin typeface="Newsreader"/>
              </a:rPr>
              <a:t>encontramos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4876800"/>
            <a:ext cx="4572000" cy="144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 dirty="0">
                <a:solidFill>
                  <a:srgbClr val="C7CDCF"/>
                </a:solidFill>
                <a:latin typeface="Newsreader"/>
              </a:rPr>
              <a:t>O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que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a XP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pediu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, o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que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a Enter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entregou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como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ponto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de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partida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, e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por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que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a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primeira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carta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não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podia ser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enviada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a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nenhum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 </a:t>
            </a:r>
            <a:r>
              <a:rPr sz="2000" b="0" i="0" dirty="0" err="1">
                <a:solidFill>
                  <a:srgbClr val="C7CDCF"/>
                </a:solidFill>
                <a:latin typeface="Newsreader"/>
              </a:rPr>
              <a:t>cliente</a:t>
            </a:r>
            <a:r>
              <a:rPr sz="2000" b="0" i="0" dirty="0">
                <a:solidFill>
                  <a:srgbClr val="C7CDCF"/>
                </a:solidFill>
                <a:latin typeface="Newsreader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 · 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O desafio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brief da sessão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AI financial advisor for XP customers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199" y="685800"/>
            <a:ext cx="10294513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 dirty="0" err="1">
                <a:solidFill>
                  <a:srgbClr val="0B0D0E"/>
                </a:solidFill>
                <a:latin typeface="Newsreader"/>
              </a:rPr>
              <a:t>Três</a:t>
            </a:r>
            <a:r>
              <a:rPr sz="280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2800" b="0" i="0" dirty="0" err="1">
                <a:solidFill>
                  <a:srgbClr val="0B0D0E"/>
                </a:solidFill>
                <a:latin typeface="Newsreader"/>
              </a:rPr>
              <a:t>vezes</a:t>
            </a:r>
            <a:r>
              <a:rPr sz="280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2800" b="0" i="0" dirty="0" err="1">
                <a:solidFill>
                  <a:srgbClr val="0B0D0E"/>
                </a:solidFill>
                <a:latin typeface="Newsreader"/>
              </a:rPr>
              <a:t>mais</a:t>
            </a:r>
            <a:r>
              <a:rPr sz="280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2800" b="0" i="0" dirty="0" err="1">
                <a:solidFill>
                  <a:srgbClr val="0B0D0E"/>
                </a:solidFill>
                <a:latin typeface="Newsreader"/>
              </a:rPr>
              <a:t>clientes</a:t>
            </a:r>
            <a:r>
              <a:rPr sz="280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2800" b="0" i="0" dirty="0" err="1">
                <a:solidFill>
                  <a:srgbClr val="0B0D0E"/>
                </a:solidFill>
                <a:latin typeface="Newsreader"/>
              </a:rPr>
              <a:t>por</a:t>
            </a:r>
            <a:r>
              <a:rPr sz="2800" b="0" i="0" dirty="0">
                <a:solidFill>
                  <a:srgbClr val="0B0D0E"/>
                </a:solidFill>
                <a:latin typeface="Newsreader"/>
              </a:rPr>
              <a:t> assessor, </a:t>
            </a:r>
            <a:r>
              <a:rPr sz="2800" b="0" i="1" dirty="0" err="1">
                <a:solidFill>
                  <a:srgbClr val="0B0D0E"/>
                </a:solidFill>
                <a:latin typeface="Newsreader"/>
              </a:rPr>
              <a:t>sem</a:t>
            </a:r>
            <a:r>
              <a:rPr sz="2800" b="0" i="1" dirty="0">
                <a:solidFill>
                  <a:srgbClr val="0B0D0E"/>
                </a:solidFill>
                <a:latin typeface="Newsreader"/>
              </a:rPr>
              <a:t> </a:t>
            </a:r>
            <a:r>
              <a:rPr sz="2800" b="0" i="1" dirty="0" err="1">
                <a:solidFill>
                  <a:srgbClr val="0B0D0E"/>
                </a:solidFill>
                <a:latin typeface="Newsreader"/>
              </a:rPr>
              <a:t>perder</a:t>
            </a:r>
            <a:r>
              <a:rPr sz="2800" b="0" i="1" dirty="0">
                <a:solidFill>
                  <a:srgbClr val="0B0D0E"/>
                </a:solidFill>
                <a:latin typeface="Newsreader"/>
              </a:rPr>
              <a:t> o toque </a:t>
            </a:r>
            <a:r>
              <a:rPr sz="2800" b="0" i="1" dirty="0" err="1">
                <a:solidFill>
                  <a:srgbClr val="0B0D0E"/>
                </a:solidFill>
                <a:latin typeface="Newsreader"/>
              </a:rPr>
              <a:t>pessoal</a:t>
            </a:r>
            <a:endParaRPr sz="2800" b="0" i="1" dirty="0">
              <a:solidFill>
                <a:srgbClr val="0B0D0E"/>
              </a:solidFill>
              <a:latin typeface="Newsreader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1219200" y="1687404"/>
            <a:ext cx="5791200" cy="0"/>
          </a:xfrm>
          <a:prstGeom prst="line">
            <a:avLst/>
          </a:prstGeom>
          <a:ln w="34925">
            <a:solidFill>
              <a:srgbClr val="D7DD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19200" y="1809324"/>
            <a:ext cx="17780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 cap="all" spc="120">
                <a:solidFill>
                  <a:srgbClr val="5C6469"/>
                </a:solidFill>
                <a:latin typeface="IBM Plex Mono"/>
              </a:rPr>
              <a:t>Rede XP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1976964"/>
            <a:ext cx="17780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200" b="0" i="0">
                <a:solidFill>
                  <a:srgbClr val="0B0D0E"/>
                </a:solidFill>
                <a:latin typeface="Archivo"/>
              </a:rPr>
              <a:t>20.000+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2527785"/>
            <a:ext cx="16560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5C6469"/>
                </a:solidFill>
                <a:latin typeface="Archivo"/>
              </a:rPr>
              <a:t>assessores</a:t>
            </a:r>
            <a:r>
              <a:rPr sz="1000" b="0" i="0" dirty="0">
                <a:solidFill>
                  <a:srgbClr val="5C6469"/>
                </a:solidFill>
                <a:latin typeface="Archivo"/>
              </a:rPr>
              <a:t> </a:t>
            </a:r>
            <a:r>
              <a:rPr sz="1000" b="0" i="0" dirty="0" err="1">
                <a:solidFill>
                  <a:srgbClr val="5C6469"/>
                </a:solidFill>
                <a:latin typeface="Archivo"/>
              </a:rPr>
              <a:t>financeiros</a:t>
            </a:r>
            <a:r>
              <a:rPr sz="1000" b="0" i="0" dirty="0">
                <a:solidFill>
                  <a:srgbClr val="5C6469"/>
                </a:solidFill>
                <a:latin typeface="Archivo"/>
              </a:rPr>
              <a:t>, </a:t>
            </a:r>
            <a:r>
              <a:rPr sz="1000" b="0" i="0" dirty="0" err="1">
                <a:solidFill>
                  <a:srgbClr val="5C6469"/>
                </a:solidFill>
                <a:latin typeface="Archivo"/>
              </a:rPr>
              <a:t>cada</a:t>
            </a:r>
            <a:r>
              <a:rPr sz="1000" b="0" i="0" dirty="0">
                <a:solidFill>
                  <a:srgbClr val="5C6469"/>
                </a:solidFill>
                <a:latin typeface="Archivo"/>
              </a:rPr>
              <a:t> um com 50 a 300 </a:t>
            </a:r>
            <a:r>
              <a:rPr sz="1000" b="0" i="0" dirty="0" err="1">
                <a:solidFill>
                  <a:srgbClr val="5C6469"/>
                </a:solidFill>
                <a:latin typeface="Archivo"/>
              </a:rPr>
              <a:t>clientes</a:t>
            </a:r>
            <a:endParaRPr sz="1000" b="0" i="0" dirty="0">
              <a:solidFill>
                <a:srgbClr val="5C6469"/>
              </a:solidFill>
              <a:latin typeface="Archivo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149600" y="1809324"/>
            <a:ext cx="17780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 cap="all" spc="120">
                <a:solidFill>
                  <a:srgbClr val="5C6469"/>
                </a:solidFill>
                <a:latin typeface="IBM Plex Mono"/>
              </a:rPr>
              <a:t>Segmento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9600" y="1976964"/>
            <a:ext cx="17780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200" b="0" i="0">
                <a:solidFill>
                  <a:srgbClr val="0B0D0E"/>
                </a:solidFill>
                <a:latin typeface="Archivo"/>
              </a:rPr>
              <a:t>&lt; R$ 1 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9600" y="2527785"/>
            <a:ext cx="16560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C6469"/>
                </a:solidFill>
                <a:latin typeface="Archivo"/>
              </a:rPr>
              <a:t>o middle market, onde a XP não consegue dar conselho sob medida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73400" y="1763604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80000" y="1809324"/>
            <a:ext cx="17780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 cap="all" spc="120">
                <a:solidFill>
                  <a:srgbClr val="5C6469"/>
                </a:solidFill>
                <a:latin typeface="IBM Plex Mono"/>
              </a:rPr>
              <a:t>Meta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0" y="1976964"/>
            <a:ext cx="17780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200" b="0" i="0">
                <a:solidFill>
                  <a:srgbClr val="0B0D0E"/>
                </a:solidFill>
                <a:latin typeface="Archivo"/>
              </a:rPr>
              <a:t>3×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0" y="2527785"/>
            <a:ext cx="16560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C6469"/>
                </a:solidFill>
                <a:latin typeface="Archivo"/>
              </a:rPr>
              <a:t>clientes por assessor, com NPS e share of wallet maiores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03800" y="1763604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19200" y="3113438"/>
            <a:ext cx="5791200" cy="0"/>
          </a:xfrm>
          <a:prstGeom prst="line">
            <a:avLst/>
          </a:prstGeom>
          <a:ln w="34925">
            <a:solidFill>
              <a:srgbClr val="D7DD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219200" y="3707918"/>
            <a:ext cx="5638800" cy="711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2E3439"/>
                </a:solidFill>
                <a:latin typeface="Archivo"/>
              </a:rPr>
              <a:t>A missão.</a:t>
            </a:r>
            <a:r>
              <a:rPr sz="1200" b="0" i="0">
                <a:solidFill>
                  <a:srgbClr val="2E3439"/>
                </a:solidFill>
                <a:latin typeface="Archivo"/>
              </a:rPr>
              <a:t> Um workflow de modelo de linguagem que envie uma carta mensal a cada cliente explicando como a carteira rendeu, como os eventos de mercado podem afetá-la e que ajustes considerar, compatíveis com o perfil de risco e com o research da casa.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9200" y="4985176"/>
            <a:ext cx="56388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1" i="0" dirty="0">
                <a:solidFill>
                  <a:srgbClr val="2E3439"/>
                </a:solidFill>
                <a:latin typeface="Archivo"/>
              </a:rPr>
              <a:t>O </a:t>
            </a:r>
            <a:r>
              <a:rPr sz="1200" b="1" i="0" dirty="0" err="1">
                <a:solidFill>
                  <a:srgbClr val="2E3439"/>
                </a:solidFill>
                <a:latin typeface="Archivo"/>
              </a:rPr>
              <a:t>ponto</a:t>
            </a:r>
            <a:r>
              <a:rPr sz="1200" b="1" i="0" dirty="0">
                <a:solidFill>
                  <a:srgbClr val="2E3439"/>
                </a:solidFill>
                <a:latin typeface="Archivo"/>
              </a:rPr>
              <a:t> de </a:t>
            </a:r>
            <a:r>
              <a:rPr sz="1200" b="1" i="0" dirty="0" err="1">
                <a:solidFill>
                  <a:srgbClr val="2E3439"/>
                </a:solidFill>
                <a:latin typeface="Archivo"/>
              </a:rPr>
              <a:t>partida</a:t>
            </a:r>
            <a:r>
              <a:rPr sz="1200" b="1" i="0" dirty="0">
                <a:solidFill>
                  <a:srgbClr val="2E3439"/>
                </a:solidFill>
                <a:latin typeface="Archivo"/>
              </a:rPr>
              <a:t>.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Uma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primeira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versão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do MVP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já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existia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e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não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tinha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a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qualidade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para ser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apresentada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à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liderança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da XP no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dia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seguinte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. A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tarefa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era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revisar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,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escolher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ao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menos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uma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frente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de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melhoria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e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documentar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o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raciocínio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120" y="1478522"/>
            <a:ext cx="42062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 cap="all" spc="120" dirty="0" err="1">
                <a:solidFill>
                  <a:srgbClr val="5C6469"/>
                </a:solidFill>
                <a:latin typeface="IBM Plex Mono"/>
              </a:rPr>
              <a:t>Frentes</a:t>
            </a:r>
            <a:r>
              <a:rPr sz="1050" b="1" i="0" cap="all" spc="120" dirty="0">
                <a:solidFill>
                  <a:srgbClr val="5C6469"/>
                </a:solidFill>
                <a:latin typeface="IBM Plex Mono"/>
              </a:rPr>
              <a:t> </a:t>
            </a:r>
            <a:r>
              <a:rPr sz="1050" b="1" i="0" cap="all" spc="120" dirty="0" err="1">
                <a:solidFill>
                  <a:srgbClr val="5C6469"/>
                </a:solidFill>
                <a:latin typeface="IBM Plex Mono"/>
              </a:rPr>
              <a:t>sugeridas</a:t>
            </a:r>
            <a:endParaRPr sz="1050" b="1" i="0" cap="all" spc="120" dirty="0">
              <a:solidFill>
                <a:srgbClr val="5C6469"/>
              </a:solidFill>
              <a:latin typeface="IBM Plex Mono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437120" y="1676642"/>
            <a:ext cx="4572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 cap="all" spc="100">
                <a:solidFill>
                  <a:srgbClr val="5C6469"/>
                </a:solidFill>
                <a:latin typeface="IBM Plex Mono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1661402"/>
            <a:ext cx="3596640" cy="4800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2E3439"/>
                </a:solidFill>
                <a:latin typeface="Archivo"/>
              </a:rPr>
              <a:t>Rentabilidade da carteira.</a:t>
            </a:r>
            <a:r>
              <a:rPr sz="1200" b="0" i="0">
                <a:solidFill>
                  <a:srgbClr val="2E3439"/>
                </a:solidFill>
                <a:latin typeface="Archivo"/>
              </a:rPr>
              <a:t> Calcular o retorno do último mês e ir além do básico: fontes externas, contexto, elementos visuais.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437120" y="2557773"/>
            <a:ext cx="420624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37120" y="2641593"/>
            <a:ext cx="4572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 cap="all" spc="100">
                <a:solidFill>
                  <a:srgbClr val="5C6469"/>
                </a:solidFill>
                <a:latin typeface="IBM Plex Mono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2626353"/>
            <a:ext cx="35966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2E3439"/>
                </a:solidFill>
                <a:latin typeface="Archivo"/>
              </a:rPr>
              <a:t>Lógica de compra e venda.</a:t>
            </a:r>
            <a:r>
              <a:rPr sz="1200" b="0" i="0">
                <a:solidFill>
                  <a:srgbClr val="2E3439"/>
                </a:solidFill>
                <a:latin typeface="Archivo"/>
              </a:rPr>
              <a:t> Um módulo que recomende o que comprar ou vender.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437120" y="3324069"/>
            <a:ext cx="420624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437120" y="3407889"/>
            <a:ext cx="4572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 cap="all" spc="100">
                <a:solidFill>
                  <a:srgbClr val="5C6469"/>
                </a:solidFill>
                <a:latin typeface="IBM Plex Mono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392649"/>
            <a:ext cx="35966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2E3439"/>
                </a:solidFill>
                <a:latin typeface="Archivo"/>
              </a:rPr>
              <a:t>Formatação automática.</a:t>
            </a:r>
            <a:r>
              <a:rPr sz="1200" b="0" i="0">
                <a:solidFill>
                  <a:srgbClr val="2E3439"/>
                </a:solidFill>
                <a:latin typeface="Archivo"/>
              </a:rPr>
              <a:t> Uma carta com cara de profissional, gerada por código, nunca à mão.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37120" y="4094013"/>
            <a:ext cx="42062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 cap="all" spc="120" dirty="0" err="1">
                <a:solidFill>
                  <a:srgbClr val="5C6469"/>
                </a:solidFill>
                <a:latin typeface="IBM Plex Mono"/>
              </a:rPr>
              <a:t>Restrições</a:t>
            </a:r>
            <a:r>
              <a:rPr sz="1050" b="1" i="0" cap="all" spc="120" dirty="0">
                <a:solidFill>
                  <a:srgbClr val="5C6469"/>
                </a:solidFill>
                <a:latin typeface="IBM Plex Mono"/>
              </a:rPr>
              <a:t> e </a:t>
            </a:r>
            <a:r>
              <a:rPr sz="1050" b="1" i="0" cap="all" spc="120" dirty="0" err="1">
                <a:solidFill>
                  <a:srgbClr val="5C6469"/>
                </a:solidFill>
                <a:latin typeface="IBM Plex Mono"/>
              </a:rPr>
              <a:t>entregáveis</a:t>
            </a:r>
            <a:endParaRPr sz="1050" b="1" i="0" cap="all" spc="120" dirty="0">
              <a:solidFill>
                <a:srgbClr val="5C6469"/>
              </a:solidFill>
              <a:latin typeface="IBM Plex Mono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437120" y="4292133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Carta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4276893"/>
            <a:ext cx="3444240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E3439"/>
                </a:solidFill>
                <a:latin typeface="Archivo"/>
              </a:rPr>
              <a:t>Até duas páginas, em formato de carta, em português.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437120" y="4711557"/>
            <a:ext cx="420624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437120" y="4795377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 dirty="0">
                <a:solidFill>
                  <a:srgbClr val="5C6469"/>
                </a:solidFill>
                <a:latin typeface="IBM Plex Mono"/>
              </a:rPr>
              <a:t>Código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9120" y="4780137"/>
            <a:ext cx="3444240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E3439"/>
                </a:solidFill>
                <a:latin typeface="Archivo"/>
              </a:rPr>
              <a:t>Prompts, código e grafo Rivet em inglês.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37120" y="5137527"/>
            <a:ext cx="420624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437120" y="5221347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 dirty="0" err="1">
                <a:solidFill>
                  <a:srgbClr val="5C6469"/>
                </a:solidFill>
                <a:latin typeface="IBM Plex Mono"/>
              </a:rPr>
              <a:t>Relatório</a:t>
            </a:r>
            <a:endParaRPr sz="1000" b="0" i="0" cap="all" spc="100" dirty="0">
              <a:solidFill>
                <a:srgbClr val="5C6469"/>
              </a:solidFill>
              <a:latin typeface="IBM Plex Mon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199120" y="5206107"/>
            <a:ext cx="34442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E3439"/>
                </a:solidFill>
                <a:latin typeface="Archivo"/>
              </a:rPr>
              <a:t>Uma ou duas páginas: os problemas da v0, o raciocínio, o que faríamos com um mês.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As três frentes foram combinadas; a tarefa dizia “pick at least one”.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README.md.docx · brief original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 · 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O material recebido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pasta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Albert da Silva · assessor Antonio Bicudo · A7699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Um cliente, um extrato, um perfil e um relatório macro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de sete meses antes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1622552"/>
            <a:ext cx="990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Extrato XP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2200" y="1607312"/>
            <a:ext cx="3855720" cy="844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2E3439"/>
                </a:solidFill>
                <a:latin typeface="Archivo"/>
              </a:rPr>
              <a:t>07/05/2025, 19:24.</a:t>
            </a:r>
            <a:r>
              <a:rPr sz="1100" b="0" i="0">
                <a:solidFill>
                  <a:srgbClr val="2E3439"/>
                </a:solidFill>
                <a:latin typeface="Archivo"/>
              </a:rPr>
              <a:t> Patrimônio de R$ 386.858,82: R$ 312.186,20 investidos e R$ 74.672,62 em saldo disponível. Quatro ações (LREN3, MRFG3, ARZZ3, HAPV3), sete fundos FIC e um CDB C6 IPCA+5,45% com vencimento em setembro de 2024, oito meses antes do extrato.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19200" y="2934517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19200" y="3033577"/>
            <a:ext cx="990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Perfil de risco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2200" y="3018337"/>
            <a:ext cx="3855720" cy="675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2E3439"/>
                </a:solidFill>
                <a:latin typeface="Archivo"/>
              </a:rPr>
              <a:t>Moderado.</a:t>
            </a:r>
            <a:r>
              <a:rPr sz="1100" b="0" i="0">
                <a:solidFill>
                  <a:srgbClr val="2E3439"/>
                </a:solidFill>
                <a:latin typeface="Archivo"/>
              </a:rPr>
              <a:t> Preservar poder de compra e incrementá-lo marginalmente. Ações de empresas consolidadas pagadoras de dividendos e renda fixa BB+ ou superior. Horizonte de médio a longo prazo.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19200" y="4127994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19200" y="4227054"/>
            <a:ext cx="990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Macro XP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2200" y="4211814"/>
            <a:ext cx="3855720" cy="50673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2E3439"/>
                </a:solidFill>
                <a:latin typeface="Archivo"/>
              </a:rPr>
              <a:t>6 de fevereiro de 2025</a:t>
            </a:r>
            <a:r>
              <a:rPr sz="1100" b="0" i="0">
                <a:solidFill>
                  <a:srgbClr val="2E3439"/>
                </a:solidFill>
                <a:latin typeface="Archivo"/>
              </a:rPr>
              <a:t>, Caio Megale. Sem cortes do Fed em 2025, PIB de 2,0%, câmbio a R$ 6,20 no fim do ano. Uma visão datada, não uma observação.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19200" y="5152561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19200" y="5251621"/>
            <a:ext cx="990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CSV inacabado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62200" y="5236381"/>
            <a:ext cx="3855720" cy="50673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E3439"/>
                </a:solidFill>
                <a:latin typeface="Archivo"/>
              </a:rPr>
              <a:t>Doze ações com preço atual e do mês anterior, sem datas. Só quatro estão na carteira. Nunca foi lido pelo grafo original.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4640" y="1607311"/>
            <a:ext cx="4998720" cy="2412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 cap="all" spc="120">
                <a:solidFill>
                  <a:srgbClr val="5C6469"/>
                </a:solidFill>
                <a:latin typeface="IBM Plex Mono"/>
              </a:rPr>
              <a:t>O grafo original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4640" y="1805431"/>
            <a:ext cx="3048000" cy="2110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 dirty="0">
                <a:solidFill>
                  <a:srgbClr val="5C6469"/>
                </a:solidFill>
                <a:latin typeface="IBM Plex Mono"/>
              </a:rPr>
              <a:t>READ FILE (</a:t>
            </a: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caminhos</a:t>
            </a:r>
            <a:r>
              <a:rPr sz="900" b="0" i="0" dirty="0">
                <a:solidFill>
                  <a:srgbClr val="5C6469"/>
                </a:solidFill>
                <a:latin typeface="IBM Plex Mono"/>
              </a:rPr>
              <a:t> </a:t>
            </a:r>
            <a:r>
              <a:rPr sz="900" b="1" i="0" dirty="0" err="1">
                <a:solidFill>
                  <a:srgbClr val="5C6469"/>
                </a:solidFill>
                <a:latin typeface="IBM Plex Mono"/>
              </a:rPr>
              <a:t>absolutos</a:t>
            </a:r>
            <a:r>
              <a:rPr sz="900" b="0" i="0" dirty="0">
                <a:solidFill>
                  <a:srgbClr val="5C6469"/>
                </a:solidFill>
                <a:latin typeface="IBM Plex Mono"/>
              </a:rPr>
              <a:t> do Windows)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44640" y="2003551"/>
            <a:ext cx="1295400" cy="603087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8" name="TextBox 27"/>
          <p:cNvSpPr txBox="1"/>
          <p:nvPr/>
        </p:nvSpPr>
        <p:spPr>
          <a:xfrm>
            <a:off x="6644640" y="2003551"/>
            <a:ext cx="1295400" cy="60308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0" i="0" dirty="0" err="1">
                <a:solidFill>
                  <a:srgbClr val="0B0D0E"/>
                </a:solidFill>
                <a:latin typeface="Archivo"/>
              </a:rPr>
              <a:t>Resumir</a:t>
            </a:r>
            <a:r>
              <a:rPr sz="1000" b="0" i="0" dirty="0">
                <a:solidFill>
                  <a:srgbClr val="0B0D0E"/>
                </a:solidFill>
                <a:latin typeface="Archivo"/>
              </a:rPr>
              <a:t> </a:t>
            </a:r>
            <a:r>
              <a:rPr sz="1000" b="0" i="0" dirty="0" err="1">
                <a:solidFill>
                  <a:srgbClr val="0B0D0E"/>
                </a:solidFill>
                <a:latin typeface="Archivo"/>
              </a:rPr>
              <a:t>perfil</a:t>
            </a:r>
            <a:r>
              <a:rPr sz="1000" b="0" i="0" dirty="0">
                <a:solidFill>
                  <a:srgbClr val="0B0D0E"/>
                </a:solidFill>
                <a:latin typeface="Archivo"/>
              </a:rPr>
              <a:t> de </a:t>
            </a:r>
            <a:r>
              <a:rPr sz="1000" b="0" i="0" dirty="0" err="1">
                <a:solidFill>
                  <a:srgbClr val="0B0D0E"/>
                </a:solidFill>
                <a:latin typeface="Archivo"/>
              </a:rPr>
              <a:t>risco</a:t>
            </a:r>
            <a:endParaRPr sz="1000" b="0" i="0" dirty="0">
              <a:solidFill>
                <a:srgbClr val="0B0D0E"/>
              </a:solidFill>
              <a:latin typeface="Archiv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644640" y="2506471"/>
            <a:ext cx="1295400" cy="603087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6644640" y="2506471"/>
            <a:ext cx="1295400" cy="60308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0B0D0E"/>
                </a:solidFill>
                <a:latin typeface="Archivo"/>
              </a:rPr>
              <a:t>Resumir macro (fev/2025)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4640" y="3009391"/>
            <a:ext cx="1295400" cy="603087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2" name="TextBox 31"/>
          <p:cNvSpPr txBox="1"/>
          <p:nvPr/>
        </p:nvSpPr>
        <p:spPr>
          <a:xfrm>
            <a:off x="6644640" y="3009391"/>
            <a:ext cx="1295400" cy="60308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0B0D0E"/>
                </a:solidFill>
                <a:latin typeface="Archivo"/>
              </a:rPr>
              <a:t>Resumir extrato</a:t>
            </a:r>
          </a:p>
        </p:txBody>
      </p:sp>
      <p:cxnSp>
        <p:nvCxnSpPr>
          <p:cNvPr id="33" name="Connector 32"/>
          <p:cNvCxnSpPr>
            <a:cxnSpLocks/>
          </p:cNvCxnSpPr>
          <p:nvPr/>
        </p:nvCxnSpPr>
        <p:spPr>
          <a:xfrm>
            <a:off x="7940040" y="2155952"/>
            <a:ext cx="457200" cy="0"/>
          </a:xfrm>
          <a:prstGeom prst="line">
            <a:avLst/>
          </a:prstGeom>
          <a:ln w="1270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cxnSpLocks/>
          </p:cNvCxnSpPr>
          <p:nvPr/>
        </p:nvCxnSpPr>
        <p:spPr>
          <a:xfrm>
            <a:off x="8397240" y="2155952"/>
            <a:ext cx="0" cy="995094"/>
          </a:xfrm>
          <a:prstGeom prst="line">
            <a:avLst/>
          </a:prstGeom>
          <a:ln w="1270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cxnSpLocks/>
          </p:cNvCxnSpPr>
          <p:nvPr/>
        </p:nvCxnSpPr>
        <p:spPr>
          <a:xfrm>
            <a:off x="8397240" y="2658872"/>
            <a:ext cx="5334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cxnSpLocks/>
          </p:cNvCxnSpPr>
          <p:nvPr/>
        </p:nvCxnSpPr>
        <p:spPr>
          <a:xfrm>
            <a:off x="7940040" y="2658872"/>
            <a:ext cx="9906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cxnSpLocks/>
          </p:cNvCxnSpPr>
          <p:nvPr/>
        </p:nvCxnSpPr>
        <p:spPr>
          <a:xfrm>
            <a:off x="7940040" y="3161792"/>
            <a:ext cx="457200" cy="0"/>
          </a:xfrm>
          <a:prstGeom prst="line">
            <a:avLst/>
          </a:prstGeom>
          <a:ln w="1270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cxnSpLocks/>
          </p:cNvCxnSpPr>
          <p:nvPr/>
        </p:nvCxnSpPr>
        <p:spPr>
          <a:xfrm>
            <a:off x="8397240" y="2658872"/>
            <a:ext cx="5334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8930640" y="2468371"/>
            <a:ext cx="1371600" cy="753859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1" name="TextBox 40"/>
          <p:cNvSpPr txBox="1"/>
          <p:nvPr/>
        </p:nvSpPr>
        <p:spPr>
          <a:xfrm>
            <a:off x="8930640" y="2468371"/>
            <a:ext cx="1371600" cy="7538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F1F4F5"/>
                </a:solidFill>
                <a:latin typeface="Archivo"/>
              </a:rPr>
              <a:t>Escrever a carta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A9B0B4"/>
                </a:solidFill>
                <a:latin typeface="IBM Plex Mono"/>
              </a:rPr>
              <a:t>prompt 4 · pt-BR</a:t>
            </a:r>
          </a:p>
        </p:txBody>
      </p:sp>
      <p:cxnSp>
        <p:nvCxnSpPr>
          <p:cNvPr id="42" name="Connector 41"/>
          <p:cNvCxnSpPr>
            <a:cxnSpLocks/>
          </p:cNvCxnSpPr>
          <p:nvPr/>
        </p:nvCxnSpPr>
        <p:spPr>
          <a:xfrm>
            <a:off x="10302240" y="2658872"/>
            <a:ext cx="4572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881360" y="2416992"/>
            <a:ext cx="762000" cy="4523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B0D0E"/>
                </a:solidFill>
                <a:latin typeface="Archivo"/>
              </a:rPr>
              <a:t>texto de chat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0640" y="3308037"/>
            <a:ext cx="1371600" cy="512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sem</a:t>
            </a:r>
            <a:r>
              <a:rPr sz="900" b="0" i="0" dirty="0">
                <a:solidFill>
                  <a:srgbClr val="5C6469"/>
                </a:solidFill>
                <a:latin typeface="IBM Plex Mono"/>
              </a:rPr>
              <a:t> </a:t>
            </a: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aritmética</a:t>
            </a:r>
            <a:r>
              <a:rPr sz="900" b="0" i="0" dirty="0">
                <a:solidFill>
                  <a:srgbClr val="5C6469"/>
                </a:solidFill>
                <a:latin typeface="IBM Plex Mono"/>
              </a:rPr>
              <a:t> · </a:t>
            </a: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sem</a:t>
            </a:r>
            <a:r>
              <a:rPr sz="900" b="0" i="0" dirty="0">
                <a:solidFill>
                  <a:srgbClr val="5C6469"/>
                </a:solidFill>
                <a:latin typeface="IBM Plex Mono"/>
              </a:rPr>
              <a:t> </a:t>
            </a: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fontes</a:t>
            </a:r>
            <a:r>
              <a:rPr sz="900" b="0" i="0" dirty="0">
                <a:solidFill>
                  <a:srgbClr val="5C6469"/>
                </a:solidFill>
                <a:latin typeface="IBM Plex Mono"/>
              </a:rPr>
              <a:t> · </a:t>
            </a: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sem</a:t>
            </a:r>
            <a:r>
              <a:rPr sz="900" b="0" i="0" dirty="0">
                <a:solidFill>
                  <a:srgbClr val="5C6469"/>
                </a:solidFill>
                <a:latin typeface="IBM Plex Mono"/>
              </a:rPr>
              <a:t> </a:t>
            </a: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estado</a:t>
            </a:r>
            <a:endParaRPr sz="900" b="0" i="0" dirty="0">
              <a:solidFill>
                <a:srgbClr val="5C6469"/>
              </a:solidFill>
              <a:latin typeface="IBM Plex Mono"/>
            </a:endParaRPr>
          </a:p>
          <a:p>
            <a:pPr algn="ctr">
              <a:lnSpc>
                <a:spcPct val="130000"/>
              </a:lnSpc>
            </a:pP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sem</a:t>
            </a:r>
            <a:r>
              <a:rPr sz="900" b="0" i="0" dirty="0">
                <a:solidFill>
                  <a:srgbClr val="5C6469"/>
                </a:solidFill>
                <a:latin typeface="IBM Plex Mono"/>
              </a:rPr>
              <a:t> </a:t>
            </a: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recomendação</a:t>
            </a:r>
            <a:r>
              <a:rPr sz="900" b="0" i="0" dirty="0">
                <a:solidFill>
                  <a:srgbClr val="5C6469"/>
                </a:solidFill>
                <a:latin typeface="IBM Plex Mono"/>
              </a:rPr>
              <a:t> · </a:t>
            </a: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sem</a:t>
            </a:r>
            <a:r>
              <a:rPr sz="900" b="0" i="0" dirty="0">
                <a:solidFill>
                  <a:srgbClr val="5C6469"/>
                </a:solidFill>
                <a:latin typeface="IBM Plex Mono"/>
              </a:rPr>
              <a:t> </a:t>
            </a:r>
            <a:r>
              <a:rPr sz="900" b="0" i="0" dirty="0" err="1">
                <a:solidFill>
                  <a:srgbClr val="5C6469"/>
                </a:solidFill>
                <a:latin typeface="IBM Plex Mono"/>
              </a:rPr>
              <a:t>formatação</a:t>
            </a:r>
            <a:endParaRPr sz="900" b="0" i="0" dirty="0">
              <a:solidFill>
                <a:srgbClr val="5C6469"/>
              </a:solidFill>
              <a:latin typeface="IBM Plex Mono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44640" y="4140071"/>
            <a:ext cx="4998720" cy="60308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50" b="0" i="0" dirty="0">
                <a:solidFill>
                  <a:srgbClr val="5C6469"/>
                </a:solidFill>
                <a:latin typeface="Archivo"/>
              </a:rPr>
              <a:t>Quatro prompts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em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cadeia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. O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modelo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 era o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sistema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: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retorno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,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exposição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 e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adequação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delegados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ao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componente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menos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 </a:t>
            </a:r>
            <a:r>
              <a:rPr sz="750" b="0" i="0" dirty="0" err="1">
                <a:solidFill>
                  <a:srgbClr val="5C6469"/>
                </a:solidFill>
                <a:latin typeface="Archivo"/>
              </a:rPr>
              <a:t>confiável</a:t>
            </a:r>
            <a:r>
              <a:rPr sz="750" b="0" i="0" dirty="0">
                <a:solidFill>
                  <a:srgbClr val="5C6469"/>
                </a:solidFill>
                <a:latin typeface="Archivo"/>
              </a:rPr>
              <a:t>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4640" y="4842084"/>
            <a:ext cx="4998720" cy="2412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 dirty="0" err="1">
                <a:solidFill>
                  <a:srgbClr val="5C6469"/>
                </a:solidFill>
                <a:latin typeface="IBM Plex Mono"/>
              </a:rPr>
              <a:t>Também</a:t>
            </a:r>
            <a:r>
              <a:rPr sz="750" b="0" i="0" cap="all" spc="120" dirty="0">
                <a:solidFill>
                  <a:srgbClr val="5C6469"/>
                </a:solidFill>
                <a:latin typeface="IBM Plex Mono"/>
              </a:rPr>
              <a:t> </a:t>
            </a:r>
            <a:r>
              <a:rPr sz="750" b="0" i="0" cap="all" spc="120" dirty="0" err="1">
                <a:solidFill>
                  <a:srgbClr val="5C6469"/>
                </a:solidFill>
                <a:latin typeface="IBM Plex Mono"/>
              </a:rPr>
              <a:t>na</a:t>
            </a:r>
            <a:r>
              <a:rPr sz="750" b="0" i="0" cap="all" spc="120" dirty="0">
                <a:solidFill>
                  <a:srgbClr val="5C6469"/>
                </a:solidFill>
                <a:latin typeface="IBM Plex Mono"/>
              </a:rPr>
              <a:t> pasta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44640" y="5009724"/>
            <a:ext cx="4998720" cy="7538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A carta v0 (</a:t>
            </a:r>
            <a:r>
              <a:rPr sz="828" b="0" i="0">
                <a:solidFill>
                  <a:srgbClr val="2E3439"/>
                </a:solidFill>
                <a:latin typeface="IBM Plex Mono"/>
              </a:rPr>
              <a:t>output_letter.docx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outubro de 2025) e o brand book da Enter, com 17 seções, de arquitetura de marca a governança.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Nada em Input é lido em tempo de execução: o caso do Albert é reproduzido em seed/ como snapshot v1, linha por linha.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Input/ · enter_challenge.rivet-project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 · 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A primeira versão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revisão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docs/implementation-report.md §1 · mvp</a:t>
            </a:r>
            <a:r>
              <a:rPr sz="750" b="0" i="1" cap="all" spc="120">
                <a:solidFill>
                  <a:srgbClr val="5C6469"/>
                </a:solidFill>
                <a:latin typeface="IBM Plex Mono"/>
              </a:rPr>
              <a:t>review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report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 dirty="0">
                <a:solidFill>
                  <a:srgbClr val="0B0D0E"/>
                </a:solidFill>
                <a:latin typeface="Newsreader"/>
              </a:rPr>
              <a:t>A carta v0 </a:t>
            </a:r>
            <a:r>
              <a:rPr sz="2800" b="0" i="0" dirty="0" err="1">
                <a:solidFill>
                  <a:srgbClr val="0B0D0E"/>
                </a:solidFill>
                <a:latin typeface="Newsreader"/>
              </a:rPr>
              <a:t>rodava</a:t>
            </a:r>
            <a:r>
              <a:rPr sz="2800" b="0" i="0" dirty="0">
                <a:solidFill>
                  <a:srgbClr val="0B0D0E"/>
                </a:solidFill>
                <a:latin typeface="Newsreader"/>
              </a:rPr>
              <a:t>, </a:t>
            </a:r>
            <a:r>
              <a:rPr sz="2800" b="0" i="0" dirty="0" err="1">
                <a:solidFill>
                  <a:srgbClr val="0B0D0E"/>
                </a:solidFill>
                <a:latin typeface="Newsreader"/>
              </a:rPr>
              <a:t>produzia</a:t>
            </a:r>
            <a:r>
              <a:rPr sz="280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2800" b="0" i="0" dirty="0" err="1">
                <a:solidFill>
                  <a:srgbClr val="0B0D0E"/>
                </a:solidFill>
                <a:latin typeface="Newsreader"/>
              </a:rPr>
              <a:t>prosa</a:t>
            </a:r>
            <a:r>
              <a:rPr sz="280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2800" b="0" i="0" dirty="0" err="1">
                <a:solidFill>
                  <a:srgbClr val="0B0D0E"/>
                </a:solidFill>
                <a:latin typeface="Newsreader"/>
              </a:rPr>
              <a:t>em</a:t>
            </a:r>
            <a:r>
              <a:rPr sz="280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2800" b="0" i="0" dirty="0" err="1">
                <a:solidFill>
                  <a:srgbClr val="0B0D0E"/>
                </a:solidFill>
                <a:latin typeface="Newsreader"/>
              </a:rPr>
              <a:t>português</a:t>
            </a:r>
            <a:r>
              <a:rPr sz="280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2800" b="0" i="1" dirty="0">
                <a:solidFill>
                  <a:srgbClr val="0B0D0E"/>
                </a:solidFill>
                <a:latin typeface="Newsreader"/>
              </a:rPr>
              <a:t>e </a:t>
            </a:r>
            <a:r>
              <a:rPr sz="2800" b="0" i="1" dirty="0" err="1">
                <a:solidFill>
                  <a:srgbClr val="0B0D0E"/>
                </a:solidFill>
                <a:latin typeface="Newsreader"/>
              </a:rPr>
              <a:t>não</a:t>
            </a:r>
            <a:r>
              <a:rPr sz="2800" b="0" i="1" dirty="0">
                <a:solidFill>
                  <a:srgbClr val="0B0D0E"/>
                </a:solidFill>
                <a:latin typeface="Newsreader"/>
              </a:rPr>
              <a:t> podia ser </a:t>
            </a:r>
            <a:r>
              <a:rPr sz="2800" b="0" i="1" dirty="0" err="1">
                <a:solidFill>
                  <a:srgbClr val="0B0D0E"/>
                </a:solidFill>
                <a:latin typeface="Newsreader"/>
              </a:rPr>
              <a:t>mostrada</a:t>
            </a:r>
            <a:r>
              <a:rPr sz="2800" b="0" i="1" dirty="0">
                <a:solidFill>
                  <a:srgbClr val="0B0D0E"/>
                </a:solidFill>
                <a:latin typeface="Newsreader"/>
              </a:rPr>
              <a:t> a um </a:t>
            </a:r>
            <a:r>
              <a:rPr sz="2800" b="0" i="1" dirty="0" err="1">
                <a:solidFill>
                  <a:srgbClr val="0B0D0E"/>
                </a:solidFill>
                <a:latin typeface="Newsreader"/>
              </a:rPr>
              <a:t>cliente</a:t>
            </a:r>
            <a:endParaRPr sz="2800" b="0" i="1" dirty="0">
              <a:solidFill>
                <a:srgbClr val="0B0D0E"/>
              </a:solidFill>
              <a:latin typeface="Newsreader"/>
            </a:endParaRPr>
          </a:p>
        </p:txBody>
      </p:sp>
      <p:sp>
        <p:nvSpPr>
          <p:cNvPr id="14" name="Rectangle 13"/>
          <p:cNvSpPr>
            <a:spLocks noChangeAspect="1"/>
          </p:cNvSpPr>
          <p:nvPr/>
        </p:nvSpPr>
        <p:spPr>
          <a:xfrm>
            <a:off x="1024645" y="1773984"/>
            <a:ext cx="137160" cy="137160"/>
          </a:xfrm>
          <a:prstGeom prst="rect">
            <a:avLst/>
          </a:prstGeom>
          <a:solidFill>
            <a:srgbClr val="AE4F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1341120" y="1741394"/>
            <a:ext cx="762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Crítico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5520" y="1733774"/>
            <a:ext cx="4754880" cy="3271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2E3439"/>
                </a:solidFill>
                <a:latin typeface="Archivo"/>
              </a:rPr>
              <a:t>Cliente errado.</a:t>
            </a:r>
            <a:r>
              <a:rPr sz="1100" b="0" i="0">
                <a:solidFill>
                  <a:srgbClr val="2E3439"/>
                </a:solidFill>
                <a:latin typeface="Archivo"/>
              </a:rPr>
              <a:t> A carta cumprimentava “João”. O cliente do caso é Albert.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19200" y="2292771"/>
            <a:ext cx="57912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>
            <a:spLocks noChangeAspect="1"/>
          </p:cNvSpPr>
          <p:nvPr/>
        </p:nvSpPr>
        <p:spPr>
          <a:xfrm>
            <a:off x="1024645" y="2409181"/>
            <a:ext cx="137160" cy="137160"/>
          </a:xfrm>
          <a:prstGeom prst="rect">
            <a:avLst/>
          </a:prstGeom>
          <a:solidFill>
            <a:srgbClr val="AE4F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1341120" y="2376591"/>
            <a:ext cx="762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Crítico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5520" y="2368971"/>
            <a:ext cx="4754880" cy="654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2E3439"/>
                </a:solidFill>
                <a:latin typeface="Archivo"/>
              </a:rPr>
              <a:t>Rentabilidade sem base.</a:t>
            </a:r>
            <a:r>
              <a:rPr sz="1100" b="0" i="0">
                <a:solidFill>
                  <a:srgbClr val="2E3439"/>
                </a:solidFill>
                <a:latin typeface="Archivo"/>
              </a:rPr>
              <a:t> Um retorno total de 3,5% e uma comparação com benchmark sem fonte alguma. A coluna “Rentabilidade” do extrato é desde o início (LREN3 −41,7%, HAPV3 −74,58%) e nada impedia o modelo de apresentá-la como o mês.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19200" y="3225935"/>
            <a:ext cx="57912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>
            <a:spLocks noChangeAspect="1"/>
          </p:cNvSpPr>
          <p:nvPr/>
        </p:nvSpPr>
        <p:spPr>
          <a:xfrm>
            <a:off x="1024645" y="3342345"/>
            <a:ext cx="137160" cy="137160"/>
          </a:xfrm>
          <a:prstGeom prst="rect">
            <a:avLst/>
          </a:prstGeom>
          <a:solidFill>
            <a:srgbClr val="AE4F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1341120" y="3309755"/>
            <a:ext cx="762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Crítico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5520" y="3302135"/>
            <a:ext cx="4754880" cy="490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2E3439"/>
                </a:solidFill>
                <a:latin typeface="Archivo"/>
              </a:rPr>
              <a:t>Macro invertida.</a:t>
            </a:r>
            <a:r>
              <a:rPr sz="1100" b="0" i="0">
                <a:solidFill>
                  <a:srgbClr val="2E3439"/>
                </a:solidFill>
                <a:latin typeface="Archivo"/>
              </a:rPr>
              <a:t> A carta dizia Fed cortando, IPCA 4,0%, Selic 9,0% e R$ 4,70. O relatório XP fornecido dizia sem cortes, 6,1%, 15,50% e R$ 6,20.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19200" y="4024706"/>
            <a:ext cx="57912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>
            <a:spLocks noChangeAspect="1"/>
          </p:cNvSpPr>
          <p:nvPr/>
        </p:nvSpPr>
        <p:spPr>
          <a:xfrm>
            <a:off x="1024645" y="4141116"/>
            <a:ext cx="137160" cy="137160"/>
          </a:xfrm>
          <a:prstGeom prst="rect">
            <a:avLst/>
          </a:prstGeom>
          <a:solidFill>
            <a:srgbClr val="8F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1341120" y="4108526"/>
            <a:ext cx="762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Alto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5520" y="4100906"/>
            <a:ext cx="4754880" cy="490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2E3439"/>
                </a:solidFill>
                <a:latin typeface="Archivo"/>
              </a:rPr>
              <a:t>Dado velho tratado como vivo.</a:t>
            </a:r>
            <a:r>
              <a:rPr sz="1100" b="0" i="0">
                <a:solidFill>
                  <a:srgbClr val="2E3439"/>
                </a:solidFill>
                <a:latin typeface="Archivo"/>
              </a:rPr>
              <a:t> MRFG3 virou MBRF3 e ARZZ3 virou AZZA3 em combinações societárias; nenhum provedor cota os tickers antigos. O CDB venceu antes do extrato. O grafo levaria tudo adiante em silêncio.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219200" y="4852660"/>
            <a:ext cx="57912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>
            <a:spLocks noChangeAspect="1"/>
          </p:cNvSpPr>
          <p:nvPr/>
        </p:nvSpPr>
        <p:spPr>
          <a:xfrm>
            <a:off x="1024645" y="4969070"/>
            <a:ext cx="137160" cy="137160"/>
          </a:xfrm>
          <a:prstGeom prst="rect">
            <a:avLst/>
          </a:prstGeom>
          <a:solidFill>
            <a:srgbClr val="8F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1341120" y="4936480"/>
            <a:ext cx="762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Alto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5520" y="4928860"/>
            <a:ext cx="4754880" cy="490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2E3439"/>
                </a:solidFill>
                <a:latin typeface="Archivo"/>
              </a:rPr>
              <a:t>Recomendação inventada.</a:t>
            </a:r>
            <a:r>
              <a:rPr sz="1100" b="0" i="0">
                <a:solidFill>
                  <a:srgbClr val="2E3439"/>
                </a:solidFill>
                <a:latin typeface="Archivo"/>
              </a:rPr>
              <a:t> “Faça recomendações alinhadas ao perfil” sem sinal de mercado, faixa de política, teto de concentração ou lista de restrições. Um modelo sempre responde com confiança.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219200" y="5680614"/>
            <a:ext cx="57912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>
            <a:spLocks noChangeAspect="1"/>
          </p:cNvSpPr>
          <p:nvPr/>
        </p:nvSpPr>
        <p:spPr>
          <a:xfrm>
            <a:off x="1024645" y="5797024"/>
            <a:ext cx="137160" cy="137160"/>
          </a:xfrm>
          <a:prstGeom prst="rect">
            <a:avLst/>
          </a:prstGeom>
          <a:solidFill>
            <a:srgbClr val="7C8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1341120" y="5764434"/>
            <a:ext cx="762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00">
                <a:solidFill>
                  <a:srgbClr val="5C6469"/>
                </a:solidFill>
                <a:latin typeface="IBM Plex Mono"/>
              </a:rPr>
              <a:t>Médio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5520" y="5756814"/>
            <a:ext cx="4754880" cy="3271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2E3439"/>
                </a:solidFill>
                <a:latin typeface="Archivo"/>
              </a:rPr>
              <a:t>Sem formatação, sem estado.</a:t>
            </a:r>
            <a:r>
              <a:rPr sz="1100" b="0" i="0">
                <a:solidFill>
                  <a:srgbClr val="2E3439"/>
                </a:solidFill>
                <a:latin typeface="Archivo"/>
              </a:rPr>
              <a:t> Texto de chat, limite de duas páginas manual, nada versionado, nada reproduzível, nenhum assessor no circuito.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437120" y="1962374"/>
            <a:ext cx="0" cy="1040130"/>
          </a:xfrm>
          <a:prstGeom prst="line">
            <a:avLst/>
          </a:prstGeom>
          <a:ln w="19050">
            <a:solidFill>
              <a:srgbClr val="B59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589520" y="1851152"/>
            <a:ext cx="40538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 cap="all" spc="120" dirty="0">
                <a:solidFill>
                  <a:srgbClr val="5C6469"/>
                </a:solidFill>
                <a:latin typeface="IBM Plex Mono"/>
              </a:rPr>
              <a:t>O </a:t>
            </a:r>
            <a:r>
              <a:rPr sz="1000" b="0" i="0" cap="all" spc="120" dirty="0" err="1">
                <a:solidFill>
                  <a:srgbClr val="5C6469"/>
                </a:solidFill>
                <a:latin typeface="IBM Plex Mono"/>
              </a:rPr>
              <a:t>erro</a:t>
            </a:r>
            <a:r>
              <a:rPr sz="1000" b="0" i="0" cap="all" spc="120" dirty="0">
                <a:solidFill>
                  <a:srgbClr val="5C6469"/>
                </a:solidFill>
                <a:latin typeface="IBM Plex Mono"/>
              </a:rPr>
              <a:t> de </a:t>
            </a:r>
            <a:r>
              <a:rPr sz="1000" b="0" i="0" cap="all" spc="120" dirty="0" err="1">
                <a:solidFill>
                  <a:srgbClr val="5C6469"/>
                </a:solidFill>
                <a:latin typeface="IBM Plex Mono"/>
              </a:rPr>
              <a:t>projeto</a:t>
            </a:r>
            <a:r>
              <a:rPr sz="1000" b="0" i="0" cap="all" spc="120" dirty="0">
                <a:solidFill>
                  <a:srgbClr val="5C6469"/>
                </a:solidFill>
                <a:latin typeface="IBM Plex Mono"/>
              </a:rPr>
              <a:t> </a:t>
            </a:r>
            <a:r>
              <a:rPr sz="1000" b="0" i="0" cap="all" spc="120" dirty="0" err="1">
                <a:solidFill>
                  <a:srgbClr val="5C6469"/>
                </a:solidFill>
                <a:latin typeface="IBM Plex Mono"/>
              </a:rPr>
              <a:t>por</a:t>
            </a:r>
            <a:r>
              <a:rPr sz="1000" b="0" i="0" cap="all" spc="120" dirty="0">
                <a:solidFill>
                  <a:srgbClr val="5C6469"/>
                </a:solidFill>
                <a:latin typeface="IBM Plex Mono"/>
              </a:rPr>
              <a:t> </a:t>
            </a:r>
            <a:r>
              <a:rPr sz="1000" b="0" i="0" cap="all" spc="120" dirty="0" err="1">
                <a:solidFill>
                  <a:srgbClr val="5C6469"/>
                </a:solidFill>
                <a:latin typeface="IBM Plex Mono"/>
              </a:rPr>
              <a:t>baixo</a:t>
            </a:r>
            <a:r>
              <a:rPr sz="1000" b="0" i="0" cap="all" spc="120" dirty="0">
                <a:solidFill>
                  <a:srgbClr val="5C6469"/>
                </a:solidFill>
                <a:latin typeface="IBM Plex Mono"/>
              </a:rPr>
              <a:t> de </a:t>
            </a:r>
            <a:r>
              <a:rPr sz="1000" b="0" i="0" cap="all" spc="120" dirty="0" err="1">
                <a:solidFill>
                  <a:srgbClr val="5C6469"/>
                </a:solidFill>
                <a:latin typeface="IBM Plex Mono"/>
              </a:rPr>
              <a:t>todos</a:t>
            </a:r>
            <a:endParaRPr sz="1000" b="0" i="0" cap="all" spc="120" dirty="0">
              <a:solidFill>
                <a:srgbClr val="5C6469"/>
              </a:solidFill>
              <a:latin typeface="IBM Plex Mono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589520" y="2091101"/>
            <a:ext cx="4038600" cy="8724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50" b="0" i="0" dirty="0">
                <a:solidFill>
                  <a:srgbClr val="0B0D0E"/>
                </a:solidFill>
                <a:latin typeface="Newsreader"/>
              </a:rPr>
              <a:t>O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modelo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era o </a:t>
            </a:r>
            <a:r>
              <a:rPr sz="1250" b="1" i="0" dirty="0" err="1">
                <a:solidFill>
                  <a:srgbClr val="0B0D0E"/>
                </a:solidFill>
                <a:latin typeface="Newsreader"/>
              </a:rPr>
              <a:t>sistema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.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Tudo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que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o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produto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precisava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acertar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, o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retorno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, a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atribuição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, a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exposição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, a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adequação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,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estava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delegado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ao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componente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menos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confiável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 </a:t>
            </a:r>
            <a:r>
              <a:rPr sz="1250" b="0" i="0" dirty="0" err="1">
                <a:solidFill>
                  <a:srgbClr val="0B0D0E"/>
                </a:solidFill>
                <a:latin typeface="Newsreader"/>
              </a:rPr>
              <a:t>disponível</a:t>
            </a:r>
            <a:r>
              <a:rPr sz="1250" b="0" i="0" dirty="0">
                <a:solidFill>
                  <a:srgbClr val="0B0D0E"/>
                </a:solidFill>
                <a:latin typeface="Newsreader"/>
              </a:rPr>
              <a:t>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3549218"/>
            <a:ext cx="4206240" cy="981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1" i="0" dirty="0" err="1">
                <a:solidFill>
                  <a:srgbClr val="2E3439"/>
                </a:solidFill>
                <a:latin typeface="Archivo"/>
              </a:rPr>
              <a:t>Primeira</a:t>
            </a:r>
            <a:r>
              <a:rPr sz="1200" b="1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1" i="0" dirty="0" err="1">
                <a:solidFill>
                  <a:srgbClr val="2E3439"/>
                </a:solidFill>
                <a:latin typeface="Archivo"/>
              </a:rPr>
              <a:t>passagem</a:t>
            </a:r>
            <a:r>
              <a:rPr sz="1200" b="1" i="0" dirty="0">
                <a:solidFill>
                  <a:srgbClr val="2E3439"/>
                </a:solidFill>
                <a:latin typeface="Archivo"/>
              </a:rPr>
              <a:t>, </a:t>
            </a:r>
            <a:r>
              <a:rPr sz="1200" b="1" i="0" dirty="0" err="1">
                <a:solidFill>
                  <a:srgbClr val="2E3439"/>
                </a:solidFill>
                <a:latin typeface="Archivo"/>
              </a:rPr>
              <a:t>mesma</a:t>
            </a:r>
            <a:r>
              <a:rPr sz="1200" b="1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1" i="0" dirty="0" err="1">
                <a:solidFill>
                  <a:srgbClr val="2E3439"/>
                </a:solidFill>
                <a:latin typeface="Archivo"/>
              </a:rPr>
              <a:t>manhã</a:t>
            </a:r>
            <a:r>
              <a:rPr sz="1200" b="1" i="0" dirty="0">
                <a:solidFill>
                  <a:srgbClr val="2E3439"/>
                </a:solidFill>
                <a:latin typeface="Archivo"/>
              </a:rPr>
              <a:t>.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Antes do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produto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houve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uma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iteração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intermediária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: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leitura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e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reconciliação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dos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arquivos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em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código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(R$ 386.858,82 =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investido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+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saldo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),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retorno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só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da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parcela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de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ações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(+3,30%, com o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retorno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total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explicitamente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retido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por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falta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de dados de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período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) e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uma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carta DOCX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gerada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por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um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comando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0" y="4990469"/>
            <a:ext cx="4206240" cy="490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0" i="0" dirty="0">
                <a:solidFill>
                  <a:srgbClr val="2E3439"/>
                </a:solidFill>
                <a:latin typeface="Archivo"/>
              </a:rPr>
              <a:t>Foi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ela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que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mostrou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o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limite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: com o material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recebido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, </a:t>
            </a:r>
            <a:r>
              <a:rPr sz="1200" b="1" i="0" dirty="0">
                <a:solidFill>
                  <a:srgbClr val="AE4E48"/>
                </a:solidFill>
                <a:latin typeface="Archivo"/>
              </a:rPr>
              <a:t>o </a:t>
            </a:r>
            <a:r>
              <a:rPr sz="1200" b="1" i="0" dirty="0" err="1">
                <a:solidFill>
                  <a:srgbClr val="AE4E48"/>
                </a:solidFill>
                <a:latin typeface="Archivo"/>
              </a:rPr>
              <a:t>mês</a:t>
            </a:r>
            <a:r>
              <a:rPr sz="1200" b="1" i="0" dirty="0">
                <a:solidFill>
                  <a:srgbClr val="AE4E48"/>
                </a:solidFill>
                <a:latin typeface="Archivo"/>
              </a:rPr>
              <a:t> do Albert </a:t>
            </a:r>
            <a:r>
              <a:rPr sz="1200" b="1" i="0" dirty="0" err="1">
                <a:solidFill>
                  <a:srgbClr val="AE4E48"/>
                </a:solidFill>
                <a:latin typeface="Archivo"/>
              </a:rPr>
              <a:t>não</a:t>
            </a:r>
            <a:r>
              <a:rPr sz="1200" b="1" i="0" dirty="0">
                <a:solidFill>
                  <a:srgbClr val="AE4E48"/>
                </a:solidFill>
                <a:latin typeface="Archivo"/>
              </a:rPr>
              <a:t> era </a:t>
            </a:r>
            <a:r>
              <a:rPr sz="1200" b="1" i="0" dirty="0" err="1">
                <a:solidFill>
                  <a:srgbClr val="AE4E48"/>
                </a:solidFill>
                <a:latin typeface="Archivo"/>
              </a:rPr>
              <a:t>calculável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. Havia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que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buscar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 o mercado de </a:t>
            </a:r>
            <a:r>
              <a:rPr sz="1200" b="0" i="0" dirty="0" err="1">
                <a:solidFill>
                  <a:srgbClr val="2E3439"/>
                </a:solidFill>
                <a:latin typeface="Archivo"/>
              </a:rPr>
              <a:t>verdade</a:t>
            </a:r>
            <a:r>
              <a:rPr sz="1200" b="0" i="0" dirty="0">
                <a:solidFill>
                  <a:srgbClr val="2E3439"/>
                </a:solidFill>
                <a:latin typeface="Archivo"/>
              </a:rPr>
              <a:t>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Severidade segundo o readout de revisão do MVP; a lista completa está no relatório de implementação.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Output/mvp</a:t>
            </a:r>
            <a:r>
              <a:rPr sz="680" b="0" i="1">
                <a:solidFill>
                  <a:srgbClr val="5C6469"/>
                </a:solidFill>
                <a:latin typeface="IBM Plex Mono"/>
              </a:rPr>
              <a:t>review</a:t>
            </a:r>
            <a:r>
              <a:rPr sz="680" b="0" i="0">
                <a:solidFill>
                  <a:srgbClr val="5C6469"/>
                </a:solidFill>
                <a:latin typeface="IBM Plex Mono"/>
              </a:rPr>
              <a:t>report · docs/implementation-report.md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regata.jpg"/>
          <p:cNvPicPr>
            <a:picLocks noChangeAspect="1"/>
          </p:cNvPicPr>
          <p:nvPr/>
        </p:nvPicPr>
        <p:blipFill>
          <a:blip r:embed="rId2"/>
          <a:srcRect l="20370" r="20370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78880" y="6522720"/>
            <a:ext cx="5334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00" b="0" i="0" cap="all" spc="120">
                <a:solidFill>
                  <a:srgbClr val="C7CDCF"/>
                </a:solidFill>
                <a:latin typeface="IBM Plex Mono"/>
              </a:rPr>
              <a:t>Semana Internacional de Vela de Ilhabela, 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81400"/>
            <a:ext cx="4876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 cap="all" spc="200">
                <a:solidFill>
                  <a:srgbClr val="8A9196"/>
                </a:solidFill>
                <a:latin typeface="IBM Plex Mono"/>
              </a:rPr>
              <a:t>Capítulo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10000"/>
            <a:ext cx="4876800" cy="15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</a:pPr>
            <a:r>
              <a:rPr lang="en-US" sz="5800" dirty="0">
                <a:solidFill>
                  <a:srgbClr val="F1F4F5"/>
                </a:solidFill>
                <a:latin typeface="Newsreader"/>
              </a:rPr>
              <a:t>Enter</a:t>
            </a:r>
          </a:p>
          <a:p>
            <a:pPr algn="l">
              <a:lnSpc>
                <a:spcPct val="98000"/>
              </a:lnSpc>
            </a:pPr>
            <a:r>
              <a:rPr lang="en-US" sz="4000" dirty="0">
                <a:solidFill>
                  <a:srgbClr val="F1F4F5"/>
                </a:solidFill>
                <a:latin typeface="Newsreader"/>
              </a:rPr>
              <a:t>Wealth Management</a:t>
            </a:r>
            <a:endParaRPr sz="4000" b="0" i="1" dirty="0">
              <a:solidFill>
                <a:srgbClr val="F1F4F5"/>
              </a:solidFill>
              <a:latin typeface="Newsread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47244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400" b="0" i="0" dirty="0">
                <a:solidFill>
                  <a:srgbClr val="C7CDCF"/>
                </a:solidFill>
                <a:latin typeface="Newsreader"/>
              </a:rPr>
              <a:t>Em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vez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 de um “assessor de IA para a XP”,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uma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gestora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 com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nome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,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marca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,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voz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 e um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jeito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 de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falar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 de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perdas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. O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produto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ganhou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 </a:t>
            </a:r>
            <a:r>
              <a:rPr sz="1400" b="0" i="0" dirty="0" err="1">
                <a:solidFill>
                  <a:srgbClr val="C7CDCF"/>
                </a:solidFill>
                <a:latin typeface="Newsreader"/>
              </a:rPr>
              <a:t>uma</a:t>
            </a:r>
            <a:r>
              <a:rPr sz="1400" b="0" i="0" dirty="0">
                <a:solidFill>
                  <a:srgbClr val="C7CDCF"/>
                </a:solidFill>
                <a:latin typeface="Newsreader"/>
              </a:rPr>
              <a:t> casa.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3CC36A-27F7-8098-8F4F-B0BDC368A5A7}"/>
              </a:ext>
            </a:extLst>
          </p:cNvPr>
          <p:cNvGrpSpPr>
            <a:grpSpLocks noChangeAspect="1"/>
          </p:cNvGrpSpPr>
          <p:nvPr/>
        </p:nvGrpSpPr>
        <p:grpSpPr>
          <a:xfrm>
            <a:off x="2571562" y="3657600"/>
            <a:ext cx="692623" cy="692623"/>
            <a:chOff x="256946" y="325526"/>
            <a:chExt cx="217628" cy="217628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F59E519F-909C-F054-E14C-9411629760F7}"/>
                </a:ext>
              </a:extLst>
            </p:cNvPr>
            <p:cNvSpPr/>
            <p:nvPr/>
          </p:nvSpPr>
          <p:spPr>
            <a:xfrm>
              <a:off x="256946" y="325526"/>
              <a:ext cx="56998" cy="56998"/>
            </a:xfrm>
            <a:custGeom>
              <a:avLst/>
              <a:gdLst/>
              <a:ahLst/>
              <a:cxnLst/>
              <a:rect l="l" t="t" r="r" b="b"/>
              <a:pathLst>
                <a:path w="22" h="22">
                  <a:moveTo>
                    <a:pt x="0" y="22"/>
                  </a:moveTo>
                  <a:lnTo>
                    <a:pt x="0" y="0"/>
                  </a:lnTo>
                  <a:lnTo>
                    <a:pt x="22" y="0"/>
                  </a:lnTo>
                </a:path>
              </a:pathLst>
            </a:custGeom>
            <a:noFill/>
            <a:ln w="44450" cap="sq">
              <a:solidFill>
                <a:srgbClr val="F1F4F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6D8946F-C545-2B67-A73E-7B4ED39C2D1F}"/>
                </a:ext>
              </a:extLst>
            </p:cNvPr>
            <p:cNvSpPr/>
            <p:nvPr/>
          </p:nvSpPr>
          <p:spPr>
            <a:xfrm>
              <a:off x="417576" y="486156"/>
              <a:ext cx="56998" cy="56998"/>
            </a:xfrm>
            <a:custGeom>
              <a:avLst/>
              <a:gdLst/>
              <a:ahLst/>
              <a:cxnLst/>
              <a:rect l="l" t="t" r="r" b="b"/>
              <a:pathLst>
                <a:path w="22" h="22">
                  <a:moveTo>
                    <a:pt x="22" y="0"/>
                  </a:moveTo>
                  <a:lnTo>
                    <a:pt x="22" y="22"/>
                  </a:lnTo>
                  <a:lnTo>
                    <a:pt x="0" y="22"/>
                  </a:lnTo>
                </a:path>
              </a:pathLst>
            </a:custGeom>
            <a:noFill/>
            <a:ln w="44450" cap="sq">
              <a:solidFill>
                <a:srgbClr val="F1F4F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44A5177-2CEB-643D-5FF9-ADFEF4A4D49F}"/>
                </a:ext>
              </a:extLst>
            </p:cNvPr>
            <p:cNvSpPr/>
            <p:nvPr/>
          </p:nvSpPr>
          <p:spPr>
            <a:xfrm>
              <a:off x="329489" y="392887"/>
              <a:ext cx="93269" cy="56998"/>
            </a:xfrm>
            <a:custGeom>
              <a:avLst/>
              <a:gdLst/>
              <a:ahLst/>
              <a:cxnLst/>
              <a:rect l="l" t="t" r="r" b="b"/>
              <a:pathLst>
                <a:path w="36" h="22">
                  <a:moveTo>
                    <a:pt x="36" y="0"/>
                  </a:moveTo>
                  <a:lnTo>
                    <a:pt x="36" y="22"/>
                  </a:lnTo>
                  <a:lnTo>
                    <a:pt x="0" y="22"/>
                  </a:lnTo>
                </a:path>
              </a:pathLst>
            </a:custGeom>
            <a:noFill/>
            <a:ln w="44450" cap="sq">
              <a:solidFill>
                <a:srgbClr val="F1F4F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CA2ECFE4-1E06-F49F-60C3-763D4D579BD5}"/>
                </a:ext>
              </a:extLst>
            </p:cNvPr>
            <p:cNvSpPr/>
            <p:nvPr/>
          </p:nvSpPr>
          <p:spPr>
            <a:xfrm>
              <a:off x="329489" y="418795"/>
              <a:ext cx="31090" cy="62179"/>
            </a:xfrm>
            <a:custGeom>
              <a:avLst/>
              <a:gdLst/>
              <a:ahLst/>
              <a:cxnLst/>
              <a:rect l="l" t="t" r="r" b="b"/>
              <a:pathLst>
                <a:path w="12" h="24">
                  <a:moveTo>
                    <a:pt x="12" y="0"/>
                  </a:moveTo>
                  <a:lnTo>
                    <a:pt x="0" y="12"/>
                  </a:lnTo>
                  <a:lnTo>
                    <a:pt x="12" y="24"/>
                  </a:lnTo>
                </a:path>
              </a:pathLst>
            </a:custGeom>
            <a:noFill/>
            <a:ln w="44450" cap="sq">
              <a:solidFill>
                <a:srgbClr val="F1F4F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II · A criação da 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A casa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Enter Asset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brand-guidelines.html · “The system that governs how capital speaks”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Uma gestora nascida da Enter, com um brand book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que o código obedece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1607312"/>
            <a:ext cx="4572000" cy="853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1" i="0">
                <a:solidFill>
                  <a:srgbClr val="2E3439"/>
                </a:solidFill>
                <a:latin typeface="Archivo"/>
              </a:rPr>
              <a:t>Por que uma gestora.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 O brief permitia sair do enunciado: “change and customize your solution to demonstrate unique skills”. Um assessor de IA sem casa é um chatbot. Uma gestora tem política de investimento, custódia, auditoria e um tom de voz. Isso dá ao produto as regras que faltavam à v0.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521712"/>
            <a:ext cx="45720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1" i="0">
                <a:solidFill>
                  <a:srgbClr val="2E3439"/>
                </a:solidFill>
                <a:latin typeface="Archivo"/>
              </a:rPr>
              <a:t>O que o brand book fixa.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 Dezessete seções, de arquitetura de marca herdada da Enter a governança, passando por identidade verbal, cor, tipografia, visualização de dados, compliance e tokens.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094736"/>
            <a:ext cx="45720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1" i="0">
                <a:solidFill>
                  <a:srgbClr val="2E3439"/>
                </a:solidFill>
                <a:latin typeface="Archivo"/>
              </a:rPr>
              <a:t>Onde ele vive.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 Os tokens da seção 16 foram extraídos para </a:t>
            </a:r>
            <a:r>
              <a:rPr sz="883" b="0" i="0">
                <a:solidFill>
                  <a:srgbClr val="2E3439"/>
                </a:solidFill>
                <a:latin typeface="IBM Plex Mono"/>
              </a:rPr>
              <a:t>src/core/brand.js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, a única fonte legível por máquina. Portal, e-mail, PDF e gráficos leem dali.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3713480"/>
            <a:ext cx="45720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Regras que os renderizadores respeitam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3911600"/>
            <a:ext cx="533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§7.1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896360"/>
            <a:ext cx="38862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Cor é reservada a dados: verde e vermelho num número, nunca no chrome.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19200" y="4277360"/>
            <a:ext cx="45720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219200" y="4353560"/>
            <a:ext cx="533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§7.10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05000" y="4338320"/>
            <a:ext cx="38862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Cor nunca é o único sinal: “+” explícito e o menos verdadeiro, U+2212.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19200" y="4719320"/>
            <a:ext cx="45720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219200" y="4795520"/>
            <a:ext cx="533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§10.2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5000" y="4780280"/>
            <a:ext cx="38862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Carteira em tinta; benchmark em azul tracejado, nunca em verde.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19200" y="5161280"/>
            <a:ext cx="45720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219200" y="5237480"/>
            <a:ext cx="533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§15.3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5222240"/>
            <a:ext cx="38862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Disclosures a 11pt no mínimo, nunca em cinza, nunca como imagem.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219200" y="5603240"/>
            <a:ext cx="45720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219200" y="5679440"/>
            <a:ext cx="533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§5.1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5000" y="5664200"/>
            <a:ext cx="3886200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A perda vem antes do ganho. Regra de casa, não opcional.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1607312"/>
            <a:ext cx="54254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A marca: o colchete aberto e a seta de retorno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7920" y="1774952"/>
            <a:ext cx="542544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/>
          <p:cNvSpPr/>
          <p:nvPr/>
        </p:nvSpPr>
        <p:spPr>
          <a:xfrm>
            <a:off x="6261811" y="1956003"/>
            <a:ext cx="120701" cy="120701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38404" cap="sq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Freeform 34"/>
          <p:cNvSpPr/>
          <p:nvPr/>
        </p:nvSpPr>
        <p:spPr>
          <a:xfrm>
            <a:off x="6601968" y="2296160"/>
            <a:ext cx="120701" cy="120701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38404" cap="sq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6415430" y="2098650"/>
            <a:ext cx="197510" cy="120701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38404" cap="sq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6415430" y="2153514"/>
            <a:ext cx="65837" cy="131674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38404" cap="sq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49440" y="1942592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800" b="1" i="0" spc="-80">
                <a:solidFill>
                  <a:srgbClr val="0B0D0E"/>
                </a:solidFill>
                <a:latin typeface="Archivo"/>
              </a:rPr>
              <a:t>enter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2018792"/>
            <a:ext cx="1524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 cap="all" spc="150">
                <a:solidFill>
                  <a:srgbClr val="5C6469"/>
                </a:solidFill>
                <a:latin typeface="Archivo"/>
              </a:rPr>
              <a:t>Asset Management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2247392"/>
            <a:ext cx="38100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5C6469"/>
                </a:solidFill>
                <a:latin typeface="IBM Plex Mono"/>
              </a:rPr>
              <a:t>100 unidades · inset 8 · traço 7 · braços 22 · ponta a 45°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217920" y="2597912"/>
            <a:ext cx="542544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217920" y="2765552"/>
            <a:ext cx="54254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Paleta: papel, tinta, cofre, latão e as duas cores de dado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2948432"/>
            <a:ext cx="624840" cy="426720"/>
          </a:xfrm>
          <a:prstGeom prst="rect">
            <a:avLst/>
          </a:prstGeom>
          <a:solidFill>
            <a:srgbClr val="F5F6F5"/>
          </a:solidFill>
          <a:ln w="6350">
            <a:solidFill>
              <a:srgbClr val="D3D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63640" y="3268472"/>
            <a:ext cx="57912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580" b="0" i="0">
                <a:solidFill>
                  <a:srgbClr val="0B0D0E"/>
                </a:solidFill>
                <a:latin typeface="IBM Plex Mono"/>
              </a:rPr>
              <a:t>paper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03720" y="2948432"/>
            <a:ext cx="624840" cy="426720"/>
          </a:xfrm>
          <a:prstGeom prst="rect">
            <a:avLst/>
          </a:prstGeom>
          <a:solidFill>
            <a:srgbClr val="0B0D0E"/>
          </a:solidFill>
          <a:ln w="6350">
            <a:solidFill>
              <a:srgbClr val="D3D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49440" y="3268472"/>
            <a:ext cx="57912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580" b="0" i="0">
                <a:solidFill>
                  <a:srgbClr val="F1F4F5"/>
                </a:solidFill>
                <a:latin typeface="IBM Plex Mono"/>
              </a:rPr>
              <a:t>ink 950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89520" y="2948432"/>
            <a:ext cx="624840" cy="426720"/>
          </a:xfrm>
          <a:prstGeom prst="rect">
            <a:avLst/>
          </a:prstGeom>
          <a:solidFill>
            <a:srgbClr val="5C6469"/>
          </a:solidFill>
          <a:ln w="6350">
            <a:solidFill>
              <a:srgbClr val="D3D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35240" y="3268472"/>
            <a:ext cx="57912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580" b="0" i="0">
                <a:solidFill>
                  <a:srgbClr val="F1F4F5"/>
                </a:solidFill>
                <a:latin typeface="IBM Plex Mono"/>
              </a:rPr>
              <a:t>ink 500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75320" y="2948432"/>
            <a:ext cx="624840" cy="426720"/>
          </a:xfrm>
          <a:prstGeom prst="rect">
            <a:avLst/>
          </a:prstGeom>
          <a:solidFill>
            <a:srgbClr val="12314F"/>
          </a:solidFill>
          <a:ln w="6350">
            <a:solidFill>
              <a:srgbClr val="D3D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321040" y="3268472"/>
            <a:ext cx="57912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580" b="0" i="0">
                <a:solidFill>
                  <a:srgbClr val="F1F4F5"/>
                </a:solidFill>
                <a:latin typeface="IBM Plex Mono"/>
              </a:rPr>
              <a:t>vault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61120" y="2948432"/>
            <a:ext cx="624840" cy="426720"/>
          </a:xfrm>
          <a:prstGeom prst="rect">
            <a:avLst/>
          </a:prstGeom>
          <a:solidFill>
            <a:srgbClr val="B5934A"/>
          </a:solidFill>
          <a:ln w="6350">
            <a:solidFill>
              <a:srgbClr val="D3D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006840" y="3268472"/>
            <a:ext cx="57912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580" b="0" i="0">
                <a:solidFill>
                  <a:srgbClr val="F1F4F5"/>
                </a:solidFill>
                <a:latin typeface="IBM Plex Mono"/>
              </a:rPr>
              <a:t>brass ≤5%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20" y="2948432"/>
            <a:ext cx="624840" cy="426720"/>
          </a:xfrm>
          <a:prstGeom prst="rect">
            <a:avLst/>
          </a:prstGeom>
          <a:solidFill>
            <a:srgbClr val="2F5476"/>
          </a:solidFill>
          <a:ln w="6350">
            <a:solidFill>
              <a:srgbClr val="D3D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692640" y="3268472"/>
            <a:ext cx="57912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580" b="0" i="0">
                <a:solidFill>
                  <a:srgbClr val="F1F4F5"/>
                </a:solidFill>
                <a:latin typeface="IBM Plex Mono"/>
              </a:rPr>
              <a:t>benchmark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32720" y="2948432"/>
            <a:ext cx="624840" cy="426720"/>
          </a:xfrm>
          <a:prstGeom prst="rect">
            <a:avLst/>
          </a:prstGeom>
          <a:solidFill>
            <a:srgbClr val="438E60"/>
          </a:solidFill>
          <a:ln w="6350">
            <a:solidFill>
              <a:srgbClr val="D3D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0378440" y="3268472"/>
            <a:ext cx="57912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580" b="0" i="0">
                <a:solidFill>
                  <a:srgbClr val="F1F4F5"/>
                </a:solidFill>
                <a:latin typeface="IBM Plex Mono"/>
              </a:rPr>
              <a:t>yield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018520" y="2948432"/>
            <a:ext cx="624840" cy="426720"/>
          </a:xfrm>
          <a:prstGeom prst="rect">
            <a:avLst/>
          </a:prstGeom>
          <a:solidFill>
            <a:srgbClr val="AE4F48"/>
          </a:solidFill>
          <a:ln w="6350">
            <a:solidFill>
              <a:srgbClr val="D3D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1064240" y="3268472"/>
            <a:ext cx="57912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580" b="0" i="0">
                <a:solidFill>
                  <a:srgbClr val="F1F4F5"/>
                </a:solidFill>
                <a:latin typeface="IBM Plex Mono"/>
              </a:rPr>
              <a:t>drawdown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558032"/>
            <a:ext cx="54254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Tipografia: Archivo para o que é número ou controle, Newsreader para o que uma pessoa escreveu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3740912"/>
            <a:ext cx="5425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800" b="1" i="0" spc="-50">
                <a:solidFill>
                  <a:srgbClr val="0B0D0E"/>
                </a:solidFill>
                <a:latin typeface="Archivo"/>
              </a:rPr>
              <a:t>−1,20% · +1,76% · R$ 386.858,82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3999992"/>
            <a:ext cx="54254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0B0D0E"/>
                </a:solidFill>
                <a:latin typeface="Newsreader"/>
              </a:rPr>
              <a:t>Quando a carteira cai, você lê isso </a:t>
            </a:r>
            <a:r>
              <a:rPr sz="1800" b="0" i="1">
                <a:solidFill>
                  <a:srgbClr val="0B0D0E"/>
                </a:solidFill>
                <a:latin typeface="Newsreader"/>
              </a:rPr>
              <a:t>na primeira linha.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4289552"/>
            <a:ext cx="542544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40" b="0" i="0">
                <a:solidFill>
                  <a:srgbClr val="5C6469"/>
                </a:solidFill>
                <a:latin typeface="IBM Plex Mono"/>
              </a:rPr>
              <a:t>IBM Plex Mono · rótulos, fontes e horas de coleta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Raio zero para qualquer coisa que contenha dado, 2px para controles, sem sombras. Ritmo de 8pt sobre base de 4pt.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src/core/brand.js · brand-guidelines.html §16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II · A criação da 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A narrativa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a página inicial como travessia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web/index.html · commit de 11/9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“O vento não se escolhe.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O rumo, sim.”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1622552"/>
            <a:ext cx="1143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0B0D0E"/>
                </a:solidFill>
                <a:latin typeface="IBM Plex Mono"/>
              </a:rPr>
              <a:t>01 · O vento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1607312"/>
            <a:ext cx="3276600" cy="4800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O mercado.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Não o controlamos; lemos. Toda leitura tem fonte e data: B3 via Yahoo Finance e TradingView, Banco Central, CoinGecko, Valor Econômico.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19200" y="2155952"/>
            <a:ext cx="45720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19200" y="2239772"/>
            <a:ext cx="1143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0B0D0E"/>
                </a:solidFill>
                <a:latin typeface="IBM Plex Mono"/>
              </a:rPr>
              <a:t>02 · As velas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224532"/>
            <a:ext cx="327660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A estratégia.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O casco é a frente privada, concentrada em empresas AI-native na América Latina e no sul da Europa. A vela é a frente líquida, exposição pública à mesma tese.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19200" y="2933192"/>
            <a:ext cx="45720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19200" y="3017012"/>
            <a:ext cx="1143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0B0D0E"/>
                </a:solidFill>
                <a:latin typeface="IBM Plex Mono"/>
              </a:rPr>
              <a:t>03 · O rumo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001772"/>
            <a:ext cx="327660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Desviar não é se perder.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Contra o vento nenhum veleiro anda em linha reta: bordeja. Um mês negativo é um bordo; dizemos quanto custou e para onde nos levou. A perda na primeira linha, sem eufemismo.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19200" y="3710432"/>
            <a:ext cx="45720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19200" y="3794252"/>
            <a:ext cx="1143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0B0D0E"/>
                </a:solidFill>
                <a:latin typeface="IBM Plex Mono"/>
              </a:rPr>
              <a:t>04 · Diário de bordo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3779012"/>
            <a:ext cx="3276600" cy="4800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A carta mensal.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Quanto andamos, o que o vento fez, o que ajustar no próximo bordo. O modelo escreve e explica; nunca calcula.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19200" y="4327652"/>
            <a:ext cx="45720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219200" y="4411472"/>
            <a:ext cx="1143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0B0D0E"/>
                </a:solidFill>
                <a:latin typeface="IBM Plex Mono"/>
              </a:rPr>
              <a:t>05 · Âncoras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4396232"/>
            <a:ext cx="3276600" cy="4800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O que não se move.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Custódia independente, auditoria anual com auditor nomeado, política escrita de avaliação, registros e canal de denúncias.</a:t>
            </a:r>
          </a:p>
        </p:txBody>
      </p:sp>
      <p:pic>
        <p:nvPicPr>
          <p:cNvPr id="28" name="Picture 27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7312"/>
            <a:ext cx="5425440" cy="3489960"/>
          </a:xfrm>
          <a:prstGeom prst="rect">
            <a:avLst/>
          </a:prstGeom>
          <a:ln w="9525">
            <a:solidFill>
              <a:srgbClr val="D3D8DA"/>
            </a:solidFill>
          </a:ln>
        </p:spPr>
      </p:pic>
      <p:sp>
        <p:nvSpPr>
          <p:cNvPr id="29" name="TextBox 28"/>
          <p:cNvSpPr txBox="1"/>
          <p:nvPr/>
        </p:nvSpPr>
        <p:spPr>
          <a:xfrm>
            <a:off x="6217920" y="5173472"/>
            <a:ext cx="54254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A página de entrada. A única animação por superfície é a seta de retorno desenhando a si mesma; com prefers-reduced-motion ela aparece pronta. Fotografia: Marinelson Almeida, CC BY 2.0.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O destino é declarado antes de zarpar e não muda com a maré do trimestre: o mandato é de dez anos.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joaocreste.github.io/enter-wealth-management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267200"/>
            <a:ext cx="5334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 cap="all" spc="200">
                <a:solidFill>
                  <a:srgbClr val="8A9196"/>
                </a:solidFill>
                <a:latin typeface="IBM Plex Mono"/>
              </a:rPr>
              <a:t>Capítulo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95800"/>
            <a:ext cx="5791200" cy="1828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8000"/>
              </a:lnSpc>
            </a:pPr>
            <a:r>
              <a:rPr sz="5800" b="0" i="0">
                <a:solidFill>
                  <a:srgbClr val="F1F4F5"/>
                </a:solidFill>
                <a:latin typeface="Newsreader"/>
              </a:rPr>
              <a:t>O que </a:t>
            </a:r>
            <a:r>
              <a:rPr sz="5800" b="0" i="1">
                <a:solidFill>
                  <a:srgbClr val="F1F4F5"/>
                </a:solidFill>
                <a:latin typeface="Newsreader"/>
              </a:rPr>
              <a:t>fizemos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4876800"/>
            <a:ext cx="4572000" cy="144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C7CDCF"/>
                </a:solidFill>
                <a:latin typeface="Newsreader"/>
              </a:rPr>
              <a:t>Uma inversão de arquitetura, um grafo de dez subgrafos, uma API na Cloudflare, dois portais, uma carta em três formatos e três agentes que acordam às sete da manhã.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III · O que fizemos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A decisão central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inverter a relação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src/llm/prompts.js · SYSTEM_GUARDRAIL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Código calcula.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O modelo escreve.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1607312"/>
            <a:ext cx="4998720" cy="871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2E3439"/>
                </a:solidFill>
                <a:latin typeface="Archivo"/>
              </a:rPr>
              <a:t>Toda cifra é produzida por código determinístico antes de o modelo ser chamado. O modelo recebe um objeto </a:t>
            </a:r>
            <a:r>
              <a:rPr sz="901" b="0" i="0">
                <a:solidFill>
                  <a:srgbClr val="2E3439"/>
                </a:solidFill>
                <a:latin typeface="IBM Plex Mono"/>
              </a:rPr>
              <a:t>FACTS</a:t>
            </a:r>
            <a:r>
              <a:rPr sz="980" b="0" i="0">
                <a:solidFill>
                  <a:srgbClr val="2E3439"/>
                </a:solidFill>
                <a:latin typeface="Archivo"/>
              </a:rPr>
              <a:t> e um prompt de sistema que o proíbe de produzir qualquer número que não esteja ali. O trabalho dele é linguagem: a explicação, a personalização, a frase que torna um mês de −1,20% compreensível para quem não é investidor profissional.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539492"/>
            <a:ext cx="4998720" cy="6969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80" b="1" i="0">
                <a:solidFill>
                  <a:srgbClr val="2E3439"/>
                </a:solidFill>
                <a:latin typeface="Archivo"/>
              </a:rPr>
              <a:t>Degrada com graça, não catastroficamente.</a:t>
            </a:r>
            <a:r>
              <a:rPr sz="980" b="0" i="0">
                <a:solidFill>
                  <a:srgbClr val="2E3439"/>
                </a:solidFill>
                <a:latin typeface="Archivo"/>
              </a:rPr>
              <a:t> Sem chave de API, um renderizador determinístico produz português correto a partir dos mesmos fatos e o relatório registra </a:t>
            </a:r>
            <a:r>
              <a:rPr sz="901" b="0" i="0">
                <a:solidFill>
                  <a:srgbClr val="2E3439"/>
                </a:solidFill>
                <a:latin typeface="IBM Plex Mono"/>
              </a:rPr>
              <a:t>narrative_mode: "deterministic_template"</a:t>
            </a:r>
            <a:r>
              <a:rPr sz="980" b="0" i="0">
                <a:solidFill>
                  <a:srgbClr val="2E3439"/>
                </a:solidFill>
                <a:latin typeface="Archivo"/>
              </a:rPr>
              <a:t>. Uma chave ausente deixa a carta menos fluente. Não pode deixá-la errada.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297428"/>
            <a:ext cx="4998720" cy="5227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80" b="1" i="0">
                <a:solidFill>
                  <a:srgbClr val="2E3439"/>
                </a:solidFill>
                <a:latin typeface="Archivo"/>
              </a:rPr>
              <a:t>Rivet orquestra; não calcula.</a:t>
            </a:r>
            <a:r>
              <a:rPr sz="980" b="0" i="0">
                <a:solidFill>
                  <a:srgbClr val="2E3439"/>
                </a:solidFill>
                <a:latin typeface="Archivo"/>
              </a:rPr>
              <a:t> O grafo é a superfície de auditoria: quem nunca viu o código lê a tela e sabe o que o sistema faz e em que ordem. A aritmética financeira fica atrás de uma API, em módulos testados.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3881120"/>
            <a:ext cx="4998720" cy="6969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80" b="1" i="0">
                <a:solidFill>
                  <a:srgbClr val="2E3439"/>
                </a:solidFill>
                <a:latin typeface="Archivo"/>
              </a:rPr>
              <a:t>Os prompts têm uma só origem.</a:t>
            </a:r>
            <a:r>
              <a:rPr sz="980" b="0" i="0">
                <a:solidFill>
                  <a:srgbClr val="2E3439"/>
                </a:solidFill>
                <a:latin typeface="Archivo"/>
              </a:rPr>
              <a:t> Todos vivem em inglês em </a:t>
            </a:r>
            <a:r>
              <a:rPr sz="901" b="0" i="0">
                <a:solidFill>
                  <a:srgbClr val="2E3439"/>
                </a:solidFill>
                <a:latin typeface="IBM Plex Mono"/>
              </a:rPr>
              <a:t>src/llm/prompts.js</a:t>
            </a:r>
            <a:r>
              <a:rPr sz="980" b="0" i="0">
                <a:solidFill>
                  <a:srgbClr val="2E3439"/>
                </a:solidFill>
                <a:latin typeface="Archivo"/>
              </a:rPr>
              <a:t>; </a:t>
            </a:r>
            <a:r>
              <a:rPr sz="901" b="0" i="0">
                <a:solidFill>
                  <a:srgbClr val="2E3439"/>
                </a:solidFill>
                <a:latin typeface="IBM Plex Mono"/>
              </a:rPr>
              <a:t>build-graph.mjs</a:t>
            </a:r>
            <a:r>
              <a:rPr sz="980" b="0" i="0">
                <a:solidFill>
                  <a:srgbClr val="2E3439"/>
                </a:solidFill>
                <a:latin typeface="Archivo"/>
              </a:rPr>
              <a:t> gera o projeto Rivet a partir dali e o Worker usa as mesmas strings. Os dois nunca divergem, e </a:t>
            </a:r>
            <a:r>
              <a:rPr sz="901" b="0" i="0">
                <a:solidFill>
                  <a:srgbClr val="2E3439"/>
                </a:solidFill>
                <a:latin typeface="IBM Plex Mono"/>
              </a:rPr>
              <a:t>PROMPT_VERSION</a:t>
            </a:r>
            <a:r>
              <a:rPr sz="980" b="0" i="0">
                <a:solidFill>
                  <a:srgbClr val="2E3439"/>
                </a:solidFill>
                <a:latin typeface="Archivo"/>
              </a:rPr>
              <a:t> vai no bloco de proveniência de cada relatório.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4640" y="1607312"/>
            <a:ext cx="499872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O guardrail do sistema, resumido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44640" y="1774952"/>
            <a:ext cx="4998720" cy="185928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6644640" y="1774952"/>
            <a:ext cx="0" cy="185928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766560" y="1866392"/>
            <a:ext cx="4785360" cy="1676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1. Every figure you write must appear verbatim in FACTS.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   Never compute, round, infer, annualise or estimate.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2. Never state a market fact that is not in FACTS.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3. Where FACTS marks DATA UNAVAILABLE, say so. Never fill the gap.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4. Never present a recommendation as an executed transaction.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5. Never present a historical measure as a forecast.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6. Facts are attributed to the data; views to the advisor.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7. Describe the loss before the gain. House style, not optional.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8. Short sentences. Average under 18 words.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9. Never: robust, headwind, navigate, landscape, journey,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   unlock, leverage (verb), poised, well-positioned.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4640" y="3801872"/>
            <a:ext cx="499872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Modelo em uso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4640" y="3969512"/>
            <a:ext cx="4998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28" b="0" i="0">
                <a:solidFill>
                  <a:srgbClr val="2E3439"/>
                </a:solidFill>
                <a:latin typeface="IBM Plex Mono"/>
              </a:rPr>
              <a:t>ANTHROPIC_MODEL = "claude-opus-5"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em </a:t>
            </a:r>
            <a:r>
              <a:rPr sz="828" b="0" i="0">
                <a:solidFill>
                  <a:srgbClr val="2E3439"/>
                </a:solidFill>
                <a:latin typeface="IBM Plex Mono"/>
              </a:rPr>
              <a:t>wrangler.toml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escrito na proveniência de cada relatório. </a:t>
            </a:r>
            <a:r>
              <a:rPr sz="828" b="0" i="0">
                <a:solidFill>
                  <a:srgbClr val="2E3439"/>
                </a:solidFill>
                <a:latin typeface="IBM Plex Mono"/>
              </a:rPr>
              <a:t>OPENAI_API_KEY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funciona como alternativa. Mesmos prompts, mesmo FACTS, mesma validação.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A regra 7 e a regra 9 vêm da identidade verbal do brand book. A regra 1 é a que a v0 não tinha.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src/llm/prompts.js · PROMPT_VERSION letter-2026-09-b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III · O que fizemos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O grafo Rivet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rivet/enter</a:t>
            </a:r>
            <a:r>
              <a:rPr sz="750" b="0" i="1" cap="all" spc="120">
                <a:solidFill>
                  <a:srgbClr val="5C6469"/>
                </a:solidFill>
                <a:latin typeface="IBM Plex Mono"/>
              </a:rPr>
              <a:t>wealth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advisor.rivet-project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gerado por npm run build:graph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Um orquestrador, nove estágios encadeados por um gate,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e um só que fala com o modelo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9200" y="1607312"/>
            <a:ext cx="10424160" cy="25908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1607312"/>
            <a:ext cx="4572000" cy="259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F1F4F5"/>
                </a:solidFill>
                <a:latin typeface="Archivo"/>
              </a:rPr>
              <a:t>00 · Monthly client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1607312"/>
            <a:ext cx="4983480" cy="259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A9B0B4"/>
                </a:solidFill>
                <a:latin typeface="IBM Plex Mono"/>
              </a:rPr>
              <a:t>um cliente, um mês · gate explícito entre estágios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19200" y="2140712"/>
            <a:ext cx="1066800" cy="70104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5400" y="220167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233883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Ingest client, policy and approved snapshot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290271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20" b="0" i="0">
                <a:solidFill>
                  <a:srgbClr val="5C6469"/>
                </a:solidFill>
                <a:latin typeface="IBM Plex Mono"/>
              </a:rPr>
              <a:t>D1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88870" y="2140712"/>
            <a:ext cx="1066800" cy="70104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465070" y="220167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5070" y="233883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Fetch and validate market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8870" y="290271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20" b="0" i="0">
                <a:solidFill>
                  <a:srgbClr val="5C6469"/>
                </a:solidFill>
                <a:latin typeface="IBM Plex Mono"/>
              </a:rPr>
              <a:t>Yahoo · TV · BCB · CG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286000" y="2491232"/>
            <a:ext cx="10287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558540" y="2140712"/>
            <a:ext cx="1066800" cy="70104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4740" y="220167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4740" y="233883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Profitability, attribution, benchmark,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8540" y="290271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20" b="0" i="0">
                <a:solidFill>
                  <a:srgbClr val="5C6469"/>
                </a:solidFill>
                <a:latin typeface="IBM Plex Mono"/>
              </a:rPr>
              <a:t>performance.js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455670" y="2491232"/>
            <a:ext cx="10287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728210" y="2140712"/>
            <a:ext cx="1066800" cy="70104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04410" y="220167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4410" y="233883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Indicators, thresholds, events, portfolio impact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28210" y="290271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20" b="0" i="0">
                <a:solidFill>
                  <a:srgbClr val="5C6469"/>
                </a:solidFill>
                <a:latin typeface="IBM Plex Mono"/>
              </a:rPr>
              <a:t>events · triggers.js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625340" y="2491232"/>
            <a:ext cx="10287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897880" y="2140712"/>
            <a:ext cx="1066800" cy="70104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74080" y="220167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74080" y="233883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TradingView: technical and analyst, apart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290271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20" b="0" i="0">
                <a:solidFill>
                  <a:srgbClr val="5C6469"/>
                </a:solidFill>
                <a:latin typeface="IBM Plex Mono"/>
              </a:rPr>
              <a:t>tradingview.js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795010" y="2491232"/>
            <a:ext cx="10287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7067550" y="2140712"/>
            <a:ext cx="1066800" cy="70104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143750" y="220167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43750" y="233883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Recommendations and the suitability guardrail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67550" y="290271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20" b="0" i="0">
                <a:solidFill>
                  <a:srgbClr val="5C6469"/>
                </a:solidFill>
                <a:latin typeface="IBM Plex Mono"/>
              </a:rPr>
              <a:t>recs · suitability.js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964680" y="2491232"/>
            <a:ext cx="10287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8237220" y="2140712"/>
            <a:ext cx="1066800" cy="701040"/>
          </a:xfrm>
          <a:prstGeom prst="rect">
            <a:avLst/>
          </a:prstGeom>
          <a:solidFill>
            <a:srgbClr val="D3E0EC"/>
          </a:solidFill>
          <a:ln w="16510">
            <a:solidFill>
              <a:srgbClr val="2F54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13420" y="220167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2F5476"/>
                </a:solidFill>
                <a:latin typeface="IBM Plex Mono"/>
              </a:rPr>
              <a:t>07 · LLM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3420" y="233883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Narrative: advisor view and client letter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37220" y="290271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20" b="0" i="0">
                <a:solidFill>
                  <a:srgbClr val="2F5476"/>
                </a:solidFill>
                <a:latin typeface="IBM Plex Mono"/>
              </a:rPr>
              <a:t>FACTS → claude-opus-5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34350" y="2491232"/>
            <a:ext cx="10287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9406890" y="2140712"/>
            <a:ext cx="1066800" cy="70104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483090" y="220167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3090" y="233883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Assemble and validate the canonical report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06890" y="290271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20" b="0" i="0">
                <a:solidFill>
                  <a:srgbClr val="5C6469"/>
                </a:solidFill>
                <a:latin typeface="IBM Plex Mono"/>
              </a:rPr>
              <a:t>report-schema.js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304020" y="2491232"/>
            <a:ext cx="10287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10576560" y="2140712"/>
            <a:ext cx="1066800" cy="70104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652760" y="220167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233883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Render HTML, PDF, portal view; persist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76560" y="290271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20" b="0" i="0">
                <a:solidFill>
                  <a:srgbClr val="5C6469"/>
                </a:solidFill>
                <a:latin typeface="IBM Plex Mono"/>
              </a:rPr>
              <a:t>R2 · D1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473690" y="2491232"/>
            <a:ext cx="10287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1109960" y="3039872"/>
            <a:ext cx="0" cy="167640"/>
          </a:xfrm>
          <a:prstGeom prst="line">
            <a:avLst/>
          </a:prstGeom>
          <a:ln w="12700">
            <a:solidFill>
              <a:srgbClr val="7C85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7600950" y="3207512"/>
            <a:ext cx="3509010" cy="0"/>
          </a:xfrm>
          <a:prstGeom prst="line">
            <a:avLst/>
          </a:prstGeom>
          <a:ln w="12700">
            <a:solidFill>
              <a:srgbClr val="7C85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600950" y="3039872"/>
            <a:ext cx="0" cy="167640"/>
          </a:xfrm>
          <a:prstGeom prst="line">
            <a:avLst/>
          </a:prstGeom>
          <a:ln w="12700">
            <a:solidFill>
              <a:srgbClr val="7C858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53200" y="3253232"/>
            <a:ext cx="498348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o 09 lê o portal: só recomendações aprovadas pelo assessor entram na carta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19200" y="3451352"/>
            <a:ext cx="4572000" cy="259080"/>
          </a:xfrm>
          <a:prstGeom prst="rect">
            <a:avLst/>
          </a:prstGeom>
          <a:solidFill>
            <a:srgbClr val="ECEEED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310640" y="3451352"/>
            <a:ext cx="2286000" cy="259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0B0D0E"/>
                </a:solidFill>
                <a:latin typeface="IBM Plex Mono"/>
              </a:rPr>
              <a:t>10 · Daily World Overview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71800" y="3451352"/>
            <a:ext cx="2743200" cy="259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entrada separada · uma vez por assessor, por manhã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74080" y="3451352"/>
            <a:ext cx="5669280" cy="259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Cada subgrafo carrega um nó de comentário dizendo o que garante. Sem o gate, o Rivet rodaria os nove de uma vez.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" y="3817112"/>
            <a:ext cx="10424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O estágio 07 é o único que fala com o modelo, e recebe apenas o objeto FACTS montado pelos seis anteriores. O 08 rejeita o relatório se qualquer cifra citar uma fonte que não está no ledger.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" y="4198112"/>
            <a:ext cx="329184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Como rodar.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</a:t>
            </a:r>
            <a:r>
              <a:rPr sz="828" b="0" i="0">
                <a:solidFill>
                  <a:srgbClr val="2E3439"/>
                </a:solidFill>
                <a:latin typeface="IBM Plex Mono"/>
              </a:rPr>
              <a:t>npm run run:report -- --client cli_albert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executa o grafo sem interface; o projeto abre direto no Rivet Desktop com </a:t>
            </a:r>
            <a:r>
              <a:rPr sz="828" b="0" i="0">
                <a:solidFill>
                  <a:srgbClr val="2E3439"/>
                </a:solidFill>
                <a:latin typeface="IBM Plex Mono"/>
              </a:rPr>
              <a:t>api_base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e </a:t>
            </a:r>
            <a:r>
              <a:rPr sz="828" b="0" i="0">
                <a:solidFill>
                  <a:srgbClr val="2E3439"/>
                </a:solidFill>
                <a:latin typeface="IBM Plex Mono"/>
              </a:rPr>
              <a:t>api_token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como entradas.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85360" y="4198112"/>
            <a:ext cx="329184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Método escolhido pelo dado.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TWR onde há valorização diária de toda a carteira; Modified Dietz onde as cotas de fundo são de fim de mês. A premissa é declarada na carta.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51520" y="4198112"/>
            <a:ext cx="329184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Atribuição fecha.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A soma das contribuições reconcilia exatamente com o retorno reportado, incluindo uma linha residual de caixa e posições sem preço.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Ordem que carrega informação: cada estágio depende do anterior, por isso os números na tela.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rivet/build-graph.mjs · README “The Rivet graph”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III · O que fizemos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Arquitetura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duas origens, um 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wrangler.toml · .github/workflows/pages.yml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Estático no GitHub Pages, tudo que tem estado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num Worker da Cloudflare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9200" y="1607312"/>
            <a:ext cx="15240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95400" y="1653032"/>
            <a:ext cx="13716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Portal · GitHub Pages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400" y="1790192"/>
            <a:ext cx="13716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joaocreste.github.io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19200" y="2201672"/>
            <a:ext cx="15240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5400" y="2247392"/>
            <a:ext cx="13716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Rivet · o grafo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2384552"/>
            <a:ext cx="13716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HTTP + SERVICE_TOKEN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19200" y="2796032"/>
            <a:ext cx="15240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5400" y="2841752"/>
            <a:ext cx="13716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Cron · 07:00 São Paulo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5400" y="2978912"/>
            <a:ext cx="13716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0 10 * * *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1607312"/>
            <a:ext cx="1905000" cy="156972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35680" y="1683512"/>
            <a:ext cx="1752600" cy="144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850" b="1" i="0">
                <a:solidFill>
                  <a:srgbClr val="F1F4F5"/>
                </a:solidFill>
                <a:latin typeface="Archivo"/>
              </a:rPr>
              <a:t>Cloudflare Worker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650" b="0" i="0">
                <a:solidFill>
                  <a:srgbClr val="A9B0B4"/>
                </a:solidFill>
                <a:latin typeface="IBM Plex Mono"/>
              </a:rPr>
              <a:t>enter-wealth-advisor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750" b="0" i="0">
                <a:solidFill>
                  <a:srgbClr val="F1F4F5"/>
                </a:solidFill>
                <a:latin typeface="Archivo"/>
              </a:rPr>
              <a:t>/api · auth, scope, links assinados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750" b="0" i="0">
                <a:solidFill>
                  <a:srgbClr val="F1F4F5"/>
                </a:solidFill>
                <a:latin typeface="Archivo"/>
              </a:rPr>
              <a:t>pipeline: os passos que o Rivet chama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50" b="0" i="0">
                <a:solidFill>
                  <a:srgbClr val="F1F4F5"/>
                </a:solidFill>
                <a:latin typeface="Archivo"/>
              </a:rPr>
              <a:t>agents: Dados → Inferência → Gatilhos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650" b="0" i="0">
                <a:solidFill>
                  <a:srgbClr val="A9B0B4"/>
                </a:solidFill>
                <a:latin typeface="IBM Plex Mono"/>
              </a:rPr>
              <a:t>Workflow durável, um step por agente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750" b="0" i="0">
                <a:solidFill>
                  <a:srgbClr val="F1F4F5"/>
                </a:solidFill>
                <a:latin typeface="Archivo"/>
              </a:rPr>
              <a:t>series: históricos diários em R2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750" b="0" i="0">
                <a:solidFill>
                  <a:srgbClr val="F1F4F5"/>
                </a:solidFill>
                <a:latin typeface="Archivo"/>
              </a:rPr>
              <a:t>llm: FACTS → modelo, saída validada</a:t>
            </a:r>
          </a:p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A9B0B4"/>
                </a:solidFill>
                <a:latin typeface="IBM Plex Mono"/>
              </a:rPr>
              <a:t>ENVIRONMENT = production por padrão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43200" y="1797812"/>
            <a:ext cx="6858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743200" y="1675892"/>
            <a:ext cx="68580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00" b="0" i="0">
                <a:solidFill>
                  <a:srgbClr val="5C6469"/>
                </a:solidFill>
                <a:latin typeface="IBM Plex Mono"/>
              </a:rPr>
              <a:t>CORS allowlist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0" y="2392172"/>
            <a:ext cx="6858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0" y="2270252"/>
            <a:ext cx="68580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00" b="0" i="0">
                <a:solidFill>
                  <a:srgbClr val="5C6469"/>
                </a:solidFill>
                <a:latin typeface="IBM Plex Mono"/>
              </a:rPr>
              <a:t>POST /api/pipeline/*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743200" y="2986532"/>
            <a:ext cx="6858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743200" y="2864612"/>
            <a:ext cx="68580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00" b="0" i="0">
                <a:solidFill>
                  <a:srgbClr val="5C6469"/>
                </a:solidFill>
                <a:latin typeface="IBM Plex Mono"/>
              </a:rPr>
              <a:t>scheduled()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1607312"/>
            <a:ext cx="1676400" cy="335280"/>
          </a:xfrm>
          <a:prstGeom prst="rect">
            <a:avLst/>
          </a:prstGeom>
          <a:solidFill>
            <a:srgbClr val="ECEEED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19800" y="1653032"/>
            <a:ext cx="1524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D1 · registro relacional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19800" y="1790192"/>
            <a:ext cx="1524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clientes, políticas, snapshots, runs, aprovações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34000" y="1774952"/>
            <a:ext cx="6096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5943600" y="2018792"/>
            <a:ext cx="1676400" cy="335280"/>
          </a:xfrm>
          <a:prstGeom prst="rect">
            <a:avLst/>
          </a:prstGeom>
          <a:solidFill>
            <a:srgbClr val="ECEEED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19800" y="2064512"/>
            <a:ext cx="1524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R2 · enter-wealth-reports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19800" y="2201672"/>
            <a:ext cx="1524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PDFs, HTML, snapshots · imutáveis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34000" y="2186432"/>
            <a:ext cx="6096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943600" y="2430272"/>
            <a:ext cx="1676400" cy="335280"/>
          </a:xfrm>
          <a:prstGeom prst="rect">
            <a:avLst/>
          </a:prstGeom>
          <a:solidFill>
            <a:srgbClr val="ECEEED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19800" y="2475992"/>
            <a:ext cx="1524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R2 · enter-wealth-market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9800" y="2613152"/>
            <a:ext cx="1524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séries diárias, 5 anos · anexadas pelo cron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334000" y="2597912"/>
            <a:ext cx="6096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943600" y="2841752"/>
            <a:ext cx="1676400" cy="335280"/>
          </a:xfrm>
          <a:prstGeom prst="rect">
            <a:avLst/>
          </a:prstGeom>
          <a:solidFill>
            <a:srgbClr val="ECEEED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19800" y="2887472"/>
            <a:ext cx="1524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KV · cache de provedores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9800" y="3024632"/>
            <a:ext cx="1524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nunca a fonte de um registro de carteira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334000" y="3009392"/>
            <a:ext cx="6096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429000" y="3405632"/>
            <a:ext cx="42672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CADEIA DE PROVEDORES · cada resposta devolve um source record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29000" y="3542792"/>
            <a:ext cx="114300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505200" y="3588512"/>
            <a:ext cx="9906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Yahoo Finance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05200" y="3725672"/>
            <a:ext cx="9906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preços, históricos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572000" y="3695192"/>
            <a:ext cx="1524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4724400" y="3542792"/>
            <a:ext cx="114300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00600" y="3588512"/>
            <a:ext cx="9906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TradingView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3725672"/>
            <a:ext cx="9906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fallback · técnico · analistas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67400" y="3695192"/>
            <a:ext cx="1524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6019800" y="3542792"/>
            <a:ext cx="1600200" cy="304800"/>
          </a:xfrm>
          <a:prstGeom prst="rect">
            <a:avLst/>
          </a:prstGeom>
          <a:solidFill>
            <a:srgbClr val="FCF5F4"/>
          </a:solidFill>
          <a:ln w="11430">
            <a:solidFill>
              <a:srgbClr val="AE4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096000" y="3588512"/>
            <a:ext cx="14478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43A34"/>
                </a:solidFill>
                <a:latin typeface="Archivo"/>
              </a:rPr>
              <a:t>DATA UNAVAILABLE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0" y="3725672"/>
            <a:ext cx="14478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contribui zero · provedores tentados · na carta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29000" y="3954272"/>
            <a:ext cx="129540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505200" y="3999992"/>
            <a:ext cx="1143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Banco Central do Brasil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05200" y="4137152"/>
            <a:ext cx="1143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CDI, Selic, IPCA, PTAX · autoritativo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31080" y="3954272"/>
            <a:ext cx="99060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907280" y="3999992"/>
            <a:ext cx="8382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CoinGecko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07280" y="4137152"/>
            <a:ext cx="8382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ativos digitais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28360" y="3954272"/>
            <a:ext cx="169164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004560" y="3999992"/>
            <a:ext cx="153924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B0D0E"/>
                </a:solidFill>
                <a:latin typeface="Archivo"/>
              </a:rPr>
              <a:t>Valor Econômico · RSS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04560" y="4137152"/>
            <a:ext cx="153924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50" b="0" i="0">
                <a:solidFill>
                  <a:srgbClr val="5C6469"/>
                </a:solidFill>
                <a:latin typeface="IBM Plex Mono"/>
              </a:rPr>
              <a:t>6 feeds, 36 horas, cada linha com link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9200" y="4396232"/>
            <a:ext cx="6400800" cy="350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O portal e a API vivem em origens diferentes de propósito. A seta que mais importa é a do meio da cadeia: quando Yahoo falha, o TradingView entra com fallback_for registrado; quando nada é confiável, a posição vira DATA UNAVAILABLE em vez de um número velho.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24800" y="1607312"/>
            <a:ext cx="371856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Escolhas que custam pouco agora e muito depois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24800" y="1805432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Origens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6800" y="1790192"/>
            <a:ext cx="2956560" cy="6116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791" b="0" i="0">
                <a:solidFill>
                  <a:srgbClr val="2E3439"/>
                </a:solidFill>
                <a:latin typeface="IBM Plex Mono"/>
              </a:rPr>
              <a:t>web/shared/config.js</a:t>
            </a:r>
            <a:r>
              <a:rPr sz="860" b="0" i="0">
                <a:solidFill>
                  <a:srgbClr val="2E3439"/>
                </a:solidFill>
                <a:latin typeface="Archivo"/>
              </a:rPr>
              <a:t> resolve a API pelo hostname em tempo de execução: os mesmos arquivos servem </a:t>
            </a:r>
            <a:r>
              <a:rPr sz="791" b="0" i="0">
                <a:solidFill>
                  <a:srgbClr val="2E3439"/>
                </a:solidFill>
                <a:latin typeface="IBM Plex Mono"/>
              </a:rPr>
              <a:t>wrangler dev</a:t>
            </a:r>
            <a:r>
              <a:rPr sz="860" b="0" i="0">
                <a:solidFill>
                  <a:srgbClr val="2E3439"/>
                </a:solidFill>
                <a:latin typeface="Archivo"/>
              </a:rPr>
              <a:t> e o Pages. Nada é injetado no build.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924800" y="2462784"/>
            <a:ext cx="37185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924800" y="2538984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Deploy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86800" y="2523744"/>
            <a:ext cx="2956560" cy="4587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O workflow do Pages se recusa a publicar enquanto </a:t>
            </a:r>
            <a:r>
              <a:rPr sz="791" b="0" i="0">
                <a:solidFill>
                  <a:srgbClr val="2E3439"/>
                </a:solidFill>
                <a:latin typeface="IBM Plex Mono"/>
              </a:rPr>
              <a:t>config.js</a:t>
            </a:r>
            <a:r>
              <a:rPr sz="860" b="0" i="0">
                <a:solidFill>
                  <a:srgbClr val="2E3439"/>
                </a:solidFill>
                <a:latin typeface="Archivo"/>
              </a:rPr>
              <a:t> apontar para um Worker que não existe. Um portal sem API é pior que nenhum portal.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924800" y="3043428"/>
            <a:ext cx="37185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924800" y="3119628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Auth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86800" y="3104388"/>
            <a:ext cx="2956560" cy="4587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Um token de API da Cloudflare substitui o </a:t>
            </a:r>
            <a:r>
              <a:rPr sz="791" b="0" i="0">
                <a:solidFill>
                  <a:srgbClr val="2E3439"/>
                </a:solidFill>
                <a:latin typeface="IBM Plex Mono"/>
              </a:rPr>
              <a:t>wrangler login</a:t>
            </a:r>
            <a:r>
              <a:rPr sz="860" b="0" i="0">
                <a:solidFill>
                  <a:srgbClr val="2E3439"/>
                </a:solidFill>
                <a:latin typeface="Archivo"/>
              </a:rPr>
              <a:t> interativo, que trava numa porta ocupada ou numa conta errada do navegador.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924800" y="3624072"/>
            <a:ext cx="37185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924800" y="3700272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Access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0" y="3685032"/>
            <a:ext cx="2956560" cy="4587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Atrás de um Cloudflare Access, o portal lê a identidade de </a:t>
            </a:r>
            <a:r>
              <a:rPr sz="791" b="0" i="0">
                <a:solidFill>
                  <a:srgbClr val="2E3439"/>
                </a:solidFill>
                <a:latin typeface="IBM Plex Mono"/>
              </a:rPr>
              <a:t>Cf-Access-Authenticated-User-Email</a:t>
            </a:r>
            <a:r>
              <a:rPr sz="860" b="0" i="0">
                <a:solidFill>
                  <a:srgbClr val="2E3439"/>
                </a:solidFill>
                <a:latin typeface="Archivo"/>
              </a:rPr>
              <a:t>. E-mail e senha ficam como fallback local.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924800" y="4204716"/>
            <a:ext cx="37185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7924800" y="4280916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Comandos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686800" y="4265676"/>
            <a:ext cx="2956560" cy="4587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791" b="0" i="0">
                <a:solidFill>
                  <a:srgbClr val="2E3439"/>
                </a:solidFill>
                <a:latin typeface="IBM Plex Mono"/>
              </a:rPr>
              <a:t>setup:cloudflare</a:t>
            </a:r>
            <a:r>
              <a:rPr sz="860" b="0" i="0">
                <a:solidFill>
                  <a:srgbClr val="2E3439"/>
                </a:solidFill>
                <a:latin typeface="Archivo"/>
              </a:rPr>
              <a:t> cria D1, KV e R2, define os segredos e migra; </a:t>
            </a:r>
            <a:r>
              <a:rPr sz="791" b="0" i="0">
                <a:solidFill>
                  <a:srgbClr val="2E3439"/>
                </a:solidFill>
                <a:latin typeface="IBM Plex Mono"/>
              </a:rPr>
              <a:t>deploy:worker</a:t>
            </a:r>
            <a:r>
              <a:rPr sz="860" b="0" i="0">
                <a:solidFill>
                  <a:srgbClr val="2E3439"/>
                </a:solidFill>
                <a:latin typeface="Archivo"/>
              </a:rPr>
              <a:t> publica e escreve a URL no portal.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24800" y="4876800"/>
            <a:ext cx="371856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Em produção hoje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24800" y="5074920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Portal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6800" y="5059680"/>
            <a:ext cx="2956560" cy="1529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joaocreste.github.io/enter-wealth-management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7924800" y="5273548"/>
            <a:ext cx="37185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7924800" y="5349748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API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0" y="5334508"/>
            <a:ext cx="2956560" cy="1529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enter-wealth-advisor.joaocreste-8da.workers.dev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Agosto de 2026 está publicado na base implantada, precificado ao vivo pelos provedores no momento da execução.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wrangler.toml · scripts/setup-cloudflare.mjs · scripts/deploy-worker.mjs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III · O que fizemos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O resultado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Albert da Silva, agosto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dados ao vivo · 27 source records persistidos com o relatório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Um mês negativo, dito na primeira linha,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com cada cifra rastreável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19200" y="1607312"/>
            <a:ext cx="563880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19200" y="1729232"/>
            <a:ext cx="12954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Retorno do mês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1896872"/>
            <a:ext cx="13335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0" i="0" spc="-50">
                <a:solidFill>
                  <a:srgbClr val="943A34"/>
                </a:solidFill>
                <a:latin typeface="Archivo"/>
              </a:rPr>
              <a:t>−1,20%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2216912"/>
            <a:ext cx="1219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5C6469"/>
                </a:solidFill>
                <a:latin typeface="Archivo"/>
              </a:rPr>
              <a:t>Modified Dietz, escolhido pelo dado: as cotas de fundo são de fim de mês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1729232"/>
            <a:ext cx="12954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Benchmark de política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8900" y="1896872"/>
            <a:ext cx="13335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0" i="0" spc="-50">
                <a:solidFill>
                  <a:srgbClr val="2F5476"/>
                </a:solidFill>
                <a:latin typeface="Archivo"/>
              </a:rPr>
              <a:t>+1,76%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8900" y="2216912"/>
            <a:ext cx="1219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5C6469"/>
                </a:solidFill>
                <a:latin typeface="Archivo"/>
              </a:rPr>
              <a:t>a alocação-alvo do próprio cliente, precificada com séries reais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52700" y="1683512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38600" y="1729232"/>
            <a:ext cx="12954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Excesso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38600" y="1896872"/>
            <a:ext cx="13335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0" i="0" spc="-50">
                <a:solidFill>
                  <a:srgbClr val="943A34"/>
                </a:solidFill>
                <a:latin typeface="Archivo"/>
              </a:rPr>
              <a:t>−2,96 p.p.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8600" y="2216912"/>
            <a:ext cx="1219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5C6469"/>
                </a:solidFill>
                <a:latin typeface="Archivo"/>
              </a:rPr>
              <a:t>a distância até a política, não até um índice escolhido depois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62400" y="1683512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48300" y="1729232"/>
            <a:ext cx="12954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Efeito câmbio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8300" y="1896872"/>
            <a:ext cx="13335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0" i="0" spc="-50">
                <a:solidFill>
                  <a:srgbClr val="285E3F"/>
                </a:solidFill>
                <a:latin typeface="Archivo"/>
              </a:rPr>
              <a:t>+0,16 p.p.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8300" y="2216912"/>
            <a:ext cx="1219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5C6469"/>
                </a:solidFill>
                <a:latin typeface="Archivo"/>
              </a:rPr>
              <a:t>o que veio da moeda, decomposto do que veio dos ativos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72100" y="1683512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19200" y="2719832"/>
            <a:ext cx="56388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219200" y="2872232"/>
            <a:ext cx="56388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Carteira contra benchmark, mesma escala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9200" y="3085592"/>
            <a:ext cx="1143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Carteira do Albert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8818" y="3070352"/>
            <a:ext cx="899907" cy="167640"/>
          </a:xfrm>
          <a:prstGeom prst="rect">
            <a:avLst/>
          </a:prstGeom>
          <a:solidFill>
            <a:srgbClr val="AE4F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24600" y="3085592"/>
            <a:ext cx="5334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860" b="1" i="0">
                <a:solidFill>
                  <a:srgbClr val="943A34"/>
                </a:solidFill>
                <a:latin typeface="Archivo"/>
              </a:rPr>
              <a:t>−1,20%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9200" y="3375152"/>
            <a:ext cx="1143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Benchmark de política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68725" y="3359912"/>
            <a:ext cx="1318382" cy="167640"/>
          </a:xfrm>
          <a:prstGeom prst="rect">
            <a:avLst/>
          </a:prstGeom>
          <a:solidFill>
            <a:srgbClr val="2F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24600" y="3375152"/>
            <a:ext cx="5334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860" b="1" i="0">
                <a:solidFill>
                  <a:srgbClr val="2F5476"/>
                </a:solidFill>
                <a:latin typeface="Archivo"/>
              </a:rPr>
              <a:t>+1,76%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68725" y="3009392"/>
            <a:ext cx="0" cy="563880"/>
          </a:xfrm>
          <a:prstGeom prst="line">
            <a:avLst/>
          </a:prstGeom>
          <a:ln w="1270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19200" y="3664712"/>
            <a:ext cx="56388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A linha da carteira em tinta, o benchmark em azul: a regra §10.2 vale para a barra também. Um mês. Nada aqui é expectativa.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9200" y="3893312"/>
            <a:ext cx="56388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Integridade do dado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9200" y="4060952"/>
            <a:ext cx="5638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ARZZ3 e MRFG3 detectados como sem preço após as combinações societárias; sucessores AZZA3 e MBRF3 mapeados com custo de aquisição carregado. As cotas dos FIC seguem simuladas e marcadas em cada superfície: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9200" y="4487672"/>
            <a:ext cx="499872" cy="137160"/>
          </a:xfrm>
          <a:prstGeom prst="rect">
            <a:avLst/>
          </a:prstGeom>
          <a:noFill/>
          <a:ln w="9525">
            <a:solidFill>
              <a:srgbClr val="8F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219200" y="4487672"/>
            <a:ext cx="49987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650" b="0" i="0" cap="all" spc="100">
                <a:solidFill>
                  <a:srgbClr val="8F6B1F"/>
                </a:solidFill>
                <a:latin typeface="IBM Plex Mono"/>
              </a:rPr>
              <a:t>simulado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1607312"/>
            <a:ext cx="432816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O guardrail, aplicado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180543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Riza Lotus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0" y="1790192"/>
            <a:ext cx="3261360" cy="4800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14,0% contra teto de 12% por emissor.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Redução obrigatória. Não há sinal de mercado para um FIC; é o enquadramento que fala.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15200" y="2338832"/>
            <a:ext cx="4328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0" y="242265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Hapvida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0" y="2407412"/>
            <a:ext cx="326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Pior contribuinte: −1,79 p.p.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Rating técnico SELL, onze analistas BUY. O conflito vai ao topo da fila do assessor, e a nota 5 do ativo contra o perfil Moderado diz </a:t>
            </a:r>
            <a:r>
              <a:rPr sz="900" b="0" i="1">
                <a:solidFill>
                  <a:srgbClr val="2E3439"/>
                </a:solidFill>
                <a:latin typeface="Archivo"/>
              </a:rPr>
              <a:t>não adicionar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315200" y="3116072"/>
            <a:ext cx="4328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15200" y="319989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Imobiliário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0" y="3184652"/>
            <a:ext cx="3261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0% contra piso de 3%.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Dois candidatos propostos (HGLG11 entre eles), a decisão é do assessor.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315200" y="3573272"/>
            <a:ext cx="4328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315200" y="365709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Sem cobertura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82000" y="3641852"/>
            <a:ext cx="3261360" cy="4800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Quatro instrumentos sem consenso de analistas. O registro diz </a:t>
            </a:r>
            <a:r>
              <a:rPr sz="900" b="0" i="1">
                <a:solidFill>
                  <a:srgbClr val="2E3439"/>
                </a:solidFill>
                <a:latin typeface="Archivo"/>
              </a:rPr>
              <a:t>No analyst consensus available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; o rating técnico nunca é usado para inferi-lo.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315200" y="4342892"/>
            <a:ext cx="0" cy="563880"/>
          </a:xfrm>
          <a:prstGeom prst="line">
            <a:avLst/>
          </a:prstGeom>
          <a:ln w="19050">
            <a:solidFill>
              <a:srgbClr val="B59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467600" y="4358132"/>
            <a:ext cx="41148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As duas linhas, sempre impressas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67600" y="4525772"/>
            <a:ext cx="41148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0B0D0E"/>
                </a:solidFill>
                <a:latin typeface="IBM Plex Mono"/>
              </a:rPr>
              <a:t>MERCADO        TECHNICAL: SELL · ANALYST: BUY (CONFLICT)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0B0D0E"/>
                </a:solidFill>
                <a:latin typeface="IBM Plex Mono"/>
              </a:rPr>
              <a:t>ENQUADRAMENTO  DO NOT ADD / DISCUSS ONLY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Um sinal de mercado não é um resultado de cliente. A camada de suitability roda à parte e só pode tornar uma recomendação mais conservadora.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docs/implementation-report.md §3 · src/core/suitability.js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III · O que fizemos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Os portais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assessor e cliente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web/advisor · web/client · o mesmo Worker serve os dois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A bordo, cada um vê o que lhe cabe: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o assessor, as carteiras; o cliente, a própria</a:t>
            </a:r>
          </a:p>
        </p:txBody>
      </p:sp>
      <p:pic>
        <p:nvPicPr>
          <p:cNvPr id="14" name="Picture 13" descr="01-advisor-world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607312"/>
            <a:ext cx="3352800" cy="2148187"/>
          </a:xfrm>
          <a:prstGeom prst="rect">
            <a:avLst/>
          </a:prstGeom>
          <a:ln w="9525">
            <a:solidFill>
              <a:srgbClr val="D3D8D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1219200" y="3831699"/>
            <a:ext cx="33528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80" b="1" i="0">
                <a:solidFill>
                  <a:srgbClr val="5C6469"/>
                </a:solidFill>
                <a:latin typeface="Archivo"/>
              </a:rPr>
              <a:t>World Overview.</a:t>
            </a:r>
            <a:r>
              <a:rPr sz="780" b="0" i="0">
                <a:solidFill>
                  <a:srgbClr val="5C6469"/>
                </a:solidFill>
                <a:latin typeface="Archivo"/>
              </a:rPr>
              <a:t> A história do dia com fonte citada, dezoito indicadores em quatro classes com variação no mês, gatilhos de mercado e desvios de alocação como barras de proximidade.</a:t>
            </a:r>
          </a:p>
        </p:txBody>
      </p:sp>
      <p:pic>
        <p:nvPicPr>
          <p:cNvPr id="16" name="Picture 15" descr="05-recommendations-suitabil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607312"/>
            <a:ext cx="3352800" cy="2148187"/>
          </a:xfrm>
          <a:prstGeom prst="rect">
            <a:avLst/>
          </a:prstGeom>
          <a:ln w="9525">
            <a:solidFill>
              <a:srgbClr val="D3D8DA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754880" y="3831699"/>
            <a:ext cx="33528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80" b="1" i="0">
                <a:solidFill>
                  <a:srgbClr val="5C6469"/>
                </a:solidFill>
                <a:latin typeface="Archivo"/>
              </a:rPr>
              <a:t>Recomendações e suitability.</a:t>
            </a:r>
            <a:r>
              <a:rPr sz="780" b="0" i="0">
                <a:solidFill>
                  <a:srgbClr val="5C6469"/>
                </a:solidFill>
                <a:latin typeface="Archivo"/>
              </a:rPr>
              <a:t> Por ativo: mercado e enquadramento lado a lado, leitura técnica, consenso, faixa de política, concentração, liquidez. Aprovar ou rejeitar é a porta da carta.</a:t>
            </a:r>
          </a:p>
        </p:txBody>
      </p:sp>
      <p:pic>
        <p:nvPicPr>
          <p:cNvPr id="18" name="Picture 17" descr="09-client-lett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560" y="1607312"/>
            <a:ext cx="3352800" cy="2148187"/>
          </a:xfrm>
          <a:prstGeom prst="rect">
            <a:avLst/>
          </a:prstGeom>
          <a:ln w="9525">
            <a:solidFill>
              <a:srgbClr val="D3D8D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290560" y="3831699"/>
            <a:ext cx="33528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80" b="1" i="0">
                <a:solidFill>
                  <a:srgbClr val="5C6469"/>
                </a:solidFill>
                <a:latin typeface="Archivo"/>
              </a:rPr>
              <a:t>Portal do cliente.</a:t>
            </a:r>
            <a:r>
              <a:rPr sz="780" b="0" i="0">
                <a:solidFill>
                  <a:srgbClr val="5C6469"/>
                </a:solidFill>
                <a:latin typeface="Archivo"/>
              </a:rPr>
              <a:t> Carteira, o mês e a carta, renderizada do mesmo objeto canônico do PDF. O escopo é imposto numa só função, </a:t>
            </a:r>
            <a:r>
              <a:rPr sz="717" b="0" i="0">
                <a:solidFill>
                  <a:srgbClr val="5C6469"/>
                </a:solidFill>
                <a:latin typeface="IBM Plex Mono"/>
              </a:rPr>
              <a:t>resolveClientScope</a:t>
            </a:r>
            <a:r>
              <a:rPr sz="780" b="0" i="0">
                <a:solidFill>
                  <a:srgbClr val="5C6469"/>
                </a:solidFill>
                <a:latin typeface="Archivo"/>
              </a:rPr>
              <a:t>, em toda rota de cliente.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4487019"/>
            <a:ext cx="50292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Assessor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9200" y="4654659"/>
            <a:ext cx="50292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80" b="0" i="0">
                <a:solidFill>
                  <a:srgbClr val="2E3439"/>
                </a:solidFill>
                <a:latin typeface="Archivo"/>
              </a:rPr>
              <a:t>World Overview · carteira de clientes (cinco, com políticas e snapshots versionados) · Sinais de mercado com universo monitorado, matriz de correlação e o gráfico risco-retorno com a fronteira eficiente · performance e atribuição · recomendações e suitability · preparação de reunião · editor de carteira que cria um novo snapshot em vez de alterar o antigo · aba de auditoria com cada run, source record e aprovação.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4160" y="4487019"/>
            <a:ext cx="50292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O desenho, no portal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4160" y="4654659"/>
            <a:ext cx="50292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80" b="0" i="0">
                <a:solidFill>
                  <a:srgbClr val="2E3439"/>
                </a:solidFill>
                <a:latin typeface="Archivo"/>
              </a:rPr>
              <a:t>Um trilho de tinta, uma página de papel com filete de 2px no cabeçalho. Seções numeradas como um livro-razão. Os gráficos se pintam com tokens CSS, então o alternador claro/escuro repinta sem re-render. A sessão é do navegador; a trilha diz sempre onde você está.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Treze telas capturadas de uma execução real vivem em docs/screens/, com o PDF e o e-mail gerados.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web/shared/app.css · web/shared/ui.js · web/advisor/app.js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III · O que fizemos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A carta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uma carga, três saídas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src/render · letter-model.js · html-email.js · pdf/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Duas páginas são duas páginas: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o motor mede antes de desenhar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1607312"/>
            <a:ext cx="45720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1" i="0">
                <a:solidFill>
                  <a:srgbClr val="2E3439"/>
                </a:solidFill>
                <a:latin typeface="Archivo"/>
              </a:rPr>
              <a:t>Um objeto canônico.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 O e-mail HTML, o PDF de duas páginas e a vista no portal renderizam do mesmo relatório validado, então não podem discordar. O script de demonstração afirma isso a cada execução.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180336"/>
            <a:ext cx="4572000" cy="682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1" i="0">
                <a:solidFill>
                  <a:srgbClr val="2E3439"/>
                </a:solidFill>
                <a:latin typeface="Archivo"/>
              </a:rPr>
              <a:t>Um motor escrito do zero.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 Sem biblioteca de PDF: o motor embute Archivo e Newsreader como CIDFontType2, para que os acentos do português e o sinal de menos verdadeiro (U+2212) saiam certos, e mede cada bloco antes de desenhá-lo.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2924048"/>
            <a:ext cx="4572000" cy="853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1" i="0">
                <a:solidFill>
                  <a:srgbClr val="2E3439"/>
                </a:solidFill>
                <a:latin typeface="Archivo"/>
              </a:rPr>
              <a:t>Se não couber, corta na ordem certa.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 Quando o conteúdo iria para uma terceira página, o motor descarta blocos opcionais numa ordem fixa e registra qual nível precisou. O gráfico de contribuição é a última coisa a sair. Uma restrição checada no fim é uma restrição violada em produção.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3838448"/>
            <a:ext cx="45720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1" i="0">
                <a:solidFill>
                  <a:srgbClr val="2E3439"/>
                </a:solidFill>
                <a:latin typeface="Archivo"/>
              </a:rPr>
              <a:t>A fonte na linha da carta.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 Os FIC brasileiros não têm feed público; a resposta honesta é “o extrato do custodiante”, e é isso que a linha de fonte diz.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4472432"/>
            <a:ext cx="45720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O que a carta responde, todo mês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4670552"/>
            <a:ext cx="304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4655312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Quanto andamos. A perda primeiro, com período, base e origem em cada cifra.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19200" y="5036312"/>
            <a:ext cx="45720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219200" y="5112512"/>
            <a:ext cx="304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76400" y="5097272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O que o vento fez. Só os eventos que tocam as posições dele, com fonte.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19200" y="5478272"/>
            <a:ext cx="457200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219200" y="5554472"/>
            <a:ext cx="304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76400" y="5539232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2E3439"/>
                </a:solidFill>
                <a:latin typeface="Archivo"/>
              </a:rPr>
              <a:t>O que ajustar no próximo bordo. Pontos para a reunião, aprovados pelo assessor.</a:t>
            </a:r>
          </a:p>
        </p:txBody>
      </p:sp>
      <p:pic>
        <p:nvPicPr>
          <p:cNvPr id="27" name="Picture 26" descr="pdf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7312"/>
            <a:ext cx="2590800" cy="3661107"/>
          </a:xfrm>
          <a:prstGeom prst="rect">
            <a:avLst/>
          </a:prstGeom>
          <a:ln w="9525">
            <a:solidFill>
              <a:srgbClr val="D3D8DA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6217920" y="5329379"/>
            <a:ext cx="2590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Página 1 · carta-mensal-albert-agosto-2026.pdf</a:t>
            </a:r>
          </a:p>
        </p:txBody>
      </p:sp>
      <p:pic>
        <p:nvPicPr>
          <p:cNvPr id="29" name="Picture 28" descr="pdf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607312"/>
            <a:ext cx="2590800" cy="3661107"/>
          </a:xfrm>
          <a:prstGeom prst="rect">
            <a:avLst/>
          </a:prstGeom>
          <a:ln w="9525">
            <a:solidFill>
              <a:srgbClr val="D3D8DA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9052560" y="5329379"/>
            <a:ext cx="2590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Página 2 · atribuição, pontos de conversa, fontes e disclosure a 11pt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O e-mail é renderizado e armazenado, não enviado. Adicionar um provedor é um adaptador.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src/render/pdf/letter.js · src/render/pdf/writer.js · scripts/build-fonts.mjs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III · O que fizemos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Os agentes diários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worker/src/agents.js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Cloudflare Workflow · cron às 07:00 de São Paulo · ou o botão “atualizar dados de mercado”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1130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Três agentes reconstroem o World Overview toda manhã,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e nenhum deles escreve um número que não esteja nos fatos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9200" y="1984248"/>
            <a:ext cx="3200400" cy="134112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2045208"/>
            <a:ext cx="2987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1 · DADOS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197608"/>
            <a:ext cx="298704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740" b="0" i="0">
                <a:solidFill>
                  <a:srgbClr val="0B0D0E"/>
                </a:solidFill>
                <a:latin typeface="Archivo"/>
              </a:rPr>
              <a:t>Cada indicador com o movimento do dia (Yahoo, BCB, CoinGecko); cinco sessões e trinta dias medidos nas séries em R2; eventos curados e eventos gerados de movimentos notáveis.</a:t>
            </a:r>
          </a:p>
          <a:p>
            <a:pPr algn="l">
              <a:lnSpc>
                <a:spcPct val="130000"/>
              </a:lnSpc>
            </a:pPr>
            <a:r>
              <a:rPr sz="740" b="0" i="0">
                <a:solidFill>
                  <a:srgbClr val="0B0D0E"/>
                </a:solidFill>
                <a:latin typeface="Archivo"/>
              </a:rPr>
              <a:t>Valor Econômico: seis feeds, 36 horas; as linhas que citam as mesmas pessoas e instituições se agrupam; o maior grupo é a história do dia. Um fato sobre a redação, calculado em código.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1984248"/>
            <a:ext cx="3352800" cy="1341120"/>
          </a:xfrm>
          <a:prstGeom prst="rect">
            <a:avLst/>
          </a:prstGeom>
          <a:solidFill>
            <a:srgbClr val="D3E0EC"/>
          </a:solidFill>
          <a:ln w="16510">
            <a:solidFill>
              <a:srgbClr val="2F54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07280" y="2045208"/>
            <a:ext cx="31394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2F5476"/>
                </a:solidFill>
                <a:latin typeface="IBM Plex Mono"/>
              </a:rPr>
              <a:t>2 · INFERÊNCIA · modelo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7280" y="2197608"/>
            <a:ext cx="313944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740" b="0" i="0">
                <a:solidFill>
                  <a:srgbClr val="0B0D0E"/>
                </a:solidFill>
                <a:latin typeface="Archivo"/>
              </a:rPr>
              <a:t>Lê o que o agente 1 juntou mais a exposição de cada cliente por classe de ativo. Decide o que importa para esta carteira hoje, ordena e escreve o resumo do dia e as linhas de “O que importa”.</a:t>
            </a:r>
          </a:p>
          <a:p>
            <a:pPr algn="l">
              <a:lnSpc>
                <a:spcPct val="130000"/>
              </a:lnSpc>
            </a:pPr>
            <a:r>
              <a:rPr sz="740" b="0" i="0">
                <a:solidFill>
                  <a:srgbClr val="0B0D0E"/>
                </a:solidFill>
                <a:latin typeface="Archivo"/>
              </a:rPr>
              <a:t>O código guarda a aritmética de exposição; o modelo nunca escreve um número que não esteja nos fatos. Com Claude, classifica manchetes e varre a imprensa internacional com citação verificada.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34400" y="1984248"/>
            <a:ext cx="3108960" cy="1341120"/>
          </a:xfrm>
          <a:prstGeom prst="rect">
            <a:avLst/>
          </a:prstGeom>
          <a:solidFill>
            <a:srgbClr val="FFFFFF"/>
          </a:solidFill>
          <a:ln w="11430">
            <a:solidFill>
              <a:srgbClr val="0B0D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41080" y="2045208"/>
            <a:ext cx="2895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3 · GATILHOS · código puro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197608"/>
            <a:ext cx="289560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740" b="0" i="0">
                <a:solidFill>
                  <a:srgbClr val="0B0D0E"/>
                </a:solidFill>
                <a:latin typeface="Archivo"/>
              </a:rPr>
              <a:t>Avalia os catorze limiares configurados e o desvio de alocação de cada cliente contra a política, com uma proximidade (1,0 = no limiar), para o portal desenhar uma barra por gatilho e dizer sem rodeios quando uma ação está devida.</a:t>
            </a:r>
          </a:p>
          <a:p>
            <a:pPr algn="l">
              <a:lnSpc>
                <a:spcPct val="130000"/>
              </a:lnSpc>
            </a:pPr>
            <a:r>
              <a:rPr sz="740" b="0" i="0">
                <a:solidFill>
                  <a:srgbClr val="0B0D0E"/>
                </a:solidFill>
                <a:latin typeface="Archivo"/>
              </a:rPr>
              <a:t>Quatro gatilhos acionados e catorze desvios além do gatilho de rebalanceamento no dia da captura.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19600" y="2654808"/>
            <a:ext cx="3810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19600" y="2525268"/>
            <a:ext cx="381000" cy="91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600" b="0" i="0">
                <a:solidFill>
                  <a:srgbClr val="5C6469"/>
                </a:solidFill>
                <a:latin typeface="IBM Plex Mono"/>
              </a:rPr>
              <a:t>FACTS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153400" y="2654808"/>
            <a:ext cx="381000" cy="0"/>
          </a:xfrm>
          <a:prstGeom prst="line">
            <a:avLst/>
          </a:prstGeom>
          <a:ln w="12700">
            <a:solidFill>
              <a:srgbClr val="0B0D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219200" y="3447288"/>
            <a:ext cx="1042416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660" b="0" i="0">
                <a:solidFill>
                  <a:srgbClr val="5C6469"/>
                </a:solidFill>
                <a:latin typeface="IBM Plex Mono"/>
              </a:rPr>
              <a:t>overview_runs guarda o log de progresso e o resultado · o portal lê a última execução concluída em vez de recomputar a cada página</a:t>
            </a:r>
          </a:p>
          <a:p>
            <a:pPr algn="l">
              <a:lnSpc>
                <a:spcPct val="140000"/>
              </a:lnSpc>
            </a:pPr>
            <a:r>
              <a:rPr sz="660" b="0" i="0">
                <a:solidFill>
                  <a:srgbClr val="5C6469"/>
                </a:solidFill>
                <a:latin typeface="IBM Plex Mono"/>
              </a:rPr>
              <a:t>POST /api/advisor/refresh inicia uma execução · GET /api/advisor/refresh/:id acompanha · /api/health diz qual caminho de narrativa está 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3767328"/>
            <a:ext cx="1042416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Só o passo do meio fala com o modelo. Cada item que ele devolve tem de apontar para um id de manchete ou uma URL de busca que o código entregou; o resto é descartado. Sem chave, as manchetes ainda chegam, classificadas por regra e resumidas pelo primeiro parágrafo da própria redação.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9200" y="4178808"/>
            <a:ext cx="32918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Históricos de indicadores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19200" y="4346448"/>
            <a:ext cx="3291840" cy="838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Um objeto por indicador em R2, cinco anos no primeiro pedido, sessões novas anexadas pelo cron (relendo as últimas dez para pegar restatements). Janelas 5d, 30d, ytd, 1a, 5a e qualquer intervalo desde 1990. Sessão em curso marcada como provisória.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5360" y="4178808"/>
            <a:ext cx="32918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Correlação e risco-retorno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5360" y="4346448"/>
            <a:ext cx="3291840" cy="838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Matriz de correlação a 1, 2 ou 5 anos no mesmo armazém. O scatter de doze meses plota cada ativo mapeado, em reais, contra Ibovespa, S&amp;P 500 em reais e CDI, com a fronteira eficiente empírica por cima. Excluídos são listados com o motivo.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1520" y="4178808"/>
            <a:ext cx="32918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Por que um Workflow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1520" y="4346448"/>
            <a:ext cx="3291840" cy="838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Uma execução de minutos (um modelo, uma varredura de notícias) não é cortada como o trabalho em segundo plano iniciado por uma requisição HTTP, e sobrevive ao assessor fechando a aba. Um step durável por agente.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A variação é medida no fechamento não ajustado, o preço que a faixa mostra; um restatement de dividendo nunca torna o histórico inconsistente.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worker/src/agents.js · worker/src/series.js · src/adapters/valor.js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III · O que fizemos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Cronologia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33 commits em seis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git log · 7 a 12 de setembro de 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Seis dias, cinco bordos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19200" y="1607312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19200" y="1729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 i="0" spc="-60">
                <a:solidFill>
                  <a:srgbClr val="0B0D0E"/>
                </a:solidFill>
                <a:latin typeface="Archivo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835912"/>
            <a:ext cx="1143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80" b="0" i="0">
                <a:solidFill>
                  <a:srgbClr val="5C6469"/>
                </a:solidFill>
                <a:latin typeface="Archivo"/>
              </a:rPr>
              <a:t>set · domingo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2049272"/>
            <a:ext cx="1856232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60" b="0" i="0" cap="all" spc="100">
                <a:solidFill>
                  <a:srgbClr val="5C6469"/>
                </a:solidFill>
                <a:latin typeface="IBM Plex Mono"/>
              </a:rPr>
              <a:t>6 commits · a plataforma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232152"/>
            <a:ext cx="1749552" cy="2590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Revisão da v0 e primeira passagem: reconciliação em código e carta DOCX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O brand book da Enter e os tokens em brand.js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Grafo Rivet com dez subgrafos, Worker com D1, R2 e KV, dois portais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Motor de PDF com fontes embutidas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Portal e API separados em duas origens; token de API para a Cloudflare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20212" y="1713992"/>
            <a:ext cx="0" cy="289560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304032" y="1729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 i="0" spc="-60">
                <a:solidFill>
                  <a:srgbClr val="0B0D0E"/>
                </a:solidFill>
                <a:latin typeface="Archivo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1835912"/>
            <a:ext cx="1143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80" b="0" i="0">
                <a:solidFill>
                  <a:srgbClr val="5C6469"/>
                </a:solidFill>
                <a:latin typeface="Archivo"/>
              </a:rPr>
              <a:t>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04032" y="2049272"/>
            <a:ext cx="1856232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60" b="0" i="0" cap="all" spc="100">
                <a:solidFill>
                  <a:srgbClr val="5C6469"/>
                </a:solidFill>
                <a:latin typeface="IBM Plex Mono"/>
              </a:rPr>
              <a:t>19 commits · o dia mais longo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2232152"/>
            <a:ext cx="1749552" cy="2590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Portal apontado ao Worker implantado; PBKDF2 no teto do Workers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Redesenho do portal sobre o brand book; a trilha; sessão por janela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Correlação dos indicadores; os três agentes diários como Cloudflare Workflow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Históricos de preço em R2, em qualquer janela; bucket próprio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Manchetes do Valor, a história do dia, fonte em toda linha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A versão do prompt vem do módulo de prompts, não do wrangler.toml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05044" y="1713992"/>
            <a:ext cx="0" cy="289560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88864" y="1729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 i="0" spc="-60">
                <a:solidFill>
                  <a:srgbClr val="0B0D0E"/>
                </a:solidFill>
                <a:latin typeface="Archivo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24144" y="1835912"/>
            <a:ext cx="1143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80" b="0" i="0">
                <a:solidFill>
                  <a:srgbClr val="5C6469"/>
                </a:solidFill>
                <a:latin typeface="Archivo"/>
              </a:rPr>
              <a:t>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88864" y="2049272"/>
            <a:ext cx="1856232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60" b="0" i="0" cap="all" spc="100">
                <a:solidFill>
                  <a:srgbClr val="5C6469"/>
                </a:solidFill>
                <a:latin typeface="IBM Plex Mono"/>
              </a:rPr>
              <a:t>6 commits · os sinais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5544" y="2232152"/>
            <a:ext cx="1749552" cy="2590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“O que importa hoje” dividido entre Brasil e Internacional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Gatilhos de mercado e desvios de alocação em seções próprias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Risco-retorno de doze meses para cada ativo, com referências e fronteira eficiente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“Universo e Sinais monitorados”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89876" y="1713992"/>
            <a:ext cx="0" cy="289560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73696" y="1729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 i="0" spc="-60">
                <a:solidFill>
                  <a:srgbClr val="0B0D0E"/>
                </a:solidFill>
                <a:latin typeface="Archivo"/>
              </a:rP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46136" y="1835912"/>
            <a:ext cx="1143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80" b="0" i="0">
                <a:solidFill>
                  <a:srgbClr val="5C6469"/>
                </a:solidFill>
                <a:latin typeface="Archivo"/>
              </a:rPr>
              <a:t>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3696" y="2049272"/>
            <a:ext cx="1856232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60" b="0" i="0" cap="all" spc="100">
                <a:solidFill>
                  <a:srgbClr val="5C6469"/>
                </a:solidFill>
                <a:latin typeface="IBM Plex Mono"/>
              </a:rPr>
              <a:t>1 commit · a travessia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0376" y="2232152"/>
            <a:ext cx="1749552" cy="2590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A página inicial vira uma travessia: o vento, as velas, o rumo, o diário de bordo e as âncoras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Duas fotografias com licença Creative Commons e crédito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A carta de bordejo desenhada em filetes de tinta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74708" y="1713992"/>
            <a:ext cx="0" cy="289560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58528" y="1729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 i="0" spc="-60">
                <a:solidFill>
                  <a:srgbClr val="0B0D0E"/>
                </a:solidFill>
                <a:latin typeface="Archivo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30968" y="1835912"/>
            <a:ext cx="1143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80" b="0" i="0">
                <a:solidFill>
                  <a:srgbClr val="5C6469"/>
                </a:solidFill>
                <a:latin typeface="Archivo"/>
              </a:rPr>
              <a:t>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8528" y="2049272"/>
            <a:ext cx="1856232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660" b="0" i="0" cap="all" spc="100">
                <a:solidFill>
                  <a:srgbClr val="5C6469"/>
                </a:solidFill>
                <a:latin typeface="IBM Plex Mono"/>
              </a:rPr>
              <a:t>1 commit · o acabamento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2232152"/>
            <a:ext cx="1749552" cy="2590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O cartão de login deixa de explicar as credenciais de demonstração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0" i="0">
                <a:solidFill>
                  <a:srgbClr val="2E3439"/>
                </a:solidFill>
                <a:latin typeface="Archivo"/>
              </a:rPr>
              <a:t>Esta apresentação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9200" y="5051552"/>
            <a:ext cx="50292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Como as mensagens de commit foram escritas.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Cada uma descreve o estado resultante, não a ação: “The advisor gate is real”, “Chips are pills”, “The login card no longer explains the demo credentials”. O log lê como um diário de bordo.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4160" y="5051552"/>
            <a:ext cx="50292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O que ficou fora do repositório público.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</a:t>
            </a:r>
            <a:r>
              <a:rPr sz="828" b="0" i="0">
                <a:solidFill>
                  <a:srgbClr val="2E3439"/>
                </a:solidFill>
                <a:latin typeface="IBM Plex Mono"/>
              </a:rPr>
              <a:t>Input/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</a:t>
            </a:r>
            <a:r>
              <a:rPr sz="828" b="0" i="0">
                <a:solidFill>
                  <a:srgbClr val="2E3439"/>
                </a:solidFill>
                <a:latin typeface="IBM Plex Mono"/>
              </a:rPr>
              <a:t>Output/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o brand book e o grafo original estão na árvore de trabalho e fora do Git: são material da Enter e da XP. Nada em tempo de execução lê deles.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O dia 10 não teve commits.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git log --format='%h %ad %s' --date=short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267200"/>
            <a:ext cx="5334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 cap="all" spc="200">
                <a:solidFill>
                  <a:srgbClr val="8A9196"/>
                </a:solidFill>
                <a:latin typeface="IBM Plex Mono"/>
              </a:rPr>
              <a:t>Capítulo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95800"/>
            <a:ext cx="5791200" cy="1828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8000"/>
              </a:lnSpc>
            </a:pPr>
            <a:r>
              <a:rPr sz="5800" b="0" i="0">
                <a:solidFill>
                  <a:srgbClr val="F1F4F5"/>
                </a:solidFill>
                <a:latin typeface="Newsreader"/>
              </a:rPr>
              <a:t>O que está </a:t>
            </a:r>
            <a:r>
              <a:rPr sz="5800" b="0" i="1">
                <a:solidFill>
                  <a:srgbClr val="F1F4F5"/>
                </a:solidFill>
                <a:latin typeface="Newsreader"/>
              </a:rPr>
              <a:t>por trás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4876800"/>
            <a:ext cx="4572000" cy="144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C7CDCF"/>
                </a:solidFill>
                <a:latin typeface="Newsreader"/>
              </a:rPr>
              <a:t>As decisões que não aparecem na tela: proveniência como tipo, a separação entre sinal e resultado, a segurança de uma API em duas origens, e o que é simulado e diz que 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IV · O que está por trás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Princípios de engenharia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os que o código impõe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README “The parts that matter”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Proveniência é um tipo,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não uma convenção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1607312"/>
            <a:ext cx="499872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O source record que toda resposta de provedor devolve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19200" y="1774952"/>
            <a:ext cx="4998720" cy="155448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219200" y="1774952"/>
            <a:ext cx="0" cy="155448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41120" y="1866392"/>
            <a:ext cx="478536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{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  provider:         "Yahoo Finance",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  instrument:       "HAPV3.SA",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  range:            { from: "2026-07-31", to: "2026-08-31" },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  retrieved_at:     "2026-09-08T10:02:14Z",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  last_observation: "2026-08-31",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  fallback_for:     null,     // ou o provedor que falhou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  mocked:           false     // true → chip SIMULADO em toda superfície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3466592"/>
            <a:ext cx="4998720" cy="49606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30" b="1" i="0">
                <a:solidFill>
                  <a:srgbClr val="2E3439"/>
                </a:solidFill>
                <a:latin typeface="Archivo"/>
              </a:rPr>
              <a:t>O validador rejeita.</a:t>
            </a:r>
            <a:r>
              <a:rPr sz="930" b="0" i="0">
                <a:solidFill>
                  <a:srgbClr val="2E3439"/>
                </a:solidFill>
                <a:latin typeface="Archivo"/>
              </a:rPr>
              <a:t> Um relatório canônico cujas cifras de performance citem uma fonte fora do ledger não passa. “De onde veio este número” é respondível para todo número, na interface e no relatório armazenado.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4023614"/>
            <a:ext cx="4998720" cy="6614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30" b="1" i="0">
                <a:solidFill>
                  <a:srgbClr val="2E3439"/>
                </a:solidFill>
                <a:latin typeface="Archivo"/>
              </a:rPr>
              <a:t>Nada é fabricado.</a:t>
            </a:r>
            <a:r>
              <a:rPr sz="930" b="0" i="0">
                <a:solidFill>
                  <a:srgbClr val="2E3439"/>
                </a:solidFill>
                <a:latin typeface="Archivo"/>
              </a:rPr>
              <a:t> Quando um provedor falha, a cadeia tenta o fallback aprovado e registra </a:t>
            </a:r>
            <a:r>
              <a:rPr sz="855" b="0" i="0">
                <a:solidFill>
                  <a:srgbClr val="2E3439"/>
                </a:solidFill>
                <a:latin typeface="IBM Plex Mono"/>
              </a:rPr>
              <a:t>fallback_for</a:t>
            </a:r>
            <a:r>
              <a:rPr sz="930" b="0" i="0">
                <a:solidFill>
                  <a:srgbClr val="2E3439"/>
                </a:solidFill>
                <a:latin typeface="Archivo"/>
              </a:rPr>
              <a:t>. Quando nada é confiável, a posição vira DATA UNAVAILABLE com os provedores tentados, contribui exatamente zero ao retorno e é declarada na carta.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4640" y="162255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Duas famílias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1607312"/>
            <a:ext cx="37795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O rating técnico e o consenso de analistas nunca se misturam.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Capturados, armazenados e exibidos em campos separados. Onde discordam, a discordância é o ponto e vai ao topo da fila.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44640" y="231597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644640" y="239979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Sinal ≠ resultado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384552"/>
            <a:ext cx="3779520" cy="4800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A camada de suitability roda como um passo à parte, com vocabulário próprio,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e só pode tornar a recomendação mais conservadora. As duas linhas são impressas.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44640" y="293319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44640" y="301701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Gate real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001772"/>
            <a:ext cx="37795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Só recomendações marcadas “aprovada” pelo assessor entram na carta.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Rodar de novo refresca a análise e mantém as decisões; uma decisão só reabre se a proposta por baixo mudou de fato. Sem isso, a aprovação é teatro.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44640" y="371043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644640" y="379425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Uma carga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3779012"/>
            <a:ext cx="37795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E-mail, PDF e portal renderizam do mesmo objeto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então não podem discordar. O demo afirma isso.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44640" y="416763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644640" y="425145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Histórico ≠ expectativa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236212"/>
            <a:ext cx="37795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Retorno anualizado, volatilidade, Sharpe contra o CDI real e drawdown máximo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são calculados de um histórico reconstruído e rotulados </a:t>
            </a:r>
            <a:r>
              <a:rPr sz="828" b="0" i="0">
                <a:solidFill>
                  <a:srgbClr val="2E3439"/>
                </a:solidFill>
                <a:latin typeface="IBM Plex Mono"/>
              </a:rPr>
              <a:t>historical_measure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para nunca serem apresentados como previsão.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44640" y="494487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644640" y="502869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Verificação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5013452"/>
            <a:ext cx="37795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2E3439"/>
                </a:solidFill>
                <a:latin typeface="Archivo"/>
              </a:rPr>
              <a:t>`npm run verify` roda 30 checagens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no motor: regras de formatação, métodos de retorno, o guardrail, validação do relatório, o PDF. </a:t>
            </a:r>
            <a:r>
              <a:rPr sz="828" b="0" i="0">
                <a:solidFill>
                  <a:srgbClr val="2E3439"/>
                </a:solidFill>
                <a:latin typeface="IBM Plex Mono"/>
              </a:rPr>
              <a:t>verify:live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 soma a cadeia de provedores e a API em execução.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Toda cifra visível cita o provedor no próprio lugar, mais um bloco “Ver fontes”. Uma tooltip sozinha não basta.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src/core/sources.js · src/core/report-schema.js · scripts/verify.mjs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IV · O que está por trás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Segurança e operação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detalhes de duas origens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worker/src/auth.js · links.js · README “Cross-origin details worth knowing”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Seguro por padrão,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e o que é real diz que 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162255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CORS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1607312"/>
            <a:ext cx="3931920" cy="4693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80" b="1" i="0">
                <a:solidFill>
                  <a:srgbClr val="2E3439"/>
                </a:solidFill>
                <a:latin typeface="Archivo"/>
              </a:rPr>
              <a:t>Uma allowlist, nunca um curinga.</a:t>
            </a:r>
            <a:r>
              <a:rPr sz="880" b="0" i="0">
                <a:solidFill>
                  <a:srgbClr val="2E3439"/>
                </a:solidFill>
                <a:latin typeface="Archivo"/>
              </a:rPr>
              <a:t> </a:t>
            </a:r>
            <a:r>
              <a:rPr sz="809" b="0" i="0">
                <a:solidFill>
                  <a:srgbClr val="2E3439"/>
                </a:solidFill>
                <a:latin typeface="IBM Plex Mono"/>
              </a:rPr>
              <a:t>ALLOWED_ORIGINS</a:t>
            </a:r>
            <a:r>
              <a:rPr sz="880" b="0" i="0">
                <a:solidFill>
                  <a:srgbClr val="2E3439"/>
                </a:solidFill>
                <a:latin typeface="Archivo"/>
              </a:rPr>
              <a:t> nomeia a origem do Pages. Um </a:t>
            </a:r>
            <a:r>
              <a:rPr sz="809" b="0" i="0">
                <a:solidFill>
                  <a:srgbClr val="2E3439"/>
                </a:solidFill>
                <a:latin typeface="IBM Plex Mono"/>
              </a:rPr>
              <a:t>*</a:t>
            </a:r>
            <a:r>
              <a:rPr sz="880" b="0" i="0">
                <a:solidFill>
                  <a:srgbClr val="2E3439"/>
                </a:solidFill>
                <a:latin typeface="Archivo"/>
              </a:rPr>
              <a:t> deixaria qualquer site chamar a API com um token obtido e anularia a checagem de origem do navegador.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19200" y="2137664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19200" y="2213864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Links assinados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198624"/>
            <a:ext cx="3931920" cy="625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80" b="1" i="0">
                <a:solidFill>
                  <a:srgbClr val="2E3439"/>
                </a:solidFill>
                <a:latin typeface="Archivo"/>
              </a:rPr>
              <a:t>Um PDF em nova aba e um preview em iframe são navegações:</a:t>
            </a:r>
            <a:r>
              <a:rPr sz="880" b="0" i="0">
                <a:solidFill>
                  <a:srgbClr val="2E3439"/>
                </a:solidFill>
                <a:latin typeface="Archivo"/>
              </a:rPr>
              <a:t> não carregam header de autorização nem cookie entre origens. A API emite uma URL HMAC de curta duração por artefato, cobrindo relatório, tipo e expiração, só a quem já passou pelo escopo.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19200" y="2885440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19200" y="2961640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Ambiente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946400"/>
            <a:ext cx="3931920" cy="4693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80" b="1" i="0">
                <a:solidFill>
                  <a:srgbClr val="2E3439"/>
                </a:solidFill>
                <a:latin typeface="Archivo"/>
              </a:rPr>
              <a:t>`ENVIRONMENT` nasce como `production`.</a:t>
            </a:r>
            <a:r>
              <a:rPr sz="880" b="0" i="0">
                <a:solidFill>
                  <a:srgbClr val="2E3439"/>
                </a:solidFill>
                <a:latin typeface="Archivo"/>
              </a:rPr>
              <a:t> Só </a:t>
            </a:r>
            <a:r>
              <a:rPr sz="809" b="0" i="0">
                <a:solidFill>
                  <a:srgbClr val="2E3439"/>
                </a:solidFill>
                <a:latin typeface="IBM Plex Mono"/>
              </a:rPr>
              <a:t>development</a:t>
            </a:r>
            <a:r>
              <a:rPr sz="880" b="0" i="0">
                <a:solidFill>
                  <a:srgbClr val="2E3439"/>
                </a:solidFill>
                <a:latin typeface="Archivo"/>
              </a:rPr>
              <a:t> relaxa o CORS para localhost e libera o seed sem token; </a:t>
            </a:r>
            <a:r>
              <a:rPr sz="809" b="0" i="0">
                <a:solidFill>
                  <a:srgbClr val="2E3439"/>
                </a:solidFill>
                <a:latin typeface="IBM Plex Mono"/>
              </a:rPr>
              <a:t>.dev.vars</a:t>
            </a:r>
            <a:r>
              <a:rPr sz="880" b="0" i="0">
                <a:solidFill>
                  <a:srgbClr val="2E3439"/>
                </a:solidFill>
                <a:latin typeface="Archivo"/>
              </a:rPr>
              <a:t> sobrescreve localmente e está no gitignore.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19200" y="347675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19200" y="355295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Senhas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537712"/>
            <a:ext cx="3931920" cy="4693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80" b="1" i="0">
                <a:solidFill>
                  <a:srgbClr val="2E3439"/>
                </a:solidFill>
                <a:latin typeface="Archivo"/>
              </a:rPr>
              <a:t>PBKDF2 a 100.000 iterações, o teto do Workers.</a:t>
            </a:r>
            <a:r>
              <a:rPr sz="880" b="0" i="0">
                <a:solidFill>
                  <a:srgbClr val="2E3439"/>
                </a:solidFill>
                <a:latin typeface="Archivo"/>
              </a:rPr>
              <a:t> O emulador local não impõe o limite: um valor maior passa em todo teste local e falha só no deploy real. Descoberto em produção no dia 8.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19200" y="4068064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219200" y="4144264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Sessão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129024"/>
            <a:ext cx="3931920" cy="312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80" b="0" i="0">
                <a:solidFill>
                  <a:srgbClr val="2E3439"/>
                </a:solidFill>
                <a:latin typeface="Archivo"/>
              </a:rPr>
              <a:t>Escopo do navegador; sair numa aba avisa as outras. A identidade pode vir do Cloudflare Access sem mudar o resto.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219200" y="450291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219200" y="457911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Proveniência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4563872"/>
            <a:ext cx="3931920" cy="4693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80" b="0" i="0">
                <a:solidFill>
                  <a:srgbClr val="2E3439"/>
                </a:solidFill>
                <a:latin typeface="Archivo"/>
              </a:rPr>
              <a:t>Modelo (</a:t>
            </a:r>
            <a:r>
              <a:rPr sz="809" b="0" i="0">
                <a:solidFill>
                  <a:srgbClr val="2E3439"/>
                </a:solidFill>
                <a:latin typeface="IBM Plex Mono"/>
              </a:rPr>
              <a:t>ANTHROPIC_MODEL</a:t>
            </a:r>
            <a:r>
              <a:rPr sz="880" b="0" i="0">
                <a:solidFill>
                  <a:srgbClr val="2E3439"/>
                </a:solidFill>
                <a:latin typeface="Archivo"/>
              </a:rPr>
              <a:t>) e versão do prompt escritos em cada relatório; runs do overview com log de progresso em </a:t>
            </a:r>
            <a:r>
              <a:rPr sz="809" b="0" i="0">
                <a:solidFill>
                  <a:srgbClr val="2E3439"/>
                </a:solidFill>
                <a:latin typeface="IBM Plex Mono"/>
              </a:rPr>
              <a:t>overview_runs</a:t>
            </a:r>
            <a:r>
              <a:rPr sz="880" b="0" i="0">
                <a:solidFill>
                  <a:srgbClr val="2E3439"/>
                </a:solidFill>
                <a:latin typeface="Archivo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4640" y="1607312"/>
            <a:ext cx="499872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O que é real e o que é simulado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644640" y="1790192"/>
          <a:ext cx="4998720" cy="2286000"/>
        </p:xfrm>
        <a:graphic>
          <a:graphicData uri="http://schemas.openxmlformats.org/drawingml/2006/table">
            <a:tbl>
              <a:tblPr/>
              <a:tblGrid>
                <a:gridCol w="166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650">
                          <a:solidFill>
                            <a:srgbClr val="285E3F"/>
                          </a:solidFill>
                          <a:latin typeface="IBM Plex Mono"/>
                        </a:rPr>
                        <a:t>REAL · AO VIVO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650">
                          <a:solidFill>
                            <a:srgbClr val="0B0D0E"/>
                          </a:solidFill>
                          <a:latin typeface="IBM Plex Mono"/>
                        </a:rPr>
                        <a:t>REAL · DO CASO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650">
                          <a:solidFill>
                            <a:srgbClr val="8F6B1F"/>
                          </a:solidFill>
                          <a:latin typeface="IBM Plex Mono"/>
                        </a:rPr>
                        <a:t>SIMULADO · ROTULADO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Todo preço listado (Yahoo Finance, TradingView)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Identidade do Albert, assessor, perfil de risco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Cotas mensais dos fundos brasileiros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CDI, Selic, IPCA, PTAX (Banco Central)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O extrato XP de maio de 2025, reproduzido como snapshot v1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Histórico de retorno anterior à plataforma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Ratings técnicos e consenso de analistas (TradingView)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As projeções macro da XP de fevereiro de 2025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Os quatro clientes de demonstração além do Albert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As manchetes do dia (Valor Econômico), cada uma com link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endParaRPr/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endParaRPr/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840">
                          <a:solidFill>
                            <a:srgbClr val="2E3439"/>
                          </a:solidFill>
                          <a:latin typeface="Archivo"/>
                        </a:rPr>
                        <a:t>O benchmark de política, composto dos itens acima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endParaRPr/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endParaRPr/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644640" y="4198112"/>
            <a:ext cx="499872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60" b="0" i="0">
                <a:solidFill>
                  <a:srgbClr val="2E3439"/>
                </a:solidFill>
                <a:latin typeface="Archivo"/>
              </a:rPr>
              <a:t>Dado simulado carrega </a:t>
            </a:r>
            <a:r>
              <a:rPr sz="791" b="0" i="0">
                <a:solidFill>
                  <a:srgbClr val="2E3439"/>
                </a:solidFill>
                <a:latin typeface="IBM Plex Mono"/>
              </a:rPr>
              <a:t>mocked: true</a:t>
            </a:r>
            <a:r>
              <a:rPr sz="860" b="0" i="0">
                <a:solidFill>
                  <a:srgbClr val="2E3439"/>
                </a:solidFill>
                <a:latin typeface="Archivo"/>
              </a:rPr>
              <a:t> no source record, mostra o chip na aba de auditoria e é nomeado na linha de fonte da carta. Beatriz Nakamura, no topo da faixa de middle market, tem NVDA acima do teto de nome único com exceção assinada, e o guardrail tem de continuar apontando isso.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O TradingView é lido pelo endpoint público do scanner; um feed licenciado substitui um adaptador atrás da mesma interface.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wrangler.toml · seed/seed.mjs · seed/clients.mjs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IV · O que está por trás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O projeto em números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medido no repositório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git ls-files · sem lock file, fontes e imagens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O tamanho da coisa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19200" y="1607312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19200" y="1729232"/>
            <a:ext cx="24536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Linhas de código e prosa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1896872"/>
            <a:ext cx="24536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0B0D0E"/>
                </a:solidFill>
                <a:latin typeface="Archivo"/>
              </a:rPr>
              <a:t>19.829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224739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5C6469"/>
                </a:solidFill>
                <a:latin typeface="Archivo"/>
              </a:rPr>
              <a:t>em 92 arquivos rastreados; o grafo Rivet gerado tem 1.990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5240" y="1729232"/>
            <a:ext cx="24536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Commits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5240" y="1896872"/>
            <a:ext cx="24536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0B0D0E"/>
                </a:solidFill>
                <a:latin typeface="Archivo"/>
              </a:rPr>
              <a:t>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5240" y="224739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5C6469"/>
                </a:solidFill>
                <a:latin typeface="Archivo"/>
              </a:rPr>
              <a:t>em seis dias, cinco com atividade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49040" y="1683512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31280" y="1729232"/>
            <a:ext cx="24536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Subgrafos Rivet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1280" y="1896872"/>
            <a:ext cx="24536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0B0D0E"/>
                </a:solidFill>
                <a:latin typeface="Archivo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1280" y="224739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5C6469"/>
                </a:solidFill>
                <a:latin typeface="Archivo"/>
              </a:rPr>
              <a:t>nove estágios mais o World Overview; um só chama o modelo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55080" y="1683512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037320" y="1729232"/>
            <a:ext cx="24536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Provedores de dado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7320" y="1896872"/>
            <a:ext cx="24536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0B0D0E"/>
                </a:solidFill>
                <a:latin typeface="Archivo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320" y="224739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5C6469"/>
                </a:solidFill>
                <a:latin typeface="Archivo"/>
              </a:rPr>
              <a:t>Yahoo, TradingView, Banco Central, CoinGecko, Valor Econômico e o custodiante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1683512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19200" y="2719832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219200" y="2841752"/>
            <a:ext cx="24536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Indicadores monitorados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9200" y="3009392"/>
            <a:ext cx="24536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0B0D0E"/>
                </a:solidFill>
                <a:latin typeface="Archivo"/>
              </a:rPr>
              <a:t>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33599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5C6469"/>
                </a:solidFill>
                <a:latin typeface="Archivo"/>
              </a:rPr>
              <a:t>em quatro classes, com histórico diário de cinco anos em R2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25240" y="2841752"/>
            <a:ext cx="24536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Limiares configurados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5240" y="3009392"/>
            <a:ext cx="24536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0B0D0E"/>
                </a:solidFill>
                <a:latin typeface="Archivo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25240" y="33599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5C6469"/>
                </a:solidFill>
                <a:latin typeface="Archivo"/>
              </a:rPr>
              <a:t>quatro acionados no dia da captura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749040" y="2796032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431280" y="2841752"/>
            <a:ext cx="24536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Clientes de demonstração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1280" y="3009392"/>
            <a:ext cx="24536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0B0D0E"/>
                </a:solidFill>
                <a:latin typeface="Archivo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1280" y="33599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5C6469"/>
                </a:solidFill>
                <a:latin typeface="Archivo"/>
              </a:rPr>
              <a:t>com políticas e snapshots versionados; o Albert com quatro versões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355080" y="2796032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037320" y="2841752"/>
            <a:ext cx="24536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Checagens automatizadas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7320" y="3009392"/>
            <a:ext cx="24536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0B0D0E"/>
                </a:solidFill>
                <a:latin typeface="Archivo"/>
              </a:rPr>
              <a:t>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37320" y="33599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5C6469"/>
                </a:solidFill>
                <a:latin typeface="Archivo"/>
              </a:rPr>
              <a:t>em npm run verify; mais a cadeia ao vivo em verify:live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961120" y="2796032"/>
            <a:ext cx="0" cy="97536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219200" y="3832352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219200" y="4030472"/>
            <a:ext cx="499872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Onde as linhas estão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9200" y="4228592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1.553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81200" y="4213352"/>
            <a:ext cx="4236720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28" b="0" i="0">
                <a:solidFill>
                  <a:srgbClr val="2E3439"/>
                </a:solidFill>
                <a:latin typeface="IBM Plex Mono"/>
              </a:rPr>
              <a:t>worker/src/index.js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a API e o roteamento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219200" y="442671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219200" y="4495292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1.417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81200" y="4480052"/>
            <a:ext cx="4236720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28" b="0" i="0">
                <a:solidFill>
                  <a:srgbClr val="2E3439"/>
                </a:solidFill>
                <a:latin typeface="IBM Plex Mono"/>
              </a:rPr>
              <a:t>web/advisor/app.js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o portal do assessor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219200" y="469341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219200" y="4761992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944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81200" y="4746752"/>
            <a:ext cx="4236720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28" b="0" i="0">
                <a:solidFill>
                  <a:srgbClr val="2E3439"/>
                </a:solidFill>
                <a:latin typeface="IBM Plex Mono"/>
              </a:rPr>
              <a:t>rivet/build-graph.mjs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o gerador do grafo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219200" y="496011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219200" y="5028692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760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81200" y="5013452"/>
            <a:ext cx="4236720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28" b="0" i="0">
                <a:solidFill>
                  <a:srgbClr val="2E3439"/>
                </a:solidFill>
                <a:latin typeface="IBM Plex Mono"/>
              </a:rPr>
              <a:t>worker/src/agents.js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os três agentes diários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219200" y="522681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219200" y="5295392"/>
            <a:ext cx="6096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585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81200" y="5280152"/>
            <a:ext cx="4236720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828" b="0" i="0">
                <a:solidFill>
                  <a:srgbClr val="2E3439"/>
                </a:solidFill>
                <a:latin typeface="IBM Plex Mono"/>
              </a:rPr>
              <a:t>src/render/pdf/letter.js</a:t>
            </a:r>
            <a:r>
              <a:rPr sz="900" b="0" i="0">
                <a:solidFill>
                  <a:srgbClr val="2E3439"/>
                </a:solidFill>
                <a:latin typeface="Archivo"/>
              </a:rPr>
              <a:t>, a carta em PDF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44640" y="4030472"/>
            <a:ext cx="499872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Sem dependências de aplicação em produção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44640" y="4213352"/>
            <a:ext cx="499872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930" b="0" i="0">
                <a:solidFill>
                  <a:srgbClr val="2E3439"/>
                </a:solidFill>
                <a:latin typeface="Archivo"/>
              </a:rPr>
              <a:t>O Worker roda com </a:t>
            </a:r>
            <a:r>
              <a:rPr sz="855" b="0" i="0">
                <a:solidFill>
                  <a:srgbClr val="2E3439"/>
                </a:solidFill>
                <a:latin typeface="IBM Plex Mono"/>
              </a:rPr>
              <a:t>nodejs_compat</a:t>
            </a:r>
            <a:r>
              <a:rPr sz="930" b="0" i="0">
                <a:solidFill>
                  <a:srgbClr val="2E3439"/>
                </a:solidFill>
                <a:latin typeface="Archivo"/>
              </a:rPr>
              <a:t> e nada mais: sem framework, sem biblioteca de PDF, sem biblioteca de gráficos. Os portais são JavaScript e CSS puros, servidos pelo mesmo Worker. O Rivet e o Wrangler são ferramentas de desenvolvimento. Cada linha que roda em produção foi escrita para este produto e pode ser lida em uma tarde.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Contagem por wc -l nos arquivos rastreados, excluindo package-lock.json, fontes e imagens.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medido em 12 de setembro de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267200"/>
            <a:ext cx="5334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 cap="all" spc="200">
                <a:solidFill>
                  <a:srgbClr val="8A9196"/>
                </a:solidFill>
                <a:latin typeface="IBM Plex Mono"/>
              </a:rPr>
              <a:t>Capítulo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95800"/>
            <a:ext cx="5791200" cy="1828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8000"/>
              </a:lnSpc>
            </a:pPr>
            <a:r>
              <a:rPr sz="5800" b="0" i="0">
                <a:solidFill>
                  <a:srgbClr val="F1F4F5"/>
                </a:solidFill>
                <a:latin typeface="Newsreader"/>
              </a:rPr>
              <a:t>O próximo </a:t>
            </a:r>
            <a:r>
              <a:rPr sz="5800" b="0" i="1">
                <a:solidFill>
                  <a:srgbClr val="F1F4F5"/>
                </a:solidFill>
                <a:latin typeface="Newsreader"/>
              </a:rPr>
              <a:t>bordo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4876800"/>
            <a:ext cx="4572000" cy="144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C7CDCF"/>
                </a:solidFill>
                <a:latin typeface="Newsreader"/>
              </a:rPr>
              <a:t>O que um mês a mais compraria, semana a semana, e a única coisa que deliberadamente não faríamos.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V · Próximos 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Um mês a mais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o plano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docs/implementation-report.md §4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Os buracos que restam são de dado,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de fluxo e de evidência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19200" y="1607312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19200" y="1744472"/>
            <a:ext cx="23774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Semana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1912112"/>
            <a:ext cx="23469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0B0D0E"/>
                </a:solidFill>
                <a:latin typeface="Newsreader"/>
              </a:rPr>
              <a:t>Merecer confiança nos números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2399792"/>
            <a:ext cx="2346960" cy="2438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860" b="0" i="0">
                <a:solidFill>
                  <a:srgbClr val="2E3439"/>
                </a:solidFill>
                <a:latin typeface="Archivo"/>
              </a:rPr>
              <a:t>Trocar as cotas simuladas pela série diária da CVM e pelo arquivo do custodiante, removendo o último insumo simulado.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860" b="0" i="0">
                <a:solidFill>
                  <a:srgbClr val="2E3439"/>
                </a:solidFill>
                <a:latin typeface="Archivo"/>
              </a:rPr>
              <a:t>Suíte de golden files: respostas de provedor congeladas e o JSON exato esperado, para que um ponto-base de diferença falhe no CI, não numa carta.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860" b="0" i="0">
                <a:solidFill>
                  <a:srgbClr val="2E3439"/>
                </a:solidFill>
                <a:latin typeface="Archivo"/>
              </a:rPr>
              <a:t>TWR diário de verdade, guardando a valorização diária da carteira.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33800" y="1713992"/>
            <a:ext cx="0" cy="304800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825240" y="1744472"/>
            <a:ext cx="23774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Semana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5240" y="1912112"/>
            <a:ext cx="23469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0B0D0E"/>
                </a:solidFill>
                <a:latin typeface="Newsreader"/>
              </a:rPr>
              <a:t>Fazer o julgamento do assessor render juros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5240" y="2399792"/>
            <a:ext cx="2346960" cy="2438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860" b="0" i="0">
                <a:solidFill>
                  <a:srgbClr val="2E3439"/>
                </a:solidFill>
                <a:latin typeface="Archivo"/>
              </a:rPr>
              <a:t>A visão de mundo do assessor vira uma posição versionada com histórico: “estávamos cautelosos em ações brasileiras desde março” passa a ser uma afirmação recuperável.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860" b="0" i="0">
                <a:solidFill>
                  <a:srgbClr val="2E3439"/>
                </a:solidFill>
                <a:latin typeface="Archivo"/>
              </a:rPr>
              <a:t>Rastreamento de desfecho: cada recomendação ganha um registro de acompanhamento e o assessor vê sua própria taxa de acerto por família de fator.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39840" y="1713992"/>
            <a:ext cx="0" cy="304800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31280" y="1744472"/>
            <a:ext cx="23774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Semana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1280" y="1912112"/>
            <a:ext cx="23469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0B0D0E"/>
                </a:solidFill>
                <a:latin typeface="Newsreader"/>
              </a:rPr>
              <a:t>Escalar além de um cliente por vez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1280" y="2399792"/>
            <a:ext cx="2346960" cy="2438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860" b="0" i="0">
                <a:solidFill>
                  <a:srgbClr val="2E3439"/>
                </a:solidFill>
                <a:latin typeface="Archivo"/>
              </a:rPr>
              <a:t>A economia do produto é “três vezes mais clientes”: a rodada mensal vira um lote agendado que gera toda carta e apresenta uma fila de revisão ordenada por quanto julgamento cada uma exige. Uma carteira sem violações e sem conflitos deve levar quinze segundos.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860" b="0" i="0">
                <a:solidFill>
                  <a:srgbClr val="2E3439"/>
                </a:solidFill>
                <a:latin typeface="Archivo"/>
              </a:rPr>
              <a:t>O gate de aprovação entra no grafo como nó waitForEvent. Envio de e-mail e recibos de leitura.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45880" y="1713992"/>
            <a:ext cx="0" cy="304800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037320" y="1744472"/>
            <a:ext cx="23774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Semana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320" y="1912112"/>
            <a:ext cx="23469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0B0D0E"/>
                </a:solidFill>
                <a:latin typeface="Newsreader"/>
              </a:rPr>
              <a:t>O que o compliance vai perguntar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320" y="2399792"/>
            <a:ext cx="2346960" cy="2438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860" b="0" i="0">
                <a:solidFill>
                  <a:srgbClr val="2E3439"/>
                </a:solidFill>
                <a:latin typeface="Archivo"/>
              </a:rPr>
              <a:t>As regras de suitability viram um conjunto versionado com data de vigência, para reavaliar um relatório contra as regras que valiam quando foi publicado.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860" b="0" i="0">
                <a:solidFill>
                  <a:srgbClr val="2E3439"/>
                </a:solidFill>
                <a:latin typeface="Archivo"/>
              </a:rPr>
              <a:t>Gating por jurisdição e separação de investidor profissional, como o brand book exige.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860" b="0" i="0">
                <a:solidFill>
                  <a:srgbClr val="2E3439"/>
                </a:solidFill>
                <a:latin typeface="Archivo"/>
              </a:rPr>
              <a:t>Um comando de reprodutibilidade que reconstrói qualquer relatório byte a byte dos insumos guardados e o compara ao enviado.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19200" y="5021072"/>
            <a:ext cx="0" cy="611505"/>
          </a:xfrm>
          <a:prstGeom prst="line">
            <a:avLst/>
          </a:prstGeom>
          <a:ln w="19050">
            <a:solidFill>
              <a:srgbClr val="B59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371600" y="5036312"/>
            <a:ext cx="1027176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O que não faríamos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188712"/>
            <a:ext cx="10256520" cy="4438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0B0D0E"/>
                </a:solidFill>
                <a:latin typeface="Newsreader"/>
              </a:rPr>
              <a:t>Adicionar mais chamadas ao modelo. As lacunas que restam neste produto são de dado, de fluxo e de evidência. Nenhuma delas fica menor fazendo uma pergunta mais ampla a um modelo de linguagem.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A ordem importa: sem a semana 1, a semana 3 escala números em que ainda não se pode confiar.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docs/implementation-report.md · “What one more month would buy”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V · Próximos 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Limites conhecidos</a:t>
            </a: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 · ditos sem rodeios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README “Known limits” · implementation-report §5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O que ainda não é,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e onde está escrito que não 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1622552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Cotas de fundo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8400" y="1607312"/>
            <a:ext cx="3779520" cy="682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0" i="0">
                <a:solidFill>
                  <a:srgbClr val="2E3439"/>
                </a:solidFill>
                <a:latin typeface="Archivo"/>
              </a:rPr>
              <a:t>Simuladas, porque não há feed público para veículos FIC brasileiros. Produção lê o arquivo do custodiante ou a série diária de cotas da CVM. Rotuladas em toda superfície onde aparecem. Nada mais no demo é simulado.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19200" y="2381504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19200" y="2488184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O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2472944"/>
            <a:ext cx="377952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0" i="0">
                <a:solidFill>
                  <a:srgbClr val="2E3439"/>
                </a:solidFill>
                <a:latin typeface="Archivo"/>
              </a:rPr>
              <a:t>Uma ação no portal que o estágio 09 lê de volta, não um nó </a:t>
            </a:r>
            <a:r>
              <a:rPr sz="883" b="0" i="0">
                <a:solidFill>
                  <a:srgbClr val="2E3439"/>
                </a:solidFill>
                <a:latin typeface="IBM Plex Mono"/>
              </a:rPr>
              <a:t>waitForEvent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 dentro da execução do grafo. O grafo foi escrito para que a troca seja a mudança de um nó.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19200" y="3076448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19200" y="3183128"/>
            <a:ext cx="10668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TradingView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3167888"/>
            <a:ext cx="377952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0" i="0">
                <a:solidFill>
                  <a:srgbClr val="2E3439"/>
                </a:solidFill>
                <a:latin typeface="Archivo"/>
              </a:rPr>
              <a:t>Consumido pelo endpoint público do scanner. Um feed licenciado substitui </a:t>
            </a:r>
            <a:r>
              <a:rPr sz="883" b="0" i="0">
                <a:solidFill>
                  <a:srgbClr val="2E3439"/>
                </a:solidFill>
                <a:latin typeface="IBM Plex Mono"/>
              </a:rPr>
              <a:t>src/adapters/tradingview.js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 atrás da mesma interface.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4640" y="1622552"/>
            <a:ext cx="1143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E-mail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0040" y="1607312"/>
            <a:ext cx="3703320" cy="3413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0" i="0">
                <a:solidFill>
                  <a:srgbClr val="2E3439"/>
                </a:solidFill>
                <a:latin typeface="Archivo"/>
              </a:rPr>
              <a:t>Renderizado e armazenado, não enviado. Adicionar um provedor é um adaptador.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44640" y="2040128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644640" y="2146808"/>
            <a:ext cx="1143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Medidas históricas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40040" y="2131568"/>
            <a:ext cx="3703320" cy="682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0" i="0">
                <a:solidFill>
                  <a:srgbClr val="2E3439"/>
                </a:solidFill>
                <a:latin typeface="Archivo"/>
              </a:rPr>
              <a:t>Retorno anualizado, volatilidade, Sharpe contra o CDI real e drawdown máximo vêm de um histórico reconstruído para antes da plataforma existir, e são rotulados </a:t>
            </a:r>
            <a:r>
              <a:rPr sz="883" b="0" i="0">
                <a:solidFill>
                  <a:srgbClr val="2E3439"/>
                </a:solidFill>
                <a:latin typeface="IBM Plex Mono"/>
              </a:rPr>
              <a:t>historical_measure</a:t>
            </a:r>
            <a:r>
              <a:rPr sz="960" b="0" i="0">
                <a:solidFill>
                  <a:srgbClr val="2E3439"/>
                </a:solidFill>
                <a:latin typeface="Archivo"/>
              </a:rPr>
              <a:t> para nunca virarem expectativa.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644640" y="2905760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44640" y="3012440"/>
            <a:ext cx="11430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PBKDF2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0040" y="2997200"/>
            <a:ext cx="370332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60" b="0" i="0">
                <a:solidFill>
                  <a:srgbClr val="2E3439"/>
                </a:solidFill>
                <a:latin typeface="Archivo"/>
              </a:rPr>
              <a:t>100.000 iterações, o teto do Cloudflare Workers. O emulador local não impõe o limite; um valor maior passa localmente e falha só no deploy.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Um limite escrito no README é um limite que o próximo engenheiro não redescobre em produção.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README.md · docs/implementation-report.md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256946" y="32552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0" y="22"/>
                </a:moveTo>
                <a:lnTo>
                  <a:pt x="0" y="0"/>
                </a:lnTo>
                <a:lnTo>
                  <a:pt x="22" y="0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17576" y="486156"/>
            <a:ext cx="56998" cy="56998"/>
          </a:xfrm>
          <a:custGeom>
            <a:avLst/>
            <a:gdLst/>
            <a:ahLst/>
            <a:cxnLst/>
            <a:rect l="l" t="t" r="r" b="b"/>
            <a:pathLst>
              <a:path w="22" h="22">
                <a:moveTo>
                  <a:pt x="22" y="0"/>
                </a:moveTo>
                <a:lnTo>
                  <a:pt x="22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329489" y="392887"/>
            <a:ext cx="93269" cy="56998"/>
          </a:xfrm>
          <a:custGeom>
            <a:avLst/>
            <a:gdLst/>
            <a:ahLst/>
            <a:cxnLst/>
            <a:rect l="l" t="t" r="r" b="b"/>
            <a:pathLst>
              <a:path w="36" h="22">
                <a:moveTo>
                  <a:pt x="36" y="0"/>
                </a:moveTo>
                <a:lnTo>
                  <a:pt x="36" y="22"/>
                </a:lnTo>
                <a:lnTo>
                  <a:pt x="0" y="22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329489" y="418795"/>
            <a:ext cx="31090" cy="62179"/>
          </a:xfrm>
          <a:custGeom>
            <a:avLst/>
            <a:gdLst/>
            <a:ahLst/>
            <a:cxnLst/>
            <a:rect l="l" t="t" r="r" b="b"/>
            <a:pathLst>
              <a:path w="12" h="24">
                <a:moveTo>
                  <a:pt x="12" y="0"/>
                </a:moveTo>
                <a:lnTo>
                  <a:pt x="0" y="12"/>
                </a:lnTo>
                <a:lnTo>
                  <a:pt x="12" y="24"/>
                </a:lnTo>
              </a:path>
            </a:pathLst>
          </a:custGeom>
          <a:noFill/>
          <a:ln w="18135" cap="sq">
            <a:solidFill>
              <a:srgbClr val="F1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0" y="2286000"/>
            <a:ext cx="731520" cy="2438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700" b="0" i="0" cap="all" spc="160">
                <a:solidFill>
                  <a:srgbClr val="8A9196"/>
                </a:solidFill>
                <a:latin typeface="IBM Plex Mono"/>
              </a:rPr>
              <a:t>Fechamento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77000"/>
            <a:ext cx="73152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8A9196"/>
                </a:solidFill>
                <a:latin typeface="IBM Plex Mono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5280"/>
            <a:ext cx="60960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1" i="0" cap="all" spc="120">
                <a:solidFill>
                  <a:srgbClr val="5C6469"/>
                </a:solidFill>
                <a:latin typeface="IBM Plex Mono"/>
              </a:rPr>
              <a:t>Para ver ao vivo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335280"/>
            <a:ext cx="5852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Enter Asset Management · setembro 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9200" y="563880"/>
            <a:ext cx="10424160" cy="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685800"/>
            <a:ext cx="8382000" cy="753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B0D0E"/>
                </a:solidFill>
                <a:latin typeface="Newsreader"/>
              </a:rPr>
              <a:t>Cada barco, um bordo. </a:t>
            </a:r>
            <a:r>
              <a:rPr sz="2800" b="0" i="1">
                <a:solidFill>
                  <a:srgbClr val="0B0D0E"/>
                </a:solidFill>
                <a:latin typeface="Newsreader"/>
              </a:rPr>
              <a:t>O mesmo destino.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162255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1607312"/>
            <a:ext cx="3931920" cy="1742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2E3439"/>
                </a:solidFill>
                <a:latin typeface="Archivo"/>
              </a:rPr>
              <a:t>joaocreste.github.io/enter-wealth-management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19200" y="1865376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19200" y="1964436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949196"/>
            <a:ext cx="3931920" cy="348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2E3439"/>
                </a:solidFill>
                <a:latin typeface="Archivo"/>
              </a:rPr>
              <a:t>enter-wealth-advisor.joaocreste-8da.workers.dev · </a:t>
            </a:r>
            <a:r>
              <a:rPr sz="901" b="0" i="0">
                <a:solidFill>
                  <a:srgbClr val="2E3439"/>
                </a:solidFill>
                <a:latin typeface="IBM Plex Mono"/>
              </a:rPr>
              <a:t>/api/health</a:t>
            </a:r>
            <a:r>
              <a:rPr sz="980" b="0" i="0">
                <a:solidFill>
                  <a:srgbClr val="2E3439"/>
                </a:solidFill>
                <a:latin typeface="Archivo"/>
              </a:rPr>
              <a:t> diz qual caminho de narrativa está ativo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19200" y="2381504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19200" y="2480564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Repositório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465324"/>
            <a:ext cx="3931920" cy="1742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2E3439"/>
                </a:solidFill>
                <a:latin typeface="Archivo"/>
              </a:rPr>
              <a:t>github.com/joaocreste/enter-wealth-management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19200" y="2723388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19200" y="2822448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Assessor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2807208"/>
            <a:ext cx="3931920" cy="1742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2E3439"/>
                </a:solidFill>
                <a:latin typeface="Archivo"/>
              </a:rPr>
              <a:t>antonio.bicudo@enteram.com.br · enter2026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19200" y="3065272"/>
            <a:ext cx="499872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219200" y="3164332"/>
            <a:ext cx="91440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20" b="0" i="0" cap="all" spc="100">
                <a:solidFill>
                  <a:srgbClr val="5C6469"/>
                </a:solidFill>
                <a:latin typeface="IBM Plex Mono"/>
              </a:rPr>
              <a:t>Cliente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149092"/>
            <a:ext cx="3931920" cy="1742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2E3439"/>
                </a:solidFill>
                <a:latin typeface="Archivo"/>
              </a:rPr>
              <a:t>albert.dasilva@exemplo.com.br · albert2026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9200" y="3544316"/>
            <a:ext cx="499872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 cap="all" spc="120">
                <a:solidFill>
                  <a:srgbClr val="5C6469"/>
                </a:solidFill>
                <a:latin typeface="IBM Plex Mono"/>
              </a:rPr>
              <a:t>Em três comandos, localmente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19200" y="3711956"/>
            <a:ext cx="4998720" cy="64008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1219200" y="3711956"/>
            <a:ext cx="0" cy="640080"/>
          </a:xfrm>
          <a:prstGeom prst="line">
            <a:avLst/>
          </a:prstGeom>
          <a:ln w="19050">
            <a:solidFill>
              <a:srgbClr val="0B0D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341120" y="3803396"/>
            <a:ext cx="4785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npm install &amp;&amp; npm run migrate &amp;&amp; npm run dev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curl -X POST localhost:8788/api/admin/seed -d '{}' -H 'content-type: application/json'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2E3439"/>
                </a:solidFill>
                <a:latin typeface="IBM Plex Mono"/>
              </a:rPr>
              <a:t>npm run demo        # a jornada inteira, narrada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4640" y="1759712"/>
            <a:ext cx="4998720" cy="15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250" b="0" i="0">
                <a:solidFill>
                  <a:srgbClr val="2E3439"/>
                </a:solidFill>
                <a:latin typeface="Newsreader"/>
              </a:rPr>
              <a:t>A primeira versão respondia com confiança a perguntas que não sabia responder. Esta responde com fonte, e diz quando não sabe.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E3439"/>
                </a:solidFill>
                <a:latin typeface="Newsreader"/>
              </a:rPr>
              <a:t>O assessor decide; o código calcula; o modelo escreve. A ordem é essa e o grafo mostra que é essa.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640" y="3436112"/>
            <a:ext cx="4998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780" b="0" i="0">
                <a:solidFill>
                  <a:srgbClr val="5C6469"/>
                </a:solidFill>
                <a:latin typeface="Archivo"/>
              </a:rPr>
              <a:t>Este material é de uso interno da sessão de trabalho e não constitui oferta de valores mobiliários. Rentabilidade obtida no passado não representa garantia de resultados futuros. Toda cifra apresentada traz período, base e fonte.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219200" y="6370320"/>
            <a:ext cx="10424160" cy="0"/>
          </a:xfrm>
          <a:prstGeom prst="line">
            <a:avLst/>
          </a:prstGeom>
          <a:ln w="9525">
            <a:solidFill>
              <a:srgbClr val="D3D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219200" y="64465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5C6469"/>
                </a:solidFill>
                <a:latin typeface="Archivo"/>
              </a:rPr>
              <a:t>Fotografias: Baía de Guanabara, Marinelson Almeida, CC BY 2.0 · Ilhabela, Marinha do Brasil, CC BY-SA 2.0.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77200" y="644652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sz="680" b="0" i="0">
                <a:solidFill>
                  <a:srgbClr val="5C6469"/>
                </a:solidFill>
                <a:latin typeface="IBM Plex Mono"/>
              </a:rPr>
              <a:t>Diário de bordo · v1.0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7735</Words>
  <Application>Microsoft Macintosh PowerPoint</Application>
  <PresentationFormat>Widescreen</PresentationFormat>
  <Paragraphs>637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Aptos</vt:lpstr>
      <vt:lpstr>Archivo</vt:lpstr>
      <vt:lpstr>Arial</vt:lpstr>
      <vt:lpstr>Calibri</vt:lpstr>
      <vt:lpstr>IBM Plex Mono</vt:lpstr>
      <vt:lpstr>Newsreader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Joao Creste</cp:lastModifiedBy>
  <cp:revision>14</cp:revision>
  <dcterms:created xsi:type="dcterms:W3CDTF">2013-01-27T09:14:16Z</dcterms:created>
  <dcterms:modified xsi:type="dcterms:W3CDTF">2026-09-12T16:49:55Z</dcterms:modified>
  <cp:category/>
</cp:coreProperties>
</file>