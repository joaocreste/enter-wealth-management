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15 DE SETEMBRO DE 2026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98448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A1A894"/>
                </a:solidFill>
                <a:latin typeface="Roboto Light"/>
                <a:ea typeface="Roboto Light"/>
                <a:cs typeface="Roboto Light"/>
              </a:rPr>
              <a:t>XP ASSET MANAGEMENT  ·  WEALTH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932688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A carta mensal,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para o book inteiro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858768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133087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Um produto para o assessor escrever, todo mês, a cada um de até trezentos clientes — com a aritmética feita em código, a fonte de cada número anotada e a aprovação do assessor antes de qualquer envio.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7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SESSÃO DE TRABALHO ENTER × XP  ·  CONSTRUÍDO EM CLAUDE CODE, SOBRE A API DA ANTHROPIC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1947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565892" y="2628900"/>
            <a:ext cx="1874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Roteiro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ROTEIRO  ·  QUATRO 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O que vamos percorrer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Onde estamos, o que recomendamos, como o que foi construído funciona, e o que separa o que está de pé do primeiro cliente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94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08276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What is happening and why are we 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23744"/>
            <a:ext cx="991209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Trezentas cartas por mês, por assessor. A primeira tentativa rodava, produzia prosa em português e não podia ser mostrada a um cliente.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18211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291839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50691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What do you recommend?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59"/>
            <a:ext cx="991209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Um produto novo, formado por duas pontas que se encontraram no meio: o mercado lido todo dia, a carteira de cada cliente, e a carta entre os dois.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224527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33425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93107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608575"/>
            <a:ext cx="991209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Quatro agentes. Três montam o panorama do dia sozinhos na nuvem; o quarto consolida a carta mensal quando o assessor manda.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26694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376671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35523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650991"/>
            <a:ext cx="991209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que falta para sair do dado simulado: acesso, contrato de nuvem, segurança do dado financeiro, sigilo e governança do que o modelo escreve.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6309359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CAPÍTULO 01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CAPÍTULO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What is happening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and why are we here?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059936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315968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Trezentas cartas por mês, por assessor — e uma primeira tentativa que não sobreviveu à leitura.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533888" y="266090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Contexto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QUE ESTÁ ACONTECENDO  ·  A ESCALA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Trezentas cartas por mês, por assessor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assessor mantém um book de até trezentos clientes, e cada cliente espera uma carta por mês. A conta não fecha à mão, e o que a carta precisa conter não é opinião: é aritmética, procedência e política.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304288"/>
            <a:ext cx="2409443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432304"/>
            <a:ext cx="240944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B795E"/>
                </a:solidFill>
                <a:latin typeface="Hanken Grotesk Light"/>
                <a:ea typeface="Hanken Grotesk Light"/>
                <a:cs typeface="Hanken Grotesk Light"/>
              </a:rP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24094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clientes no book de um assessor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15283" y="2304288"/>
            <a:ext cx="2409444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15283" y="2432304"/>
            <a:ext cx="240944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B795E"/>
                </a:solidFill>
                <a:latin typeface="Hanken Grotesk Light"/>
                <a:ea typeface="Hanken Grotesk Light"/>
                <a:cs typeface="Hanken Grotesk Light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5283" y="2944368"/>
            <a:ext cx="24094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cartas por cliente, por ano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7" y="2304288"/>
            <a:ext cx="2409445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9047" y="2432304"/>
            <a:ext cx="240944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B795E"/>
                </a:solidFill>
                <a:latin typeface="Hanken Grotesk Light"/>
                <a:ea typeface="Hanken Grotesk Light"/>
                <a:cs typeface="Hanken Grotesk Light"/>
              </a:rPr>
              <a:t>3.600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7" y="2944368"/>
            <a:ext cx="24094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cartas por assessor, por ano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82812" y="2304288"/>
            <a:ext cx="2409444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82812" y="2432304"/>
            <a:ext cx="240944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B795E"/>
                </a:solidFill>
                <a:latin typeface="Hanken Grotesk Light"/>
                <a:ea typeface="Hanken Grotesk Light"/>
                <a:cs typeface="Hanken Grotesk Light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2812" y="2944368"/>
            <a:ext cx="24094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cartas por dia útil, se escritas à mão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3785615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3950208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8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E CADA UMA DESSAS CARTAS PRECISA ACERTAR QUATRO COISAS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34256"/>
            <a:ext cx="1417320" cy="47548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RENTABILIDADE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008" y="4366260"/>
            <a:ext cx="8842247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retorno do mês da carteira, medido contra a referência da política que o próprio cliente assinou.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80974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1520" y="4846320"/>
            <a:ext cx="1417320" cy="47548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ATRIBUIÇÃO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878324"/>
            <a:ext cx="8842247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Quem puxou o resultado para cima e para baixo, posição a posição, com o efeito do câmbio separado.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532180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1520" y="5358384"/>
            <a:ext cx="1417320" cy="47548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MERCADO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0008" y="5390388"/>
            <a:ext cx="8842247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que aconteceu no mês e, de tudo aquilo, o que de fato toca esta carteira — e não a de todo mundo.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583387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1520" y="5870448"/>
            <a:ext cx="1417320" cy="47548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PROPOSTA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0008" y="5902452"/>
            <a:ext cx="8842247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que sugerir, dentro da faixa, do teto e das restrições, com o sinal de mercado e o consenso ao lado.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6345936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volume declarado pela XP na sessão de trabalho; dias úteis, média de um mês comercial.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533888" y="266090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Contexto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QUE ESTÁ ACONTECENDO  ·  A PRIMEIRA TENTATIVA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Rodava, e não podia ser mostrada a um 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Quatro prompts em cadeia: resuma o perfil, resuma o macro, resuma a carteira, escreva a carta. Produzia prosa em português e falhava em tudo o que uma carta precisa acertar.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ARITMÉTICA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226564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Nenhum retorno era calculado. O extrato traz rentabilidade desde o início — LREN3 a −41,7%, HAPV3 a −74,58% — e nada impedia que aquilo fosse apresentado como o resultado do mês.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79806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2816352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FONTES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848356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número era o que o modelo repetia da entrada, sem registro de origem, de quando foi buscado ou se ainda era verdade. O relatório macro era de fevereiro de 2025 e entrava como se fosse de hoje.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419856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438144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DADO VENCIDO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3470148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MRFG3 virou MBRF3 e ARZZ3 virou AZZA3; nenhum provedor devolve preço para os tickers antigos. O CDB do extrato já havia vencido. A avaliação de maio de 2025 seguiria adiante, em silêncio.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04164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059936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POLÍTICA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4091940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“Faça recomendações alinhadas ao perfil” deixava o modelo inventá-las: sem sinal de mercado, sem faixa da política, sem checagem de concentração e sem lista de restrições.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663440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4681728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FORMATO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4713732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saída era texto de chat. As duas páginas, o formato da carta e a marca eram trabalho manual, refeito a cada cliente.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28523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1520" y="5303520"/>
            <a:ext cx="1417320" cy="60350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ESTADO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0008" y="5335524"/>
            <a:ext cx="8842247" cy="5394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Nada era versionado, nada era guardado, nada era reproduzível — e não havia assessor no circuito: o primeiro rascunho do modelo era a entrega.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90702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089903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Debaixo de tudo, um erro de projeto:  </a:t>
            </a:r>
            <a:r>
              <a:rPr sz="1350" b="0">
                <a:solidFill>
                  <a:srgbClr val="BB795E"/>
                </a:solidFill>
                <a:latin typeface="Hanken Grotesk"/>
                <a:ea typeface="Hanken Grotesk"/>
                <a:cs typeface="Hanken Grotesk"/>
              </a:rPr>
              <a:t>o modelo era o sistema.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docs/implementation-report.md §1 — revisão da versão inicial.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CAPÍTULO 02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CAPÍTULO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What do you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recommend?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059936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315968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Um produto novo, formado por duas pontas que se encontraram no meio.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405872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Recomendação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A RECOMENDAÇÃO  ·  A FORMA DO PRODUTO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Duas pontas, e a carta no meio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De um lado, o mercado, lido todo dia. Do outro, a carteira de cada cliente e a política que a governa. O produto é o encontro dos dois, e o encontro tem a forma de uma carta — que o assessor lê, corrige e aprova antes de o cliente 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3054096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3054096" cy="38404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MERCADO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127248"/>
            <a:ext cx="2615184" cy="1847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Cotações, séries diárias e câmbio, de provedor nomeado.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Leitura técnica e consenso de analistas, por ativo.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manchetes das últimas 48 horas, cada uma ligada ao seu artigo.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Indicadores medidos em 5 sessões e em 30 dias.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08975" y="2560320"/>
            <a:ext cx="3054096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08975" y="2560320"/>
            <a:ext cx="3054096" cy="384048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7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3127248"/>
            <a:ext cx="2615184" cy="1847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carteira aprovada, posição a posição, com os fluxos do mês.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política de investimento: faixas, tetos e restrições.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perfil de suitability e a última reunião registrada.</a:t>
            </a:r>
          </a:p>
          <a:p>
            <a:pPr algn="l">
              <a:lnSpc>
                <a:spcPct val="142000"/>
              </a:lnSpc>
              <a:spcBef>
                <a:spcPts val="100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exposição por classe de ativo, hoje.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1" y="2340864"/>
            <a:ext cx="3401568" cy="2871216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96511" y="2340864"/>
            <a:ext cx="3401568" cy="5943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743200"/>
            <a:ext cx="288950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Hanken Grotesk Light"/>
                <a:ea typeface="Hanken Grotesk Light"/>
                <a:cs typeface="Hanken Grotesk Light"/>
              </a:rPr>
              <a:t>A carta mensal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85231" y="3236976"/>
            <a:ext cx="1024128" cy="0"/>
          </a:xfrm>
          <a:prstGeom prst="line">
            <a:avLst/>
          </a:prstGeom>
          <a:ln w="1270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0831" y="3401568"/>
            <a:ext cx="2852928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DDDDDD"/>
                </a:solidFill>
                <a:latin typeface="Roboto Light"/>
                <a:ea typeface="Roboto Light"/>
                <a:cs typeface="Roboto Light"/>
              </a:rPr>
              <a:t>Rentabilidade e atribuição do mês, contra a referência da própria política.</a:t>
            </a:r>
          </a:p>
          <a:p>
            <a:pPr algn="ctr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940" b="0">
                <a:solidFill>
                  <a:srgbClr val="DDDDDD"/>
                </a:solidFill>
                <a:latin typeface="Roboto Light"/>
                <a:ea typeface="Roboto Light"/>
                <a:cs typeface="Roboto Light"/>
              </a:rPr>
              <a:t>O que do mercado toca esta carteira — e só isso.</a:t>
            </a:r>
          </a:p>
          <a:p>
            <a:pPr algn="ctr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940" b="0">
                <a:solidFill>
                  <a:srgbClr val="DDDDDD"/>
                </a:solidFill>
                <a:latin typeface="Roboto Light"/>
                <a:ea typeface="Roboto Light"/>
                <a:cs typeface="Roboto Light"/>
              </a:rPr>
              <a:t>Propostas medidas contra a faixa, o teto e as restrições.</a:t>
            </a:r>
          </a:p>
          <a:p>
            <a:pPr algn="ctr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</a:pPr>
            <a:r>
              <a:rPr sz="940" b="0">
                <a:solidFill>
                  <a:srgbClr val="DDDDDD"/>
                </a:solidFill>
                <a:latin typeface="Roboto Light"/>
                <a:ea typeface="Roboto Light"/>
                <a:cs typeface="Roboto Light"/>
              </a:rPr>
              <a:t>Lida, corrigida e aprovada pelo assessor antes de sair.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79" y="3776472"/>
            <a:ext cx="201169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552944" y="3776472"/>
            <a:ext cx="201167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" y="546811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632704"/>
            <a:ext cx="1046073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Duas portas para o mesmo documento. </a:t>
            </a:r>
            <a:r>
              <a:rPr sz="10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No portal do assessor a carta é feita, revisada e aprovada; no portal do cliente ela é lida, junto da carteira e do mês. Um documento por cliente por mês, um lugar só onde ele existe — e o mesmo agente percorre o book inteiro quando o assessor pede todas as cartas de uma vez.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405872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Recomendação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QUE FOI CRIADO  ·  PORTAL DO ASSESSOR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Portal do assessor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Trilho escuro à esquerda com o símbolo branco, páginas claras, títulos finos em oliva, filetes no lugar de molduras, tabelas com faixa carvão e o cobre como único acento.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PANORAMA DO 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318004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resumo do dia escrito pelo agente de inferência; O que importa hoje em duas tabelas, Brasil e internacional; os indicadores com sparkline; os gatilhos em barras; os desvios por cliente e a matriz de correlações.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017520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3054096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SINAIS DE 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3086100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Leitura técnica e consenso de analistas por ativo, duas famílias independentes que podem discordar, e o risco-retorno dos doze meses fechados com a fronteira empírica por cima.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785615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822191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CLIENTES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854196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tabela do book — patrimônio, mês, referência, última reunião, próxima revisão, estado da carta e alertas — e um cartão por cliente com os pontos que pedem atenção.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553712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590288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GATILHOS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4622292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limiar configurado e cada desvio de alocação com sua proximidade (1,0 = no limiar), desenhado como barra, dizendo quando uma ação é devida.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321807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5358383"/>
            <a:ext cx="1298448" cy="7315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PÁGINA DO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5390388"/>
            <a:ext cx="4992624" cy="6675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Carteira, desempenho, recomendações com o guarda-corpo de suitability, preparação de reunião, editor de carteira, cartas e auditoria — e os dois botões que disparam agentes.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6089903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74736" y="199339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PANORAMA DO DIA  ·  TOPO DA PÁGINA</a:t>
            </a:r>
          </a:p>
        </p:txBody>
      </p:sp>
      <p:pic>
        <p:nvPicPr>
          <p:cNvPr id="25" name="Picture 24" descr="shot-pano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2231136"/>
            <a:ext cx="3014816" cy="407822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2677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405872" y="2788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Recomendação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QUE FOI CRIADO  ·  PORTAL DO CLIENTE E A CARTA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Portal do cliente, e a carta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mesmo sistema visual com menos superfície. O cliente vê a carteira, o mês e a carta que o assessor aprovou — nada em rascunho, nada gerado na hora em que a página abre.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MINHA CARTEIRA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318004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composição por classe com a faixa permitida desenhada em vez de escrita, as posições e o patrimônio do dia, cada preço com o provedor que o forneceu.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962656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2999232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ÚLTIMO MÊS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3031236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Rentabilidade contra a referência da própria política, atribuição por posição e os fluxos do mês — os mesmos números da carta, porque saem do mesmo cálculo.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675888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712464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QUE IMPORTA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744468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recorte do panorama do dia que toca esta carteira, com a fonte de cada linha e o link para a matéria de onde a manchete veio.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389120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425696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CARTA DO ASSESSOR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4457700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carta publicada, exatamente como foi aprovada, com o gráfico de posicionamento, as fontes usadas ao pé e o disclaimer.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102352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5138928"/>
            <a:ext cx="1298448" cy="676656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DOCUMENTOS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5170932"/>
            <a:ext cx="4992624" cy="61264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política de investimento em vigor — o PDF em que ela foi acordada, quem subiu e quando — e as cartas anteriores.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815584"/>
            <a:ext cx="64922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6016752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Uma carga, três saídas. </a:t>
            </a: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Portal, PDF de duas páginas e e-mail saem do mesmo modelo de carta e da mesma geometria de gráfico, de modo que não podem discordar entre 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1993392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CARTA DO ASSESSOR  ·  E O PDF</a:t>
            </a:r>
          </a:p>
        </p:txBody>
      </p:sp>
      <p:pic>
        <p:nvPicPr>
          <p:cNvPr id="26" name="Picture 25" descr="shot-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4736" y="2231136"/>
            <a:ext cx="3014816" cy="407822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7" name="Rectangle 26"/>
          <p:cNvSpPr/>
          <p:nvPr/>
        </p:nvSpPr>
        <p:spPr>
          <a:xfrm>
            <a:off x="9875520" y="4370832"/>
            <a:ext cx="1280160" cy="1764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pic>
        <p:nvPicPr>
          <p:cNvPr id="28" name="Picture 27" descr="pd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4" y="4425696"/>
            <a:ext cx="1170432" cy="165365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CAPÍTULO 03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CAPÍTULO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How it works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529584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785615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Quatro agentes: três montam o panorama do dia e rodam sozinhos na nuvem; o quarto consolida a carta mensal quando o assessor manda.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O ESQUEMA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Quatro agentes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72768"/>
            <a:ext cx="10460736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224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TODO DIA ÀS 07:00 DE SÃO PAULO  ·  CRON DA CLOUDFLARE  ·  E DE NOVO SEMPRE QUE O ASSESSOR PEDIR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84831"/>
            <a:ext cx="3206495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84831"/>
            <a:ext cx="3206495" cy="4572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286000"/>
            <a:ext cx="27675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23744"/>
            <a:ext cx="276758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26080"/>
            <a:ext cx="276758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Busca cotações, séries diárias e sinais técnicos, mede 5 sessões e 30 dias, lê as manchetes das últimas 48 horas — e anota a fonte de cada número que traz.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92879" y="2935224"/>
            <a:ext cx="310897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58640" y="2084831"/>
            <a:ext cx="3206495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8640" y="2084831"/>
            <a:ext cx="3206495" cy="4572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8096" y="2286000"/>
            <a:ext cx="27675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8096" y="2523744"/>
            <a:ext cx="276758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Inferência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8096" y="2926080"/>
            <a:ext cx="276758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Lê o que o primeiro reuniu junto da exposição de cada cliente e decide o que, de tudo aquilo, importa para estas carteiras hoje. É ele que escreve o resumo do dia.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20000" y="2935224"/>
            <a:ext cx="310896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985759" y="2084831"/>
            <a:ext cx="3206495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5759" y="2084831"/>
            <a:ext cx="3206495" cy="4572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5215" y="2286000"/>
            <a:ext cx="276758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5215" y="2523744"/>
            <a:ext cx="276758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Gatilhos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5215" y="2926080"/>
            <a:ext cx="2767583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Compara cada indicador com os limiares configurados de cada carteira e cada desvio com a política que a governa, e diz quando uma ação é devida.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3950208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4041648"/>
            <a:ext cx="1046073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7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PANORAMA DO DIA</a:t>
            </a:r>
            <a:r>
              <a:rPr sz="850" b="0" spc="17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   ·   RODAM EM SEQUÊNCIA, SOZINHOS, SEM DEPENDER DA MÁQUINA DE NINGUÉM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572000"/>
            <a:ext cx="10460736" cy="140817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572000"/>
            <a:ext cx="50292" cy="140817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773168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992624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Carta mensal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76672"/>
            <a:ext cx="411480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Comandado pelo assessor a partir da página do cliente. Abre uma aba própria e relata cada etapa enquanto roda.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97433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21424" y="5138928"/>
            <a:ext cx="164592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022592" y="497433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Análise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66175" y="5138928"/>
            <a:ext cx="164593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467344" y="497433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Redação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10928" y="5138928"/>
            <a:ext cx="164592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912096" y="4974336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Diagramação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413248"/>
            <a:ext cx="554126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Reúne os dados do mês, calcula rentabilidade, atribuição e propostas, escreve a carta, diagrama em PDF e e-mail e atualiza o portal. É esse mesmo agente que percorre o book inteiro quando o assessor pede todas as cartas de uma vez.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OS TRÊS AGENTES DO 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O panorama, montado sozinho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Rodam em sequência dentro do Worker, todo dia às sete da manhã e de novo sempre que o assessor aperta atualizar dados de mercado — o que abre um cartão de progresso dizendo o que cada agente está fazendo enquanto roda.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157984"/>
            <a:ext cx="3169920" cy="0"/>
          </a:xfrm>
          <a:prstGeom prst="line">
            <a:avLst/>
          </a:prstGeom>
          <a:ln w="2540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04288"/>
            <a:ext cx="316991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31699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BUSCA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Todo indicador monitorado com o movimento do dia, as séries diárias guardadas em R2, os sinais técnicos e o consenso de analistas, e as manchetes das últimas 48 horas.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DE ONDE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8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Yahoo Finance e TradingView para preço e sinal, Banco Central para CDI, Selic, IPCA e PTAX, CoinGecko para ativos digitais, Valor Econômico e Google News para as manchetes.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GARANTE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48656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número traz o seu registro de origem: quem forneceu, quando foi buscado e se é definitivo ou de sessão em curso.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6928" y="2157984"/>
            <a:ext cx="3169919" cy="0"/>
          </a:xfrm>
          <a:prstGeom prst="line">
            <a:avLst/>
          </a:prstGeom>
          <a:ln w="2540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6928" y="2304288"/>
            <a:ext cx="316991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AGENTE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6928" y="2542032"/>
            <a:ext cx="31699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Inferência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6928" y="2999232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LÊ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6928" y="3200400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Tudo o que o primeiro reuniu, junto da exposição de cada cliente por classe de ativo.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6928" y="4023360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6928" y="4224528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que, de tudo aquilo, importa para estas carteiras hoje — e em que ordem. É ele que escreve o resumo do dia e as linhas de O que importa hoje, em português.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6928" y="5047488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GARANTE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6928" y="5248656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aritmética da exposição fica no código. O modelo nunca escreve um número que não esteja nos fatos que recebeu.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22336" y="2157984"/>
            <a:ext cx="3169920" cy="0"/>
          </a:xfrm>
          <a:prstGeom prst="line">
            <a:avLst/>
          </a:prstGeom>
          <a:ln w="25400">
            <a:solidFill>
              <a:srgbClr val="2A3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22336" y="2304288"/>
            <a:ext cx="316991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2A3B43"/>
                </a:solidFill>
                <a:latin typeface="Roboto Mono"/>
                <a:ea typeface="Roboto Mono"/>
                <a:cs typeface="Roboto Mono"/>
              </a:rPr>
              <a:t>AGENTE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2336" y="2542032"/>
            <a:ext cx="31699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Gatilhos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2336" y="2999232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COMPARA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2336" y="3200400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indicador contra os limiares configurados de cada carteira, e cada desvio de alocação contra a política que a governa.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2336" y="4023360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COMO MOSTRA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2336" y="4224528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 uma proximidade — 1,0 é estar no limiar — que o portal desenha como barra, de modo que dá para ver o que está perto sem ter estourado.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2336" y="5047488"/>
            <a:ext cx="316991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50">
                <a:solidFill>
                  <a:srgbClr val="7F7F7F"/>
                </a:solidFill>
                <a:latin typeface="Roboto"/>
                <a:ea typeface="Roboto"/>
                <a:cs typeface="Roboto"/>
              </a:rPr>
              <a:t>O QUE GARANTE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2336" y="5248656"/>
            <a:ext cx="316991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Código puro, sem modelo. Diz quando uma ação é devida; não diz qual, e não executa nenhuma.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943600"/>
            <a:ext cx="10460736" cy="4206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224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SEM CHAVE DE API O PRODUTO NÃO PARA: AS MANCHETES CONTINUAM CHEGANDO E SÃO CLASSIFICADAS POR REGRA, E O RESUMO DO DIA SAI DE UM REDATOR DETERMINÍSTICO, EM PORTUGUÊS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O QUARTO AGENTE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A carta mensal, em quatro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Comandado pelo assessor a partir da página do cliente. Escreve a mesma carta que o grafo do Rivet produz e a deposita na mesma linha, de modo que existe um único documento mensal por cliente e um único lugar onde ele é lido, aprovado e publicado.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71700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87168"/>
            <a:ext cx="9912096" cy="548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carteira aprovada, a política, os fluxos do mês, os preços de abertura e fechamento de cada posição com o câmbio, e a próxima reunião já na agenda — cada um com o registro de quem forneceu.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072384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1638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22676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Análise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38144"/>
            <a:ext cx="9912096" cy="548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Rentabilidade do mês por Dietz modificado contra a alocação-alvo da política precificada como referência; os indicadores e eventos mantidos só onde tocam esta carteira; leitura técnica e consenso por posição; e as propostas medidas contra a política.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023360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1148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73652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Redação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89120"/>
            <a:ext cx="9912096" cy="548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modelo escreve o título, a saudação e quatro a seis parágrafos a partir de um objeto de fatos em que toda cifra já é texto formatado. Nunca lhe pedem um número — e uma carta com cifra que os fatos não forneceram é recusada e pedida de novo.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974336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506577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108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4628"/>
            <a:ext cx="9912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Diagramação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40096"/>
            <a:ext cx="9912096" cy="548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carta na página um e o anexo na página dois, o e-mail e a página do portal, todos para o R2 com o relatório canônico por trás. Uma terceira página faz a etapa falhar.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925312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" y="5870448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6016752"/>
            <a:ext cx="1046073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Roboto"/>
                <a:ea typeface="Roboto"/>
                <a:cs typeface="Roboto"/>
              </a:rPr>
              <a:t>A carta nasce pendente de aprovação. </a:t>
            </a:r>
            <a:r>
              <a:rPr sz="10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Só uma carta publicada chega ao cliente, um mês já publicado é recusado em vez de sobrescrito, e o mesmo agente percorre o book inteiro quando o assessor pede todas as cartas de uma vez.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A BASE DA CONSTRUÇÃO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Claude Code, a API da Anthropic e um 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construção foi feita em Claude Code, sobre a API da Anthropic. O modelo tem um trabalho definido e estreito, e o resto é código.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5798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QUE O MODELO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18998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Escreve e classifica: a carta, a leitura do dia e o assunto de cada manchete.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2852928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288950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QUE ELE RECEBE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292150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Os números já calculados, como texto formatado. Se devolver um que não estava nos fatos, a carta é recusada.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584448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62102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SEM CHAVE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365302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Um redator determinístico faz o mesmo em português, e as manchetes são classificadas por regra. O produto não depende de o modelo estar de pé.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315968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35254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438454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Cada etapa é um bloco que chama o Worker da Cloudflare, onde a conta é feita. Trocar o driver não muda o resultado.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5047488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5084064"/>
            <a:ext cx="1572768" cy="69494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RIVET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5456" y="5116068"/>
            <a:ext cx="4901184" cy="6309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Existe para que a sequência e os prompts fiquem legíveis e editáveis: um orquestrador e nove estágios encadeados por um gate, gerados a partir do arquivo único de prompts.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779007"/>
            <a:ext cx="667512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2400" y="2157984"/>
            <a:ext cx="3419856" cy="2706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1856" y="2359152"/>
            <a:ext cx="29809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6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A CADEIA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688336"/>
            <a:ext cx="287121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688336"/>
            <a:ext cx="45720" cy="512064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770632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Rivet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62656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o grafo: sequência e prompts, legíveis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82328" y="3236976"/>
            <a:ext cx="0" cy="18288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046720" y="3438144"/>
            <a:ext cx="287121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438144"/>
            <a:ext cx="45720" cy="51206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520439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Worker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12463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a conta, na Cloudflare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82328" y="3986783"/>
            <a:ext cx="0" cy="18288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046720" y="4187952"/>
            <a:ext cx="287121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4187952"/>
            <a:ext cx="45720" cy="512064"/>
          </a:xfrm>
          <a:prstGeom prst="rect">
            <a:avLst/>
          </a:prstGeom>
          <a:solidFill>
            <a:srgbClr val="45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270248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D1 · R2 · KV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462272"/>
            <a:ext cx="259689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registro, PDFs e cache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992624"/>
            <a:ext cx="287121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modelo entra em um estágio só, o da redação, e recebe fatos — nunca a planilha.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src/llm/prompts.js — todo prompt em um arquivo; rivet/build-graph.mjs gera o grafo a partir dele.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73868" y="2820924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Como funciona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COMO FUNCIONA  ·  A PLANTA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Onde tudo mora, na Cloudflare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Um Worker à frente, três Workflows duráveis atrás, e três armazéns com papéis separados: o registro, os arquivos, o cache.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1956816"/>
            <a:ext cx="8796528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06624" y="1865376"/>
            <a:ext cx="118872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87452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00">
                <a:solidFill>
                  <a:srgbClr val="BB795E"/>
                </a:solidFill>
                <a:latin typeface="Roboto"/>
                <a:ea typeface="Roboto"/>
                <a:cs typeface="Roboto"/>
              </a:rPr>
              <a:t>CLOUDFLARE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2082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3060"/>
                </a:moveTo>
                <a:cubicBezTo>
                  <a:pt x="15075" y="3060"/>
                  <a:pt x="18540" y="6525"/>
                  <a:pt x="18540" y="10800"/>
                </a:cubicBezTo>
                <a:cubicBezTo>
                  <a:pt x="18540" y="15075"/>
                  <a:pt x="15075" y="18540"/>
                  <a:pt x="10800" y="18540"/>
                </a:cubicBezTo>
                <a:cubicBezTo>
                  <a:pt x="6525" y="18540"/>
                  <a:pt x="3060" y="15075"/>
                  <a:pt x="3060" y="10800"/>
                </a:cubicBezTo>
                <a:cubicBezTo>
                  <a:pt x="3060" y="6525"/>
                  <a:pt x="6525" y="3060"/>
                  <a:pt x="10800" y="3060"/>
                </a:cubicBezTo>
                <a:close/>
                <a:moveTo>
                  <a:pt x="10800" y="5940"/>
                </a:moveTo>
                <a:lnTo>
                  <a:pt x="10800" y="10980"/>
                </a:lnTo>
                <a:lnTo>
                  <a:pt x="14400" y="12960"/>
                </a:lnTo>
              </a:path>
            </a:pathLst>
          </a:custGeom>
          <a:noFill/>
          <a:ln w="12700" cap="rnd">
            <a:solidFill>
              <a:srgbClr val="2A3B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0116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67712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todo dia às 10:00 UTC — 07:00 em São Paulo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2130552"/>
            <a:ext cx="402336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" y="281635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4860" y="2520"/>
                </a:moveTo>
                <a:lnTo>
                  <a:pt x="4860" y="16560"/>
                </a:lnTo>
                <a:lnTo>
                  <a:pt x="8640" y="12870"/>
                </a:lnTo>
                <a:lnTo>
                  <a:pt x="11070" y="18180"/>
                </a:lnTo>
                <a:lnTo>
                  <a:pt x="13410" y="17100"/>
                </a:lnTo>
                <a:lnTo>
                  <a:pt x="10980" y="11880"/>
                </a:lnTo>
                <a:lnTo>
                  <a:pt x="16200" y="11610"/>
                </a:lnTo>
                <a:close/>
              </a:path>
            </a:pathLst>
          </a:custGeom>
          <a:noFill/>
          <a:ln w="12700" cap="rnd">
            <a:solidFill>
              <a:srgbClr val="2A3B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28072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O assessor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pede a carta de um cliente, ou o book inteiro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2926080"/>
            <a:ext cx="402336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1520" y="3611880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4140" y="3960"/>
                </a:moveTo>
                <a:lnTo>
                  <a:pt x="17460" y="3960"/>
                </a:lnTo>
                <a:cubicBezTo>
                  <a:pt x="18554" y="3960"/>
                  <a:pt x="19440" y="4846"/>
                  <a:pt x="19440" y="5940"/>
                </a:cubicBezTo>
                <a:lnTo>
                  <a:pt x="19440" y="15660"/>
                </a:lnTo>
                <a:cubicBezTo>
                  <a:pt x="19440" y="16754"/>
                  <a:pt x="18554" y="17640"/>
                  <a:pt x="17460" y="17640"/>
                </a:cubicBezTo>
                <a:lnTo>
                  <a:pt x="4140" y="17640"/>
                </a:lnTo>
                <a:cubicBezTo>
                  <a:pt x="3046" y="17640"/>
                  <a:pt x="2160" y="16754"/>
                  <a:pt x="2160" y="15660"/>
                </a:cubicBezTo>
                <a:lnTo>
                  <a:pt x="2160" y="5940"/>
                </a:lnTo>
                <a:cubicBezTo>
                  <a:pt x="2160" y="4846"/>
                  <a:pt x="3046" y="3960"/>
                  <a:pt x="4140" y="3960"/>
                </a:cubicBezTo>
                <a:close/>
                <a:moveTo>
                  <a:pt x="6300" y="9180"/>
                </a:moveTo>
                <a:lnTo>
                  <a:pt x="9360" y="11610"/>
                </a:lnTo>
                <a:lnTo>
                  <a:pt x="6300" y="14040"/>
                </a:lnTo>
                <a:moveTo>
                  <a:pt x="11700" y="14040"/>
                </a:moveTo>
                <a:lnTo>
                  <a:pt x="15660" y="14040"/>
                </a:lnTo>
              </a:path>
            </a:pathLst>
          </a:custGeom>
          <a:noFill/>
          <a:ln w="12700" cap="rnd">
            <a:solidFill>
              <a:srgbClr val="2A3B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360273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Job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5876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09:00 UTC: o macro da XP, o site que barra o Worker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94560" y="3721608"/>
            <a:ext cx="402336" cy="0"/>
          </a:xfrm>
          <a:prstGeom prst="line">
            <a:avLst/>
          </a:prstGeom>
          <a:ln w="12700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615184" y="2212848"/>
            <a:ext cx="2139696" cy="168249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15184" y="2212848"/>
            <a:ext cx="2139696" cy="4572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79776" y="24140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7200" y="5760"/>
                </a:moveTo>
                <a:lnTo>
                  <a:pt x="14400" y="5760"/>
                </a:lnTo>
                <a:cubicBezTo>
                  <a:pt x="15195" y="5760"/>
                  <a:pt x="15840" y="6405"/>
                  <a:pt x="15840" y="7200"/>
                </a:cubicBezTo>
                <a:lnTo>
                  <a:pt x="15840" y="14400"/>
                </a:lnTo>
                <a:cubicBezTo>
                  <a:pt x="15840" y="15195"/>
                  <a:pt x="15195" y="15840"/>
                  <a:pt x="14400" y="15840"/>
                </a:cubicBezTo>
                <a:lnTo>
                  <a:pt x="7200" y="15840"/>
                </a:lnTo>
                <a:cubicBezTo>
                  <a:pt x="6405" y="15840"/>
                  <a:pt x="5760" y="15195"/>
                  <a:pt x="5760" y="14400"/>
                </a:cubicBezTo>
                <a:lnTo>
                  <a:pt x="5760" y="7200"/>
                </a:lnTo>
                <a:cubicBezTo>
                  <a:pt x="5760" y="6405"/>
                  <a:pt x="6405" y="5760"/>
                  <a:pt x="7200" y="5760"/>
                </a:cubicBezTo>
                <a:close/>
                <a:moveTo>
                  <a:pt x="9630" y="9180"/>
                </a:moveTo>
                <a:lnTo>
                  <a:pt x="11970" y="9180"/>
                </a:lnTo>
                <a:cubicBezTo>
                  <a:pt x="12219" y="9180"/>
                  <a:pt x="12420" y="9381"/>
                  <a:pt x="12420" y="9630"/>
                </a:cubicBezTo>
                <a:lnTo>
                  <a:pt x="12420" y="11970"/>
                </a:lnTo>
                <a:cubicBezTo>
                  <a:pt x="12420" y="12219"/>
                  <a:pt x="12219" y="12420"/>
                  <a:pt x="11970" y="12420"/>
                </a:cubicBezTo>
                <a:lnTo>
                  <a:pt x="9630" y="12420"/>
                </a:lnTo>
                <a:cubicBezTo>
                  <a:pt x="9381" y="12420"/>
                  <a:pt x="9180" y="12219"/>
                  <a:pt x="9180" y="11970"/>
                </a:cubicBezTo>
                <a:lnTo>
                  <a:pt x="9180" y="9630"/>
                </a:lnTo>
                <a:cubicBezTo>
                  <a:pt x="9180" y="9381"/>
                  <a:pt x="9381" y="9180"/>
                  <a:pt x="9630" y="9180"/>
                </a:cubicBezTo>
                <a:close/>
                <a:moveTo>
                  <a:pt x="8460" y="5760"/>
                </a:moveTo>
                <a:lnTo>
                  <a:pt x="8460" y="2880"/>
                </a:lnTo>
                <a:moveTo>
                  <a:pt x="13140" y="5760"/>
                </a:moveTo>
                <a:lnTo>
                  <a:pt x="13140" y="2880"/>
                </a:lnTo>
                <a:moveTo>
                  <a:pt x="8460" y="18720"/>
                </a:moveTo>
                <a:lnTo>
                  <a:pt x="8460" y="15840"/>
                </a:lnTo>
                <a:moveTo>
                  <a:pt x="13140" y="18720"/>
                </a:moveTo>
                <a:lnTo>
                  <a:pt x="13140" y="15840"/>
                </a:lnTo>
                <a:moveTo>
                  <a:pt x="5760" y="8460"/>
                </a:moveTo>
                <a:lnTo>
                  <a:pt x="2880" y="8460"/>
                </a:lnTo>
                <a:moveTo>
                  <a:pt x="5760" y="13140"/>
                </a:moveTo>
                <a:lnTo>
                  <a:pt x="2880" y="13140"/>
                </a:lnTo>
                <a:moveTo>
                  <a:pt x="18720" y="8460"/>
                </a:moveTo>
                <a:lnTo>
                  <a:pt x="15840" y="8460"/>
                </a:lnTo>
                <a:moveTo>
                  <a:pt x="18720" y="13140"/>
                </a:moveTo>
                <a:lnTo>
                  <a:pt x="15840" y="13140"/>
                </a:lnTo>
              </a:path>
            </a:pathLst>
          </a:custGeom>
          <a:noFill/>
          <a:ln w="13970" cap="rnd">
            <a:solidFill>
              <a:srgbClr val="BB79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2432304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776" y="2761488"/>
            <a:ext cx="181051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7F7F7F"/>
                </a:solidFill>
                <a:latin typeface="Roboto Mono"/>
                <a:ea typeface="Roboto Mono"/>
                <a:cs typeface="Roboto Mono"/>
              </a:rPr>
              <a:t>enter-wealth-advisor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98064" y="3063303"/>
            <a:ext cx="59436" cy="5943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62656" y="3017520"/>
            <a:ext cx="1627632" cy="2058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gate, antes da página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98064" y="3305746"/>
            <a:ext cx="59436" cy="5943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2656" y="3259963"/>
            <a:ext cx="1627632" cy="2058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rotas /api e os ASSETS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98064" y="3548189"/>
            <a:ext cx="59436" cy="5943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62656" y="3502406"/>
            <a:ext cx="1627632" cy="2058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saídas partem daqui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3208" y="2212848"/>
            <a:ext cx="2468880" cy="168249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93208" y="2212848"/>
            <a:ext cx="2468880" cy="4572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57800" y="24140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4140" y="8640"/>
                </a:moveTo>
                <a:cubicBezTo>
                  <a:pt x="5333" y="8640"/>
                  <a:pt x="6300" y="9607"/>
                  <a:pt x="6300" y="10800"/>
                </a:cubicBezTo>
                <a:cubicBezTo>
                  <a:pt x="6300" y="11993"/>
                  <a:pt x="5333" y="12960"/>
                  <a:pt x="4140" y="12960"/>
                </a:cubicBezTo>
                <a:cubicBezTo>
                  <a:pt x="2947" y="12960"/>
                  <a:pt x="1980" y="11993"/>
                  <a:pt x="1980" y="10800"/>
                </a:cubicBezTo>
                <a:cubicBezTo>
                  <a:pt x="1980" y="9607"/>
                  <a:pt x="2947" y="8640"/>
                  <a:pt x="4140" y="8640"/>
                </a:cubicBezTo>
                <a:close/>
                <a:moveTo>
                  <a:pt x="10800" y="8640"/>
                </a:moveTo>
                <a:cubicBezTo>
                  <a:pt x="11993" y="8640"/>
                  <a:pt x="12960" y="9607"/>
                  <a:pt x="12960" y="10800"/>
                </a:cubicBezTo>
                <a:cubicBezTo>
                  <a:pt x="12960" y="11993"/>
                  <a:pt x="11993" y="12960"/>
                  <a:pt x="10800" y="12960"/>
                </a:cubicBezTo>
                <a:cubicBezTo>
                  <a:pt x="9607" y="12960"/>
                  <a:pt x="8640" y="11993"/>
                  <a:pt x="8640" y="10800"/>
                </a:cubicBezTo>
                <a:cubicBezTo>
                  <a:pt x="8640" y="9607"/>
                  <a:pt x="9607" y="8640"/>
                  <a:pt x="10800" y="8640"/>
                </a:cubicBezTo>
                <a:close/>
                <a:moveTo>
                  <a:pt x="17460" y="8640"/>
                </a:moveTo>
                <a:cubicBezTo>
                  <a:pt x="18653" y="8640"/>
                  <a:pt x="19620" y="9607"/>
                  <a:pt x="19620" y="10800"/>
                </a:cubicBezTo>
                <a:cubicBezTo>
                  <a:pt x="19620" y="11993"/>
                  <a:pt x="18653" y="12960"/>
                  <a:pt x="17460" y="12960"/>
                </a:cubicBezTo>
                <a:cubicBezTo>
                  <a:pt x="16267" y="12960"/>
                  <a:pt x="15300" y="11993"/>
                  <a:pt x="15300" y="10800"/>
                </a:cubicBezTo>
                <a:cubicBezTo>
                  <a:pt x="15300" y="9607"/>
                  <a:pt x="16267" y="8640"/>
                  <a:pt x="17460" y="8640"/>
                </a:cubicBezTo>
                <a:close/>
                <a:moveTo>
                  <a:pt x="6480" y="10800"/>
                </a:moveTo>
                <a:lnTo>
                  <a:pt x="8460" y="10800"/>
                </a:lnTo>
                <a:moveTo>
                  <a:pt x="13140" y="10800"/>
                </a:moveTo>
                <a:lnTo>
                  <a:pt x="15120" y="10800"/>
                </a:lnTo>
              </a:path>
            </a:pathLst>
          </a:custGeom>
          <a:noFill/>
          <a:ln w="13970" cap="rnd">
            <a:solidFill>
              <a:srgbClr val="BB79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3560" y="2432304"/>
            <a:ext cx="181051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Workflows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2761488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duráveis — a aba pode fechar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57800" y="3076956"/>
            <a:ext cx="50292" cy="50292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4104" y="299923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Panorama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3022091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Roboto Mono"/>
                <a:ea typeface="Roboto Mono"/>
                <a:cs typeface="Roboto Mono"/>
              </a:rPr>
              <a:t>3 etapas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57800" y="3218687"/>
            <a:ext cx="213969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257800" y="3369563"/>
            <a:ext cx="50292" cy="50292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04104" y="32918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Carta mensal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6248" y="3314699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Roboto Mono"/>
                <a:ea typeface="Roboto Mono"/>
                <a:cs typeface="Roboto Mono"/>
              </a:rPr>
              <a:t>4 etapas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257800" y="3511296"/>
            <a:ext cx="213969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257800" y="3662172"/>
            <a:ext cx="50292" cy="50292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4104" y="3584447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Cartas em lote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6248" y="3607307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Roboto Mono"/>
                <a:ea typeface="Roboto Mono"/>
                <a:cs typeface="Roboto Mono"/>
              </a:rPr>
              <a:t>1 por cliente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257800" y="3803903"/>
            <a:ext cx="213969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7900416" y="2212848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00416" y="2212848"/>
            <a:ext cx="45720" cy="530352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83296" y="235915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700"/>
                </a:moveTo>
                <a:cubicBezTo>
                  <a:pt x="14777" y="2700"/>
                  <a:pt x="18000" y="3989"/>
                  <a:pt x="18000" y="5580"/>
                </a:cubicBezTo>
                <a:cubicBezTo>
                  <a:pt x="18000" y="7171"/>
                  <a:pt x="14777" y="8460"/>
                  <a:pt x="10800" y="8460"/>
                </a:cubicBezTo>
                <a:cubicBezTo>
                  <a:pt x="6823" y="8460"/>
                  <a:pt x="3600" y="7171"/>
                  <a:pt x="3600" y="5580"/>
                </a:cubicBezTo>
                <a:cubicBezTo>
                  <a:pt x="3600" y="3989"/>
                  <a:pt x="6823" y="2700"/>
                  <a:pt x="10800" y="2700"/>
                </a:cubicBezTo>
                <a:close/>
                <a:moveTo>
                  <a:pt x="3600" y="5580"/>
                </a:moveTo>
                <a:lnTo>
                  <a:pt x="3600" y="16020"/>
                </a:lnTo>
                <a:cubicBezTo>
                  <a:pt x="3600" y="17613"/>
                  <a:pt x="6822" y="18900"/>
                  <a:pt x="10800" y="18900"/>
                </a:cubicBezTo>
                <a:cubicBezTo>
                  <a:pt x="14778" y="18900"/>
                  <a:pt x="18000" y="17613"/>
                  <a:pt x="18000" y="16020"/>
                </a:cubicBezTo>
                <a:lnTo>
                  <a:pt x="18000" y="5580"/>
                </a:lnTo>
                <a:moveTo>
                  <a:pt x="18000" y="10800"/>
                </a:moveTo>
                <a:cubicBezTo>
                  <a:pt x="18000" y="12393"/>
                  <a:pt x="14778" y="13680"/>
                  <a:pt x="10800" y="13680"/>
                </a:cubicBezTo>
                <a:cubicBezTo>
                  <a:pt x="6822" y="13680"/>
                  <a:pt x="3600" y="12393"/>
                  <a:pt x="3600" y="10800"/>
                </a:cubicBezTo>
              </a:path>
            </a:pathLst>
          </a:custGeom>
          <a:noFill/>
          <a:ln w="13335" cap="rnd">
            <a:solidFill>
              <a:srgbClr val="BB79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23042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72016" y="2340864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Roboto Mono"/>
                <a:ea typeface="Roboto Mono"/>
                <a:cs typeface="Roboto Mono"/>
              </a:rPr>
              <a:t>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514600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clientes, política, recomendações e aprovações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00416" y="2788920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00416" y="2788920"/>
            <a:ext cx="45720" cy="530352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83296" y="293522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3060" y="3060"/>
                </a:moveTo>
                <a:lnTo>
                  <a:pt x="18540" y="3060"/>
                </a:lnTo>
                <a:cubicBezTo>
                  <a:pt x="19037" y="3060"/>
                  <a:pt x="19440" y="3463"/>
                  <a:pt x="19440" y="3960"/>
                </a:cubicBezTo>
                <a:lnTo>
                  <a:pt x="19440" y="6120"/>
                </a:lnTo>
                <a:cubicBezTo>
                  <a:pt x="19440" y="6617"/>
                  <a:pt x="19037" y="7020"/>
                  <a:pt x="18540" y="7020"/>
                </a:cubicBezTo>
                <a:lnTo>
                  <a:pt x="3060" y="7020"/>
                </a:lnTo>
                <a:cubicBezTo>
                  <a:pt x="2563" y="7020"/>
                  <a:pt x="2160" y="6617"/>
                  <a:pt x="2160" y="6120"/>
                </a:cubicBezTo>
                <a:lnTo>
                  <a:pt x="2160" y="3960"/>
                </a:lnTo>
                <a:cubicBezTo>
                  <a:pt x="2160" y="3463"/>
                  <a:pt x="2563" y="3060"/>
                  <a:pt x="3060" y="3060"/>
                </a:cubicBezTo>
                <a:close/>
                <a:moveTo>
                  <a:pt x="3960" y="7020"/>
                </a:moveTo>
                <a:lnTo>
                  <a:pt x="3960" y="17280"/>
                </a:lnTo>
                <a:cubicBezTo>
                  <a:pt x="3960" y="18171"/>
                  <a:pt x="4689" y="18900"/>
                  <a:pt x="5580" y="18900"/>
                </a:cubicBezTo>
                <a:lnTo>
                  <a:pt x="16020" y="18900"/>
                </a:lnTo>
                <a:cubicBezTo>
                  <a:pt x="16911" y="18900"/>
                  <a:pt x="17640" y="18171"/>
                  <a:pt x="17640" y="17280"/>
                </a:cubicBezTo>
                <a:lnTo>
                  <a:pt x="17640" y="7020"/>
                </a:lnTo>
                <a:moveTo>
                  <a:pt x="8820" y="10620"/>
                </a:moveTo>
                <a:lnTo>
                  <a:pt x="12780" y="10620"/>
                </a:lnTo>
              </a:path>
            </a:pathLst>
          </a:custGeom>
          <a:noFill/>
          <a:ln w="13335" cap="rnd">
            <a:solidFill>
              <a:srgbClr val="2A3B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28803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72016" y="2916936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Roboto Mono"/>
                <a:ea typeface="Roboto Mono"/>
                <a:cs typeface="Roboto Mono"/>
              </a:rPr>
              <a:t>REPORTS · MARKET_SERIES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3090672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PDFs e cartas prontas · séries diárias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00416" y="3364991"/>
            <a:ext cx="307238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00416" y="3364991"/>
            <a:ext cx="45720" cy="530352"/>
          </a:xfrm>
          <a:prstGeom prst="rect">
            <a:avLst/>
          </a:prstGeom>
          <a:solidFill>
            <a:srgbClr val="828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83296" y="3511296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6840" y="7380"/>
                </a:moveTo>
                <a:cubicBezTo>
                  <a:pt x="8729" y="7380"/>
                  <a:pt x="10260" y="8911"/>
                  <a:pt x="10260" y="10800"/>
                </a:cubicBezTo>
                <a:cubicBezTo>
                  <a:pt x="10260" y="12689"/>
                  <a:pt x="8729" y="14220"/>
                  <a:pt x="6840" y="14220"/>
                </a:cubicBezTo>
                <a:cubicBezTo>
                  <a:pt x="4951" y="14220"/>
                  <a:pt x="3420" y="12689"/>
                  <a:pt x="3420" y="10800"/>
                </a:cubicBezTo>
                <a:cubicBezTo>
                  <a:pt x="3420" y="8911"/>
                  <a:pt x="4951" y="7380"/>
                  <a:pt x="6840" y="7380"/>
                </a:cubicBezTo>
                <a:close/>
                <a:moveTo>
                  <a:pt x="10260" y="10800"/>
                </a:moveTo>
                <a:lnTo>
                  <a:pt x="18900" y="10800"/>
                </a:lnTo>
                <a:moveTo>
                  <a:pt x="15840" y="10800"/>
                </a:moveTo>
                <a:lnTo>
                  <a:pt x="15840" y="14040"/>
                </a:lnTo>
                <a:moveTo>
                  <a:pt x="18180" y="10800"/>
                </a:moveTo>
                <a:lnTo>
                  <a:pt x="18180" y="13320"/>
                </a:lnTo>
              </a:path>
            </a:pathLst>
          </a:custGeom>
          <a:noFill/>
          <a:ln w="13335" cap="rnd">
            <a:solidFill>
              <a:srgbClr val="828D6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80" y="345643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KV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72016" y="3493008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Roboto Mono"/>
                <a:ea typeface="Roboto Mono"/>
                <a:cs typeface="Roboto Mono"/>
              </a:rPr>
              <a:t>MARKET_CACHE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0" y="3666744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cache dos provedores — nunca autoritativo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809743" y="3054096"/>
            <a:ext cx="228601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616952" y="3054096"/>
            <a:ext cx="228600" cy="0"/>
          </a:xfrm>
          <a:prstGeom prst="line">
            <a:avLst/>
          </a:prstGeom>
          <a:ln w="15875">
            <a:solidFill>
              <a:srgbClr val="BB7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685031" y="3895344"/>
            <a:ext cx="0" cy="91439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685031" y="3986783"/>
            <a:ext cx="5751577" cy="0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436608" y="3895344"/>
            <a:ext cx="0" cy="91439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9409176" y="3959352"/>
            <a:ext cx="54864" cy="54864"/>
          </a:xfrm>
          <a:prstGeom prst="rect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85031" y="4041648"/>
            <a:ext cx="5751576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e direto, sem agente nenhum: a sessão, a carteira que a página pede, o PDF já arquivado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35254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520"/>
                </a:moveTo>
                <a:lnTo>
                  <a:pt x="10800" y="19080"/>
                </a:lnTo>
                <a:moveTo>
                  <a:pt x="3636" y="6660"/>
                </a:moveTo>
                <a:lnTo>
                  <a:pt x="17964" y="14940"/>
                </a:lnTo>
                <a:moveTo>
                  <a:pt x="3636" y="14940"/>
                </a:moveTo>
                <a:lnTo>
                  <a:pt x="17964" y="6660"/>
                </a:lnTo>
              </a:path>
            </a:pathLst>
          </a:custGeom>
          <a:noFill/>
          <a:ln w="12700" cap="rnd">
            <a:solidFill>
              <a:srgbClr val="2A3B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60704" y="433425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7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API DA ANTHROPIC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" y="449884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escreve a carta e a leitura do dia, e classifica cada manchete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60720" y="4352544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880"/>
                </a:moveTo>
                <a:cubicBezTo>
                  <a:pt x="15174" y="2880"/>
                  <a:pt x="18720" y="6426"/>
                  <a:pt x="18720" y="10800"/>
                </a:cubicBezTo>
                <a:cubicBezTo>
                  <a:pt x="18720" y="15174"/>
                  <a:pt x="15174" y="18720"/>
                  <a:pt x="10800" y="18720"/>
                </a:cubicBezTo>
                <a:cubicBezTo>
                  <a:pt x="6426" y="18720"/>
                  <a:pt x="2880" y="15174"/>
                  <a:pt x="2880" y="10800"/>
                </a:cubicBezTo>
                <a:cubicBezTo>
                  <a:pt x="2880" y="6426"/>
                  <a:pt x="6426" y="2880"/>
                  <a:pt x="10800" y="2880"/>
                </a:cubicBezTo>
                <a:close/>
                <a:moveTo>
                  <a:pt x="10800" y="2880"/>
                </a:moveTo>
                <a:cubicBezTo>
                  <a:pt x="12739" y="2880"/>
                  <a:pt x="14310" y="6426"/>
                  <a:pt x="14310" y="10800"/>
                </a:cubicBezTo>
                <a:cubicBezTo>
                  <a:pt x="14310" y="15174"/>
                  <a:pt x="12739" y="18720"/>
                  <a:pt x="10800" y="18720"/>
                </a:cubicBezTo>
                <a:cubicBezTo>
                  <a:pt x="8861" y="18720"/>
                  <a:pt x="7290" y="15174"/>
                  <a:pt x="7290" y="10800"/>
                </a:cubicBezTo>
                <a:cubicBezTo>
                  <a:pt x="7290" y="6426"/>
                  <a:pt x="8861" y="2880"/>
                  <a:pt x="10800" y="2880"/>
                </a:cubicBezTo>
                <a:close/>
                <a:moveTo>
                  <a:pt x="3240" y="8100"/>
                </a:moveTo>
                <a:lnTo>
                  <a:pt x="18360" y="8100"/>
                </a:lnTo>
                <a:moveTo>
                  <a:pt x="3240" y="13500"/>
                </a:moveTo>
                <a:lnTo>
                  <a:pt x="18360" y="13500"/>
                </a:lnTo>
              </a:path>
            </a:pathLst>
          </a:custGeom>
          <a:noFill/>
          <a:ln w="12700" cap="rnd">
            <a:solidFill>
              <a:srgbClr val="2A3B43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89904" y="433425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7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YAHOO FINANCE · VALOR · GOOGLE NEWS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89904" y="449884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preços, séries diárias e as manchetes de 48 horas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520" y="4754880"/>
            <a:ext cx="10460736" cy="256032"/>
          </a:xfrm>
          <a:prstGeom prst="rect">
            <a:avLst/>
          </a:prstGeom>
          <a:solidFill>
            <a:srgbClr val="45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9536" y="475488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AGENTE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05456" y="4754880"/>
            <a:ext cx="453542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O QUE FAZ, E O QUE ESCREVE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93508" y="4805172"/>
            <a:ext cx="155448" cy="155448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700"/>
                </a:moveTo>
                <a:cubicBezTo>
                  <a:pt x="14777" y="2700"/>
                  <a:pt x="18000" y="3989"/>
                  <a:pt x="18000" y="5580"/>
                </a:cubicBezTo>
                <a:cubicBezTo>
                  <a:pt x="18000" y="7171"/>
                  <a:pt x="14777" y="8460"/>
                  <a:pt x="10800" y="8460"/>
                </a:cubicBezTo>
                <a:cubicBezTo>
                  <a:pt x="6823" y="8460"/>
                  <a:pt x="3600" y="7171"/>
                  <a:pt x="3600" y="5580"/>
                </a:cubicBezTo>
                <a:cubicBezTo>
                  <a:pt x="3600" y="3989"/>
                  <a:pt x="6823" y="2700"/>
                  <a:pt x="10800" y="2700"/>
                </a:cubicBezTo>
                <a:close/>
                <a:moveTo>
                  <a:pt x="3600" y="5580"/>
                </a:moveTo>
                <a:lnTo>
                  <a:pt x="3600" y="16020"/>
                </a:lnTo>
                <a:cubicBezTo>
                  <a:pt x="3600" y="17613"/>
                  <a:pt x="6822" y="18900"/>
                  <a:pt x="10800" y="18900"/>
                </a:cubicBezTo>
                <a:cubicBezTo>
                  <a:pt x="14778" y="18900"/>
                  <a:pt x="18000" y="17613"/>
                  <a:pt x="18000" y="16020"/>
                </a:cubicBezTo>
                <a:lnTo>
                  <a:pt x="18000" y="5580"/>
                </a:lnTo>
                <a:moveTo>
                  <a:pt x="18000" y="10800"/>
                </a:moveTo>
                <a:cubicBezTo>
                  <a:pt x="18000" y="12393"/>
                  <a:pt x="14778" y="13680"/>
                  <a:pt x="10800" y="13680"/>
                </a:cubicBezTo>
                <a:cubicBezTo>
                  <a:pt x="6822" y="13680"/>
                  <a:pt x="3600" y="12393"/>
                  <a:pt x="3600" y="10800"/>
                </a:cubicBezTo>
              </a:path>
            </a:pathLst>
          </a:custGeom>
          <a:noFill/>
          <a:ln w="9525" cap="rnd">
            <a:solidFill>
              <a:srgbClr val="FE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12964" y="4754880"/>
            <a:ext cx="35661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D1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99348" y="4805172"/>
            <a:ext cx="155448" cy="155448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3060" y="3060"/>
                </a:moveTo>
                <a:lnTo>
                  <a:pt x="18540" y="3060"/>
                </a:lnTo>
                <a:cubicBezTo>
                  <a:pt x="19037" y="3060"/>
                  <a:pt x="19440" y="3463"/>
                  <a:pt x="19440" y="3960"/>
                </a:cubicBezTo>
                <a:lnTo>
                  <a:pt x="19440" y="6120"/>
                </a:lnTo>
                <a:cubicBezTo>
                  <a:pt x="19440" y="6617"/>
                  <a:pt x="19037" y="7020"/>
                  <a:pt x="18540" y="7020"/>
                </a:cubicBezTo>
                <a:lnTo>
                  <a:pt x="3060" y="7020"/>
                </a:lnTo>
                <a:cubicBezTo>
                  <a:pt x="2563" y="7020"/>
                  <a:pt x="2160" y="6617"/>
                  <a:pt x="2160" y="6120"/>
                </a:cubicBezTo>
                <a:lnTo>
                  <a:pt x="2160" y="3960"/>
                </a:lnTo>
                <a:cubicBezTo>
                  <a:pt x="2160" y="3463"/>
                  <a:pt x="2563" y="3060"/>
                  <a:pt x="3060" y="3060"/>
                </a:cubicBezTo>
                <a:close/>
                <a:moveTo>
                  <a:pt x="3960" y="7020"/>
                </a:moveTo>
                <a:lnTo>
                  <a:pt x="3960" y="17280"/>
                </a:lnTo>
                <a:cubicBezTo>
                  <a:pt x="3960" y="18171"/>
                  <a:pt x="4689" y="18900"/>
                  <a:pt x="5580" y="18900"/>
                </a:cubicBezTo>
                <a:lnTo>
                  <a:pt x="16020" y="18900"/>
                </a:lnTo>
                <a:cubicBezTo>
                  <a:pt x="16911" y="18900"/>
                  <a:pt x="17640" y="18171"/>
                  <a:pt x="17640" y="17280"/>
                </a:cubicBezTo>
                <a:lnTo>
                  <a:pt x="17640" y="7020"/>
                </a:lnTo>
                <a:moveTo>
                  <a:pt x="8820" y="10620"/>
                </a:moveTo>
                <a:lnTo>
                  <a:pt x="12780" y="10620"/>
                </a:lnTo>
              </a:path>
            </a:pathLst>
          </a:custGeom>
          <a:noFill/>
          <a:ln w="9525" cap="rnd">
            <a:solidFill>
              <a:srgbClr val="FE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718804" y="4754880"/>
            <a:ext cx="35661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R2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05188" y="4805172"/>
            <a:ext cx="155448" cy="155448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6840" y="7380"/>
                </a:moveTo>
                <a:cubicBezTo>
                  <a:pt x="8729" y="7380"/>
                  <a:pt x="10260" y="8911"/>
                  <a:pt x="10260" y="10800"/>
                </a:cubicBezTo>
                <a:cubicBezTo>
                  <a:pt x="10260" y="12689"/>
                  <a:pt x="8729" y="14220"/>
                  <a:pt x="6840" y="14220"/>
                </a:cubicBezTo>
                <a:cubicBezTo>
                  <a:pt x="4951" y="14220"/>
                  <a:pt x="3420" y="12689"/>
                  <a:pt x="3420" y="10800"/>
                </a:cubicBezTo>
                <a:cubicBezTo>
                  <a:pt x="3420" y="8911"/>
                  <a:pt x="4951" y="7380"/>
                  <a:pt x="6840" y="7380"/>
                </a:cubicBezTo>
                <a:close/>
                <a:moveTo>
                  <a:pt x="10260" y="10800"/>
                </a:moveTo>
                <a:lnTo>
                  <a:pt x="18900" y="10800"/>
                </a:lnTo>
                <a:moveTo>
                  <a:pt x="15840" y="10800"/>
                </a:moveTo>
                <a:lnTo>
                  <a:pt x="15840" y="14040"/>
                </a:lnTo>
                <a:moveTo>
                  <a:pt x="18180" y="10800"/>
                </a:moveTo>
                <a:lnTo>
                  <a:pt x="18180" y="13320"/>
                </a:lnTo>
              </a:path>
            </a:pathLst>
          </a:custGeom>
          <a:noFill/>
          <a:ln w="9525" cap="rnd">
            <a:solidFill>
              <a:srgbClr val="FE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24644" y="4754880"/>
            <a:ext cx="35661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KV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373867" y="4805172"/>
            <a:ext cx="155448" cy="155448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520"/>
                </a:moveTo>
                <a:lnTo>
                  <a:pt x="10800" y="19080"/>
                </a:lnTo>
                <a:moveTo>
                  <a:pt x="3636" y="6660"/>
                </a:moveTo>
                <a:lnTo>
                  <a:pt x="17964" y="14940"/>
                </a:lnTo>
                <a:moveTo>
                  <a:pt x="3636" y="14940"/>
                </a:moveTo>
                <a:lnTo>
                  <a:pt x="17964" y="6660"/>
                </a:lnTo>
              </a:path>
            </a:pathLst>
          </a:custGeom>
          <a:noFill/>
          <a:ln w="9525" cap="rnd">
            <a:solidFill>
              <a:srgbClr val="FE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93324" y="4754880"/>
            <a:ext cx="63093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20">
                <a:solidFill>
                  <a:srgbClr val="FEFFFF"/>
                </a:solidFill>
                <a:latin typeface="Roboto"/>
                <a:ea typeface="Roboto"/>
                <a:cs typeface="Roboto"/>
              </a:rPr>
              <a:t>MODELO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808" y="5010912"/>
            <a:ext cx="310896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8992" y="5010912"/>
            <a:ext cx="1261872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Dados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05456" y="5010912"/>
            <a:ext cx="453542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Cotações, séries diárias e manchetes de 48 horas — cada número com a fonte anotada.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630668" y="5093208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36508" y="5093208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642348" y="5093208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620756" y="5065776"/>
            <a:ext cx="137160" cy="137160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520"/>
                </a:moveTo>
                <a:lnTo>
                  <a:pt x="10800" y="19080"/>
                </a:lnTo>
                <a:moveTo>
                  <a:pt x="3636" y="6660"/>
                </a:moveTo>
                <a:lnTo>
                  <a:pt x="17964" y="14940"/>
                </a:lnTo>
                <a:moveTo>
                  <a:pt x="3636" y="14940"/>
                </a:moveTo>
                <a:lnTo>
                  <a:pt x="17964" y="6660"/>
                </a:lnTo>
              </a:path>
            </a:pathLst>
          </a:custGeom>
          <a:noFill/>
          <a:ln w="11430" cap="rnd">
            <a:solidFill>
              <a:srgbClr val="BB79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731520" y="5257800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749808" y="5257800"/>
            <a:ext cx="310896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" y="5257800"/>
            <a:ext cx="1261872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Inferência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05456" y="5257800"/>
            <a:ext cx="453542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Lê o que o primeiro reuniu e a exposição do book, e escreve a leitura do dia.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630668" y="5340096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8627364" y="5381244"/>
            <a:ext cx="100584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33204" y="5381244"/>
            <a:ext cx="100584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10620756" y="5312664"/>
            <a:ext cx="137160" cy="137160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520"/>
                </a:moveTo>
                <a:lnTo>
                  <a:pt x="10800" y="19080"/>
                </a:lnTo>
                <a:moveTo>
                  <a:pt x="3636" y="6660"/>
                </a:moveTo>
                <a:lnTo>
                  <a:pt x="17964" y="14940"/>
                </a:lnTo>
                <a:moveTo>
                  <a:pt x="3636" y="14940"/>
                </a:moveTo>
                <a:lnTo>
                  <a:pt x="17964" y="6660"/>
                </a:lnTo>
              </a:path>
            </a:pathLst>
          </a:custGeom>
          <a:noFill/>
          <a:ln w="11430" cap="rnd">
            <a:solidFill>
              <a:srgbClr val="BB79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731520" y="550468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49808" y="5504688"/>
            <a:ext cx="310896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8992" y="5504688"/>
            <a:ext cx="1261872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Gatilhos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05456" y="5504688"/>
            <a:ext cx="453542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Compara cada indicador e cada desvio com a política que governa a carteira.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630668" y="5586983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8627364" y="5628131"/>
            <a:ext cx="100584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633204" y="5628131"/>
            <a:ext cx="100584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639044" y="5628131"/>
            <a:ext cx="100584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31520" y="5751575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749808" y="5751575"/>
            <a:ext cx="310896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78992" y="5751575"/>
            <a:ext cx="1261872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Carta mensal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05456" y="5751575"/>
            <a:ext cx="453542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Dados, análise, redação, diagramação — a carta escrita e o PDF arquivado.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30668" y="5833871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36508" y="5833871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9633204" y="5875019"/>
            <a:ext cx="100584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10620756" y="5806439"/>
            <a:ext cx="137160" cy="137160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520"/>
                </a:moveTo>
                <a:lnTo>
                  <a:pt x="10800" y="19080"/>
                </a:lnTo>
                <a:moveTo>
                  <a:pt x="3636" y="6660"/>
                </a:moveTo>
                <a:lnTo>
                  <a:pt x="17964" y="14940"/>
                </a:lnTo>
                <a:moveTo>
                  <a:pt x="3636" y="14940"/>
                </a:moveTo>
                <a:lnTo>
                  <a:pt x="17964" y="6660"/>
                </a:lnTo>
              </a:path>
            </a:pathLst>
          </a:custGeom>
          <a:noFill/>
          <a:ln w="11430" cap="rnd">
            <a:solidFill>
              <a:srgbClr val="BB79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1520" y="5998463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078992" y="5998463"/>
            <a:ext cx="1261872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Cartas em lote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05456" y="5998463"/>
            <a:ext cx="453542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mesmo agente, uma etapa durável por cliente do book, e um zip ao final.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630668" y="6080759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636508" y="6080759"/>
            <a:ext cx="82296" cy="82296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9633204" y="6121907"/>
            <a:ext cx="100584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10620756" y="6053327"/>
            <a:ext cx="137160" cy="137160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520"/>
                </a:moveTo>
                <a:lnTo>
                  <a:pt x="10800" y="19080"/>
                </a:lnTo>
                <a:moveTo>
                  <a:pt x="3636" y="6660"/>
                </a:moveTo>
                <a:lnTo>
                  <a:pt x="17964" y="14940"/>
                </a:lnTo>
                <a:moveTo>
                  <a:pt x="3636" y="14940"/>
                </a:moveTo>
                <a:lnTo>
                  <a:pt x="17964" y="6660"/>
                </a:lnTo>
              </a:path>
            </a:pathLst>
          </a:custGeom>
          <a:noFill/>
          <a:ln w="11430" cap="rnd">
            <a:solidFill>
              <a:srgbClr val="BB79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731520" y="6245351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6912864" y="6377940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59168" y="635050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escreve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10144" y="6377940"/>
            <a:ext cx="68580" cy="68580"/>
          </a:xfrm>
          <a:prstGeom prst="rect">
            <a:avLst/>
          </a:prstGeom>
          <a:noFill/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156448" y="635050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só lê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8924544" y="6411772"/>
            <a:ext cx="82296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9070848" y="635050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não toca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893808" y="6350508"/>
            <a:ext cx="118872" cy="118872"/>
          </a:xfrm>
          <a:custGeom>
            <a:avLst/>
            <a:gdLst/>
            <a:ahLst/>
            <a:cxnLst/>
            <a:rect l="0" t="0" r="r" b="b"/>
            <a:pathLst>
              <a:path w="21600" h="21600" fill="none" stroke="1">
                <a:moveTo>
                  <a:pt x="10800" y="2520"/>
                </a:moveTo>
                <a:lnTo>
                  <a:pt x="10800" y="19080"/>
                </a:lnTo>
                <a:moveTo>
                  <a:pt x="3636" y="6660"/>
                </a:moveTo>
                <a:lnTo>
                  <a:pt x="17964" y="14940"/>
                </a:lnTo>
                <a:moveTo>
                  <a:pt x="3636" y="14940"/>
                </a:moveTo>
                <a:lnTo>
                  <a:pt x="17964" y="6660"/>
                </a:lnTo>
              </a:path>
            </a:pathLst>
          </a:custGeom>
          <a:noFill/>
          <a:ln w="10795" cap="rnd">
            <a:solidFill>
              <a:srgbClr val="BB795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058400" y="635050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chama o modelo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6345936"/>
            <a:ext cx="6309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wrangler.toml — os bindings desta planta; worker/src/agents.js e letter-agent.js — as etapas.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CAPÍTULO 04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10312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CAPÍTULO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Next steps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529584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785615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FBFBF"/>
                </a:solidFill>
                <a:latin typeface="Roboto Light"/>
                <a:ea typeface="Roboto Light"/>
                <a:cs typeface="Roboto Light"/>
              </a:rPr>
              <a:t>Tudo o que foi construído roda sobre dados reais de mercado e dados simulados de clientes. O caminho até dados reais passa por cinco frentes.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459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09860" y="2884932"/>
            <a:ext cx="23865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Próximos passos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PRÓXIMOS PASSOS  ·  ONDE ESTAMOS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Mercado real, clientes simulados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separação não é uma nota de rodapé: o dado simulado carrega </a:t>
            </a:r>
            <a:r>
              <a:rPr sz="1000" b="0">
                <a:solidFill>
                  <a:srgbClr val="2A3B43"/>
                </a:solidFill>
                <a:latin typeface="Roboto Mono"/>
                <a:ea typeface="Roboto Mono"/>
                <a:cs typeface="Roboto Mono"/>
              </a:rPr>
              <a:t>mocked: true</a:t>
            </a: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 no seu registro de origem, mostra o selo SIMULADO na aba de auditoria do assessor e é nomeado na linha de fontes da própria carta.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249424"/>
            <a:ext cx="4956048" cy="0"/>
          </a:xfrm>
          <a:prstGeom prst="line">
            <a:avLst/>
          </a:prstGeom>
          <a:ln w="25400">
            <a:solidFill>
              <a:srgbClr val="2A3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395728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Real, buscado ao vivo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852166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Todo preço listado — Yahoo Finance e TradingView.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230118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176016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CDI, Selic, IPCA e PTAX — Banco Central.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608070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553968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Leitura técnica e consenso de analistas — TradingView.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986022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31920"/>
            <a:ext cx="4736592" cy="408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manchetes do dia — Valor Econômico e Google News, cada uma ligada ao seu artigo.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540758"/>
            <a:ext cx="68580" cy="68580"/>
          </a:xfrm>
          <a:prstGeom prst="rect">
            <a:avLst/>
          </a:prstGeom>
          <a:solidFill>
            <a:srgbClr val="2A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486656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referência da política, composta a partir de tudo acima.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36207" y="2249424"/>
            <a:ext cx="4956048" cy="0"/>
          </a:xfrm>
          <a:prstGeom prst="line">
            <a:avLst/>
          </a:prstGeom>
          <a:ln w="2540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36207" y="2395728"/>
            <a:ext cx="49560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Simulado, e rotulado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5" y="2852166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798064"/>
            <a:ext cx="4736592" cy="408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cotas mensais dos fundos brasileiros — não há feed público; a resposta honesta é o extrato do custodiante.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5" y="3406902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352800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histórico de retorno anterior à existência da plataforma.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5" y="3784854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3730752"/>
            <a:ext cx="4736592" cy="2316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Os quatro clientes de demonstração além de Albert da Silva.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4937760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102352"/>
            <a:ext cx="104607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17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TAMBÉM É REAL, E VEM DOS ARQUIVOS DO CASO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94960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identidade de Albert, o assessor e o perfil de risco; o extrato de posição da XP de maio de 2025, reproduzido como snapshot v1; e as projeções macro da XP de fevereiro de 2025 — usadas como o que são, um documento datado, e não como se fossem a leitura de hoje.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459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09860" y="2884932"/>
            <a:ext cx="23865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Próximos passos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PRÓXIMOS PASSOS  ·  FRENTES 1 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Acesso, nuvem e segurança do 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Cinco frentes separam o que está de pé do primeiro cliente real. As três primeiras são de acesso, de contrato e de infraestrutura.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57400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Acesso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5024" y="2579687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523744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senha compartilhada do portal sai e entra o SSO corporativo da XP com MFA pelo Cloudflare Access — que o código já prevê.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5024" y="2943034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2887090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regra de que cada assessor enxerga apenas o próprio livro é verificada hoje num único ponto do sistema, e deve continuar assim.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34187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58876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515613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Compliance com a nuvem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5024" y="4037901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981957"/>
            <a:ext cx="9656063" cy="415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 Cloudflare precisa ser contratada como a CMN 4.893 exige: comunicação ao Banco Central, os requisitos adicionais para processamento no exterior, localização dos dados, direito de auditoria e plano de saída em contrato.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5024" y="4581715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4525771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mesmo vale para a Anthropic, com acordo de não-retenção dos prompts.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98055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227447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154295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Segurança do dado financeiro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5024" y="5676582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6192" y="5620638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Criptografia com chaves geridas pela instituição, segregação por assessor e rotação de segredos.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35024" y="6039929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6192" y="5983986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Trilha de auditoria exportável, e um teste de intrusão independente antes do primeiro cliente real.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CMN 4.893/2021 — política de segurança cibernética e contratação de processamento e armazenamento de dados em nuvem.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521440" y="475488"/>
            <a:ext cx="0" cy="5907024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402567" y="1792224"/>
            <a:ext cx="237744" cy="2459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5400000">
            <a:off x="10309860" y="2884932"/>
            <a:ext cx="23865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60">
                <a:solidFill>
                  <a:srgbClr val="828D6F"/>
                </a:solidFill>
                <a:latin typeface="Roboto Light"/>
                <a:ea typeface="Roboto Light"/>
                <a:cs typeface="Roboto Light"/>
              </a:rPr>
              <a:t>Próximos passos</a:t>
            </a:r>
            <a:r>
              <a:rPr sz="850" b="0" spc="60">
                <a:solidFill>
                  <a:srgbClr val="2A3B43"/>
                </a:solidFill>
                <a:latin typeface="Roboto Light"/>
                <a:ea typeface="Roboto Light"/>
                <a:cs typeface="Roboto Light"/>
              </a:rPr>
              <a:t>  —  Setembro/2026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8251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A3B43"/>
                </a:solidFill>
                <a:latin typeface="Roboto"/>
                <a:ea typeface="Roboto"/>
                <a:cs typeface="Roboto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272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PRÓXIMOS PASSOS  ·  FRENTES 4 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86384"/>
            <a:ext cx="1046073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>
                <a:solidFill>
                  <a:srgbClr val="828D6F"/>
                </a:solidFill>
                <a:latin typeface="Hanken Grotesk Light"/>
                <a:ea typeface="Hanken Grotesk Light"/>
                <a:cs typeface="Hanken Grotesk Light"/>
              </a:rPr>
              <a:t>Sigilo, e governança do que o modelo escreve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9961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 duas últimas são sobre dado pessoal e sobre o que uma pessoa precisa ter lido antes de a carta sair.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57400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Sigilo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5024" y="2579687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523744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sigilo bancário da LC 105 e a LGPD pedem minimização. O modelo já recebe só o objeto de fatos, e não a 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5024" y="2943034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2887090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próximo passo é pseudonimizar nome e documento no prompt, definir retenção para cartas e logs, e registrar quem viu o quê.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341878"/>
            <a:ext cx="1046073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58876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BB795E"/>
                </a:solidFill>
                <a:latin typeface="Roboto Mono"/>
                <a:ea typeface="Roboto Mono"/>
                <a:cs typeface="Roboto Mono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515613"/>
            <a:ext cx="98938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222"/>
                </a:solidFill>
                <a:latin typeface="Hanken Grotesk"/>
                <a:ea typeface="Hanken Grotesk"/>
                <a:cs typeface="Hanken Grotesk"/>
              </a:rPr>
              <a:t>Governança do que o modelo escreve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5024" y="4037901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981957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Manter a aprovação do assessor como obrigatória: nenhuma carta chega ao cliente sem ter sido lida por uma pessoa.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5024" y="4401248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4345305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Versionar os prompts — já existe — e medir a qualidade das cartas contra um conjunto fixo de casos a cada mudança.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5024" y="4764595"/>
            <a:ext cx="68580" cy="68580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36192" y="4708652"/>
            <a:ext cx="9656063" cy="235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Assim, uma troca de modelo nunca chega ao cliente sem ter sido avaliada antes.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724144"/>
            <a:ext cx="10460736" cy="0"/>
          </a:xfrm>
          <a:prstGeom prst="line">
            <a:avLst/>
          </a:prstGeom>
          <a:ln w="952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888736"/>
            <a:ext cx="104607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O princípio que atravessa as cinco frentes:  </a:t>
            </a:r>
            <a:r>
              <a:rPr sz="1300" b="0">
                <a:solidFill>
                  <a:srgbClr val="BB795E"/>
                </a:solidFill>
                <a:latin typeface="Hanken Grotesk"/>
                <a:ea typeface="Hanken Grotesk"/>
                <a:cs typeface="Hanken Grotesk"/>
              </a:rPr>
              <a:t>o que é verificável fica em código, e o que é escrito passa por uma pessoa.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45936"/>
            <a:ext cx="10460736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Roboto"/>
                <a:ea typeface="Roboto"/>
                <a:cs typeface="Roboto"/>
              </a:rPr>
              <a:t>Fonte: </a:t>
            </a:r>
            <a:r>
              <a:rPr sz="750" b="0">
                <a:solidFill>
                  <a:srgbClr val="595959"/>
                </a:solidFill>
                <a:latin typeface="Roboto Light"/>
                <a:ea typeface="Roboto Light"/>
                <a:cs typeface="Roboto Light"/>
              </a:rPr>
              <a:t>LC 105/2001 — sigilo das operações de instituições financeiras; Lei 13.709/2018 — LGPD.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969" cy="237744"/>
          </a:xfrm>
          <a:prstGeom prst="rect">
            <a:avLst/>
          </a:prstGeom>
          <a:solidFill>
            <a:srgbClr val="BB7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222222"/>
                </a:solidFill>
                <a:latin typeface="Roboto Light"/>
                <a:ea typeface="Roboto Light"/>
                <a:cs typeface="Roboto Light"/>
              </a:rPr>
              <a:t>XP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0256" y="6620256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24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OBRIGADO</a:t>
            </a:r>
          </a:p>
        </p:txBody>
      </p:sp>
      <p:pic>
        <p:nvPicPr>
          <p:cNvPr id="6" name="Picture 5" descr="x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502920"/>
            <a:ext cx="548640" cy="4919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700784"/>
            <a:ext cx="1046073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288">
                <a:solidFill>
                  <a:srgbClr val="BB795E"/>
                </a:solidFill>
                <a:latin typeface="Roboto Light"/>
                <a:ea typeface="Roboto Light"/>
                <a:cs typeface="Roboto Light"/>
              </a:rPr>
              <a:t>PARA VER 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Uma carta por cliente, por mês 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  <a:latin typeface="Hanken Grotesk ExtraLight"/>
                <a:ea typeface="Hanken Grotesk ExtraLight"/>
                <a:cs typeface="Hanken Grotesk ExtraLight"/>
              </a:rPr>
              <a:t>lida por uma pessoa antes de sair.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675887"/>
            <a:ext cx="1188720" cy="0"/>
          </a:xfrm>
          <a:prstGeom prst="line">
            <a:avLst/>
          </a:prstGeom>
          <a:ln w="19050">
            <a:solidFill>
              <a:srgbClr val="BB79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04164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A1A894"/>
                </a:solidFill>
                <a:latin typeface="Roboto Light"/>
                <a:ea typeface="Roboto Light"/>
                <a:cs typeface="Roboto Light"/>
              </a:rPr>
              <a:t>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611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Roboto Mono"/>
                <a:ea typeface="Roboto Mono"/>
                <a:cs typeface="Roboto Mono"/>
              </a:rPr>
              <a:t>enter-wealth-advisor.joaocreste-8da.workers.dev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4164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A1A894"/>
                </a:solidFill>
                <a:latin typeface="Roboto Light"/>
                <a:ea typeface="Roboto Light"/>
                <a:cs typeface="Roboto Light"/>
              </a:rPr>
              <a:t>ASSESSOR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611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Roboto Mono"/>
                <a:ea typeface="Roboto Mono"/>
                <a:cs typeface="Roboto Mono"/>
              </a:rPr>
              <a:t>antonio.bicudo@xpi.com.br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4164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190">
                <a:solidFill>
                  <a:srgbClr val="A1A894"/>
                </a:solidFill>
                <a:latin typeface="Roboto Light"/>
                <a:ea typeface="Roboto Light"/>
                <a:cs typeface="Roboto Light"/>
              </a:rPr>
              <a:t>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611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DDDDDD"/>
                </a:solidFill>
                <a:latin typeface="Roboto Mono"/>
                <a:ea typeface="Roboto Mono"/>
                <a:cs typeface="Roboto Mono"/>
              </a:rPr>
              <a:t>albert.dasilva@exemplo.com.br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Roboto Light"/>
                <a:ea typeface="Roboto Light"/>
                <a:cs typeface="Roboto Light"/>
              </a:rPr>
              <a:t>O portal está atrás de uma senha de acesso; as credenciais de demonstração vão com o material.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