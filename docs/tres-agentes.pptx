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469"/>
                </a:solidFill>
                <a:latin typeface="IBM Plex Mono"/>
              </a:rPr>
              <a:t>ENTER ASSET MANAGEMENT · OS AGENTES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822960" y="822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B0D0E"/>
                </a:solidFill>
                <a:latin typeface="Newsreader"/>
              </a:rPr>
              <a:t>Três agentes montam o panorama do dia. Rodam na nuvem, todo dia, e sempre que alguém pedir.</a:t>
            </a:r>
          </a:p>
        </p:txBody>
      </p:sp>
      <p:cxnSp>
        <p:nvCxnSpPr>
          <p:cNvPr id="4" name="Fio"/>
          <p:cNvCxnSpPr/>
          <p:nvPr/>
        </p:nvCxnSpPr>
        <p:spPr>
          <a:xfrm>
            <a:off x="822960" y="1874519"/>
            <a:ext cx="10543032" cy="0"/>
          </a:xfrm>
          <a:prstGeom prst="line">
            <a:avLst/>
          </a:prstGeom>
          <a:ln w="19050">
            <a:solidFill>
              <a:srgbClr val="0B0D0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gente 01 · caixa"/>
          <p:cNvSpPr/>
          <p:nvPr/>
        </p:nvSpPr>
        <p:spPr>
          <a:xfrm>
            <a:off x="822960" y="2240280"/>
            <a:ext cx="29900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gente 01 · marca"/>
          <p:cNvSpPr/>
          <p:nvPr/>
        </p:nvSpPr>
        <p:spPr>
          <a:xfrm>
            <a:off x="822960" y="2240280"/>
            <a:ext cx="2990087" cy="457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e 01 · rótulo"/>
          <p:cNvSpPr txBox="1"/>
          <p:nvPr/>
        </p:nvSpPr>
        <p:spPr>
          <a:xfrm>
            <a:off x="1097280" y="2514600"/>
            <a:ext cx="2441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7B34"/>
                </a:solidFill>
                <a:latin typeface="IBM Plex Mono"/>
              </a:rPr>
              <a:t>AGENTE 01</a:t>
            </a:r>
          </a:p>
        </p:txBody>
      </p:sp>
      <p:sp>
        <p:nvSpPr>
          <p:cNvPr id="8" name="Agente 01 · nome"/>
          <p:cNvSpPr txBox="1"/>
          <p:nvPr/>
        </p:nvSpPr>
        <p:spPr>
          <a:xfrm>
            <a:off x="1097280" y="2807208"/>
            <a:ext cx="24414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0D0E"/>
                </a:solidFill>
                <a:latin typeface="Archivo"/>
              </a:rPr>
              <a:t>Dados</a:t>
            </a:r>
          </a:p>
        </p:txBody>
      </p:sp>
      <p:sp>
        <p:nvSpPr>
          <p:cNvPr id="9" name="Agente 01 · texto"/>
          <p:cNvSpPr txBox="1"/>
          <p:nvPr/>
        </p:nvSpPr>
        <p:spPr>
          <a:xfrm>
            <a:off x="1097280" y="3429000"/>
            <a:ext cx="2441447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Busca cotações, sinais e as manchetes das últimas 48 horas, e anota a fonte de cada número.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77056" y="3406140"/>
            <a:ext cx="329184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gente 02 · caixa"/>
          <p:cNvSpPr/>
          <p:nvPr/>
        </p:nvSpPr>
        <p:spPr>
          <a:xfrm>
            <a:off x="4599432" y="2240280"/>
            <a:ext cx="29900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gente 02 · marca"/>
          <p:cNvSpPr/>
          <p:nvPr/>
        </p:nvSpPr>
        <p:spPr>
          <a:xfrm>
            <a:off x="4599432" y="2240280"/>
            <a:ext cx="2990087" cy="457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gente 02 · rótulo"/>
          <p:cNvSpPr txBox="1"/>
          <p:nvPr/>
        </p:nvSpPr>
        <p:spPr>
          <a:xfrm>
            <a:off x="4873752" y="2514600"/>
            <a:ext cx="2441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7B34"/>
                </a:solidFill>
                <a:latin typeface="IBM Plex Mono"/>
              </a:rPr>
              <a:t>AGENTE 02</a:t>
            </a:r>
          </a:p>
        </p:txBody>
      </p:sp>
      <p:sp>
        <p:nvSpPr>
          <p:cNvPr id="14" name="Agente 02 · nome"/>
          <p:cNvSpPr txBox="1"/>
          <p:nvPr/>
        </p:nvSpPr>
        <p:spPr>
          <a:xfrm>
            <a:off x="4873752" y="2807208"/>
            <a:ext cx="24414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0D0E"/>
                </a:solidFill>
                <a:latin typeface="Archivo"/>
              </a:rPr>
              <a:t>Inferência</a:t>
            </a:r>
          </a:p>
        </p:txBody>
      </p:sp>
      <p:sp>
        <p:nvSpPr>
          <p:cNvPr id="15" name="Agente 02 · texto"/>
          <p:cNvSpPr txBox="1"/>
          <p:nvPr/>
        </p:nvSpPr>
        <p:spPr>
          <a:xfrm>
            <a:off x="4873752" y="3429000"/>
            <a:ext cx="2441447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Lê o que foi reunido e decide o que importa hoje para as carteiras deste assessor. Escreve o resumo do dia.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53528" y="3406140"/>
            <a:ext cx="329184" cy="0"/>
          </a:xfrm>
          <a:prstGeom prst="line">
            <a:avLst/>
          </a:prstGeom>
          <a:ln w="15875">
            <a:solidFill>
              <a:srgbClr val="7C85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gente 03 · caixa"/>
          <p:cNvSpPr/>
          <p:nvPr/>
        </p:nvSpPr>
        <p:spPr>
          <a:xfrm>
            <a:off x="8375904" y="2240280"/>
            <a:ext cx="29900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C4C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gente 03 · marca"/>
          <p:cNvSpPr/>
          <p:nvPr/>
        </p:nvSpPr>
        <p:spPr>
          <a:xfrm>
            <a:off x="8375904" y="2240280"/>
            <a:ext cx="2990087" cy="45720"/>
          </a:xfrm>
          <a:prstGeom prst="rect">
            <a:avLst/>
          </a:prstGeom>
          <a:solidFill>
            <a:srgbClr val="12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e 03 · rótulo"/>
          <p:cNvSpPr txBox="1"/>
          <p:nvPr/>
        </p:nvSpPr>
        <p:spPr>
          <a:xfrm>
            <a:off x="8650224" y="2514600"/>
            <a:ext cx="24414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7B34"/>
                </a:solidFill>
                <a:latin typeface="IBM Plex Mono"/>
              </a:rPr>
              <a:t>AGENTE 03</a:t>
            </a:r>
          </a:p>
        </p:txBody>
      </p:sp>
      <p:sp>
        <p:nvSpPr>
          <p:cNvPr id="20" name="Agente 03 · nome"/>
          <p:cNvSpPr txBox="1"/>
          <p:nvPr/>
        </p:nvSpPr>
        <p:spPr>
          <a:xfrm>
            <a:off x="8650224" y="2807208"/>
            <a:ext cx="24414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0D0E"/>
                </a:solidFill>
                <a:latin typeface="Archivo"/>
              </a:rPr>
              <a:t>Gatilhos</a:t>
            </a:r>
          </a:p>
        </p:txBody>
      </p:sp>
      <p:sp>
        <p:nvSpPr>
          <p:cNvPr id="21" name="Agente 03 · texto"/>
          <p:cNvSpPr txBox="1"/>
          <p:nvPr/>
        </p:nvSpPr>
        <p:spPr>
          <a:xfrm>
            <a:off x="8650224" y="3429000"/>
            <a:ext cx="2441447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E3439"/>
                </a:solidFill>
                <a:latin typeface="Archivo"/>
              </a:rPr>
              <a:t>Compara indicadores com os limiares e cada carteira com a sua política. Diz quando uma ação é devida.</a:t>
            </a:r>
          </a:p>
        </p:txBody>
      </p:sp>
      <p:cxnSp>
        <p:nvCxnSpPr>
          <p:cNvPr id="22" name="Fio 2"/>
          <p:cNvCxnSpPr/>
          <p:nvPr/>
        </p:nvCxnSpPr>
        <p:spPr>
          <a:xfrm>
            <a:off x="822960" y="5029200"/>
            <a:ext cx="10543032" cy="0"/>
          </a:xfrm>
          <a:prstGeom prst="line">
            <a:avLst/>
          </a:prstGeom>
          <a:ln w="9525">
            <a:solidFill>
              <a:srgbClr val="C4CA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nde · rótulo"/>
          <p:cNvSpPr txBox="1"/>
          <p:nvPr/>
        </p:nvSpPr>
        <p:spPr>
          <a:xfrm>
            <a:off x="822960" y="5285232"/>
            <a:ext cx="49971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469"/>
                </a:solidFill>
                <a:latin typeface="IBM Plex Mono"/>
              </a:rPr>
              <a:t>ONDE</a:t>
            </a:r>
          </a:p>
        </p:txBody>
      </p:sp>
      <p:sp>
        <p:nvSpPr>
          <p:cNvPr id="24" name="Onde · texto"/>
          <p:cNvSpPr txBox="1"/>
          <p:nvPr/>
        </p:nvSpPr>
        <p:spPr>
          <a:xfrm>
            <a:off x="822960" y="5532120"/>
            <a:ext cx="49971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E3439"/>
                </a:solidFill>
                <a:latin typeface="Archivo"/>
              </a:rPr>
              <a:t>Na nuvem, dentro do Worker na Cloudflare.</a:t>
            </a:r>
            <a:r>
              <a:rPr sz="1300" b="0" i="0">
                <a:solidFill>
                  <a:srgbClr val="2E3439"/>
                </a:solidFill>
                <a:latin typeface="Archivo"/>
              </a:rPr>
              <a:t> Sem depender de nenhum computador ligado. O modelo de linguagem é chamado de lá.</a:t>
            </a:r>
          </a:p>
        </p:txBody>
      </p:sp>
      <p:sp>
        <p:nvSpPr>
          <p:cNvPr id="25" name="Quando · rótulo"/>
          <p:cNvSpPr txBox="1"/>
          <p:nvPr/>
        </p:nvSpPr>
        <p:spPr>
          <a:xfrm>
            <a:off x="6368796" y="5285232"/>
            <a:ext cx="49971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C6469"/>
                </a:solidFill>
                <a:latin typeface="IBM Plex Mono"/>
              </a:rPr>
              <a:t>QUANDO</a:t>
            </a:r>
          </a:p>
        </p:txBody>
      </p:sp>
      <p:sp>
        <p:nvSpPr>
          <p:cNvPr id="26" name="Quando · texto"/>
          <p:cNvSpPr txBox="1"/>
          <p:nvPr/>
        </p:nvSpPr>
        <p:spPr>
          <a:xfrm>
            <a:off x="6368796" y="5532120"/>
            <a:ext cx="49971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E3439"/>
                </a:solidFill>
                <a:latin typeface="Archivo"/>
              </a:rPr>
              <a:t>Todo dia às 07:00, sozinhos.</a:t>
            </a:r>
            <a:r>
              <a:rPr sz="1300" b="0" i="0">
                <a:solidFill>
                  <a:srgbClr val="2E3439"/>
                </a:solidFill>
                <a:latin typeface="Archivo"/>
              </a:rPr>
              <a:t> E a qualquer hora, pelo botão do portal: rodam em segundo plano, um após o outro, e o assessor pode fechar a aba e voltar depois.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